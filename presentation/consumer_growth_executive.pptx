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Masters/slideMaster5.xml" ContentType="application/vnd.openxmlformats-officedocument.presentationml.slideMaster+xml"/>
  <Override PartName="/ppt/slideMasters/theme/theme6.xml" ContentType="application/vnd.openxmlformats-officedocument.theme+xml"/>
  <Override PartName="/ppt/slideMasters/slideMaster6.xml" ContentType="application/vnd.openxmlformats-officedocument.presentationml.slideMaster+xml"/>
  <Override PartName="/ppt/slideMasters/theme/theme7.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notesMasters/notesMaster1.xml" ContentType="application/vnd.openxmlformats-officedocument.presentationml.notesMaster+xml"/>
  <Override PartName="/ppt/notesMasters/theme/theme8.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83250733b2c4c60" /><Relationship Type="http://schemas.openxmlformats.org/officeDocument/2006/relationships/extended-properties" Target="/docProps/app.xml" Id="Rd17168b700674ef5" /><Relationship Type="http://schemas.openxmlformats.org/officeDocument/2006/relationships/officeDocument" Target="/ppt/presentation.xml" Id="R74d2c99daa0b4452" /></Relationships>
</file>

<file path=ppt/presentation.xml><?xml version="1.0" encoding="utf-8"?>
<p:presentation xmlns:p="http://schemas.openxmlformats.org/presentationml/2006/main">
  <p:sldMasterIdLst>
    <p:sldMasterId xmlns:r="http://schemas.openxmlformats.org/officeDocument/2006/relationships" id="2147483648" r:id="R2e5666989fb44181"/>
    <p:sldMasterId xmlns:r="http://schemas.openxmlformats.org/officeDocument/2006/relationships" id="2147483655" r:id="Rb06dbcf1bada49f5"/>
    <p:sldMasterId xmlns:r="http://schemas.openxmlformats.org/officeDocument/2006/relationships" id="2147483662" r:id="Ra8b1bcc7ff214ff8"/>
    <p:sldMasterId xmlns:r="http://schemas.openxmlformats.org/officeDocument/2006/relationships" id="2147483669" r:id="Rcf909af4401b4ff8"/>
    <p:sldMasterId xmlns:r="http://schemas.openxmlformats.org/officeDocument/2006/relationships" id="2147483676" r:id="R4548bfad8c85411d"/>
    <p:sldMasterId xmlns:r="http://schemas.openxmlformats.org/officeDocument/2006/relationships" id="2147483683" r:id="R87ce8c9d1013452d"/>
  </p:sldMasterIdLst>
  <p:notesMasterIdLst>
    <p:notesMasterId xmlns:r="http://schemas.openxmlformats.org/officeDocument/2006/relationships" r:id="R417f0a2448a94246"/>
  </p:notesMasterIdLst>
  <p:sldIdLst>
    <p:sldId xmlns:r="http://schemas.openxmlformats.org/officeDocument/2006/relationships" id="256" r:id="Rfa7bb10d631945f9"/>
    <p:sldId xmlns:r="http://schemas.openxmlformats.org/officeDocument/2006/relationships" id="257" r:id="R1622c92f52e344e7"/>
    <p:sldId xmlns:r="http://schemas.openxmlformats.org/officeDocument/2006/relationships" id="258" r:id="R4849ca807feb4d50"/>
    <p:sldId xmlns:r="http://schemas.openxmlformats.org/officeDocument/2006/relationships" id="259" r:id="Re577428e65b54db1"/>
    <p:sldId xmlns:r="http://schemas.openxmlformats.org/officeDocument/2006/relationships" id="260" r:id="Rc1419d7e0d044677"/>
    <p:sldId xmlns:r="http://schemas.openxmlformats.org/officeDocument/2006/relationships" id="261" r:id="Reb8e3c0d899d4a8d"/>
    <p:sldId xmlns:r="http://schemas.openxmlformats.org/officeDocument/2006/relationships" id="262" r:id="R3bd50568ff5a4bbe"/>
    <p:sldId xmlns:r="http://schemas.openxmlformats.org/officeDocument/2006/relationships" id="263" r:id="R44eeb741140f4128"/>
    <p:sldId xmlns:r="http://schemas.openxmlformats.org/officeDocument/2006/relationships" id="264" r:id="R1837cac46b484ce0"/>
    <p:sldId xmlns:r="http://schemas.openxmlformats.org/officeDocument/2006/relationships" id="265" r:id="R687d2ef243af4cc6"/>
    <p:sldId xmlns:r="http://schemas.openxmlformats.org/officeDocument/2006/relationships" id="266" r:id="R8e20d70739fb4517"/>
    <p:sldId xmlns:r="http://schemas.openxmlformats.org/officeDocument/2006/relationships" id="267" r:id="Rc4da53fa524d42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0657afec954d2f" /><Relationship Type="http://schemas.openxmlformats.org/officeDocument/2006/relationships/slideMaster" Target="/ppt/slideMasters/slideMaster1.xml" Id="R2e5666989fb44181" /><Relationship Type="http://schemas.openxmlformats.org/officeDocument/2006/relationships/slideMaster" Target="/ppt/slideMasters/slideMaster2.xml" Id="Rb06dbcf1bada49f5" /><Relationship Type="http://schemas.openxmlformats.org/officeDocument/2006/relationships/slideMaster" Target="/ppt/slideMasters/slideMaster3.xml" Id="Ra8b1bcc7ff214ff8" /><Relationship Type="http://schemas.openxmlformats.org/officeDocument/2006/relationships/slideMaster" Target="/ppt/slideMasters/slideMaster4.xml" Id="Rcf909af4401b4ff8" /><Relationship Type="http://schemas.openxmlformats.org/officeDocument/2006/relationships/slideMaster" Target="/ppt/slideMasters/slideMaster5.xml" Id="R4548bfad8c85411d" /><Relationship Type="http://schemas.openxmlformats.org/officeDocument/2006/relationships/slideMaster" Target="/ppt/slideMasters/slideMaster6.xml" Id="R87ce8c9d1013452d" /><Relationship Type="http://schemas.openxmlformats.org/officeDocument/2006/relationships/notesMaster" Target="/ppt/notesMasters/notesMaster1.xml" Id="R417f0a2448a94246" /><Relationship Type="http://schemas.openxmlformats.org/officeDocument/2006/relationships/presProps" Target="/ppt/presProps.xml" Id="Re802c98ecd2a486f" /><Relationship Type="http://schemas.openxmlformats.org/officeDocument/2006/relationships/tableStyles" Target="/ppt/tableStyles.xml" Id="Reb24ee520f2547dc" /><Relationship Type="http://schemas.openxmlformats.org/officeDocument/2006/relationships/slide" Target="/ppt/slides/slide1.xml" Id="Rfa7bb10d631945f9" /><Relationship Type="http://schemas.openxmlformats.org/officeDocument/2006/relationships/slide" Target="/ppt/slides/slide2.xml" Id="R1622c92f52e344e7" /><Relationship Type="http://schemas.openxmlformats.org/officeDocument/2006/relationships/slide" Target="/ppt/slides/slide3.xml" Id="R4849ca807feb4d50" /><Relationship Type="http://schemas.openxmlformats.org/officeDocument/2006/relationships/slide" Target="/ppt/slides/slide4.xml" Id="Re577428e65b54db1" /><Relationship Type="http://schemas.openxmlformats.org/officeDocument/2006/relationships/slide" Target="/ppt/slides/slide5.xml" Id="Rc1419d7e0d044677" /><Relationship Type="http://schemas.openxmlformats.org/officeDocument/2006/relationships/slide" Target="/ppt/slides/slide6.xml" Id="Reb8e3c0d899d4a8d" /><Relationship Type="http://schemas.openxmlformats.org/officeDocument/2006/relationships/slide" Target="/ppt/slides/slide7.xml" Id="R3bd50568ff5a4bbe" /><Relationship Type="http://schemas.openxmlformats.org/officeDocument/2006/relationships/slide" Target="/ppt/slides/slide8.xml" Id="R44eeb741140f4128" /><Relationship Type="http://schemas.openxmlformats.org/officeDocument/2006/relationships/slide" Target="/ppt/slides/slide9.xml" Id="R1837cac46b484ce0" /><Relationship Type="http://schemas.openxmlformats.org/officeDocument/2006/relationships/slide" Target="/ppt/slides/slide10.xml" Id="R687d2ef243af4cc6" /><Relationship Type="http://schemas.openxmlformats.org/officeDocument/2006/relationships/slide" Target="/ppt/slides/slide11.xml" Id="R8e20d70739fb4517" /><Relationship Type="http://schemas.openxmlformats.org/officeDocument/2006/relationships/slide" Target="/ppt/slides/slide12.xml" Id="Rc4da53fa524d42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8.xml" Id="R724067aeee0545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8.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581cd4dbb140ef" /><Relationship Type="http://schemas.openxmlformats.org/officeDocument/2006/relationships/notesMaster" Target="/ppt/notesMasters/notesMaster1.xml" Id="R6c510da1a0264d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9a9e89e192458f" /><Relationship Type="http://schemas.openxmlformats.org/officeDocument/2006/relationships/notesMaster" Target="/ppt/notesMasters/notesMaster1.xml" Id="R88112a5bb8bc4d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3c6b10d7984a05" /><Relationship Type="http://schemas.openxmlformats.org/officeDocument/2006/relationships/notesMaster" Target="/ppt/notesMasters/notesMaster1.xml" Id="Rbcf319a026db4c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7fe8efaeac4fb1" /><Relationship Type="http://schemas.openxmlformats.org/officeDocument/2006/relationships/notesMaster" Target="/ppt/notesMasters/notesMaster1.xml" Id="Refc4419da1414e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9f6bcebd0346fb" /><Relationship Type="http://schemas.openxmlformats.org/officeDocument/2006/relationships/notesMaster" Target="/ppt/notesMasters/notesMaster1.xml" Id="Rf09b217b527f46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ce3fd5c4cc4fce" /><Relationship Type="http://schemas.openxmlformats.org/officeDocument/2006/relationships/notesMaster" Target="/ppt/notesMasters/notesMaster1.xml" Id="Rc14d215761294c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526f2726dc46dd" /><Relationship Type="http://schemas.openxmlformats.org/officeDocument/2006/relationships/notesMaster" Target="/ppt/notesMasters/notesMaster1.xml" Id="R8e8ab48180cb46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07697dc624409a" /><Relationship Type="http://schemas.openxmlformats.org/officeDocument/2006/relationships/notesMaster" Target="/ppt/notesMasters/notesMaster1.xml" Id="Rd6052c48cba844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36175c32904dfa" /><Relationship Type="http://schemas.openxmlformats.org/officeDocument/2006/relationships/notesMaster" Target="/ppt/notesMasters/notesMaster1.xml" Id="R32d22036adef4d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24b90965394284" /><Relationship Type="http://schemas.openxmlformats.org/officeDocument/2006/relationships/notesMaster" Target="/ppt/notesMasters/notesMaster1.xml" Id="Rdac440f448cf4e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e87d3559284929" /><Relationship Type="http://schemas.openxmlformats.org/officeDocument/2006/relationships/notesMaster" Target="/ppt/notesMasters/notesMaster1.xml" Id="Rf7d0b689b3b54cc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c53d702d344df8" /><Relationship Type="http://schemas.openxmlformats.org/officeDocument/2006/relationships/notesMaster" Target="/ppt/notesMasters/notesMaster1.xml" Id="R296d137160d447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study asks which shoppers deserve different retention, repeat-visit and promotion approaches. All findings describe the supplied historical customer population. The proposed actions require controlled testing before any claim of sales growth.</a:t>
            </a:r>
          </a:p>
          <a:p xmlns:a="http://schemas.openxmlformats.org/drawingml/2006/main">
            <a:r>
              <a:t/>
            </a:r>
          </a:p>
          <a:p xmlns:a="http://schemas.openxmlformats.org/drawingml/2006/main">
            <a:r>
              <a:t>Sources: supplied ConsumerGrowth project, README.md; analysis/evidence/16_final_insights_recommendations.csv.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contains 2,595,732 transaction lines. The valid analytical population contains 2,500 households, 275,889 baskets and $8,057,443.80 in retailer receipts. Profiles summarize spending, visit frequency, average basket value, time since last purchase, category variety and promotion exposure. A reproducible comparison of three, four and five behavioral groups selected three useful segments. These are descriptive groups rather than sharply separated natural classes.</a:t>
            </a:r>
          </a:p>
          <a:p xmlns:a="http://schemas.openxmlformats.org/drawingml/2006/main">
            <a:r>
              <a:t>The observation period contains 24 relative months. The last period is incomplete, so no complete-month growth or seasonality claim is made. This deck compares full-period customer and category behavior instead.</a:t>
            </a:r>
          </a:p>
          <a:p xmlns:a="http://schemas.openxmlformats.org/drawingml/2006/main">
            <a:r>
              <a:t/>
            </a:r>
          </a:p>
          <a:p xmlns:a="http://schemas.openxmlformats.org/drawingml/2006/main">
            <a:r>
              <a:t>Sources: supplied ConsumerGrowth project, validation/data_validation_summary.json; validation/segment_reconciliation.csv; analysis/evidence/09_kmeans_candidate_results.csv; docs/MODEL_AND_FILTERS.md.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highest-spending 20% of customers account for 53.0464% of retailer sales. The top 10% account for 34.2914%. Each decile contains the same number of customers and is ordered from highest to lowest total spend. The concentration supports prioritizing the strongest customer relationships, but it does not estimate future churn or the return from an intervention. Total retailer receipts are $8,057,443.80. The $29.21 basket figure divides total sales by 275,889 baskets, so it differs from customer-weighted segment basket averages.</a:t>
            </a:r>
          </a:p>
          <a:p xmlns:a="http://schemas.openxmlformats.org/drawingml/2006/main">
            <a:r>
              <a:t/>
            </a:r>
          </a:p>
          <a:p xmlns:a="http://schemas.openxmlformats.org/drawingml/2006/main">
            <a:r>
              <a:t>Sources: supplied ConsumerGrowth project, analysis/evidence/01_customer_value_deciles.csv; analysis/evidence/01_customer_value_concentration_summary.csv; validation/data_validation_summary.json.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High-Value Frequent shoppers represent 1,007 of 2,500 customers (40.28%) and generate 73.5176% of sales. Large-Basket Occasional shoppers represent 902 customers (36.08%) and 21.4880% of sales. Low-Value Low-Engagement shoppers represent 591 customers (23.64%) and 4.9944% of sales. Visit frequency is baskets per active customer month. Mean customer basket gives each customer equal weight. The reported groups reflect full-history behavior, so they should not be interpreted as monthly segment transitions.</a:t>
            </a:r>
          </a:p>
          <a:p xmlns:a="http://schemas.openxmlformats.org/drawingml/2006/main">
            <a:r>
              <a:t/>
            </a:r>
          </a:p>
          <a:p xmlns:a="http://schemas.openxmlformats.org/drawingml/2006/main">
            <a:r>
              <a:t>Sources: supplied ConsumerGrowth project, validation/segment_reconciliation.csv; analysis/evidence/11_final_segment_profile.csv.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shows mean total retailer sales per customer over the observation period: $5,882.4644, $1,919.4941 and $680.9112. The Frequent-to-Occasional visit-frequency ratio is 9.167627 / 2.943147 = 3.114906. The Occasional mean customer basket is 40.070362 / 33.221939 - 1 = 20.6142% larger. Visit frequency is associated with greater spending in this comparison. Differences in observation history, activity duration and purchasing patterns mean this is not a causal decomposition of spending. Testing reminders for Occasional shoppers is a proposal, not a forecast of growth.</a:t>
            </a:r>
          </a:p>
          <a:p xmlns:a="http://schemas.openxmlformats.org/drawingml/2006/main">
            <a:r>
              <a:t/>
            </a:r>
          </a:p>
          <a:p xmlns:a="http://schemas.openxmlformats.org/drawingml/2006/main">
            <a:r>
              <a:t>Sources: supplied ConsumerGrowth project, validation/segment_reconciliation.csv; analysis/evidence/11_final_segment_profile.csv.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days since the last purchase, measured at the final observed date, are 5.3227 for High-Value Frequent, 30.2350 for Large-Basket Occasional and 52.9746 for Low-Value Low-Engagement shoppers. This is recency at study end, not the average time between successive purchases. The Low-Engagement group also has the lowest mean total spend per customer ($680.9112). Recent activity was an input to segmentation, so this profile is descriptive and is not an independently estimated probability of churn.</a:t>
            </a:r>
          </a:p>
          <a:p xmlns:a="http://schemas.openxmlformats.org/drawingml/2006/main">
            <a:r>
              <a:t/>
            </a:r>
          </a:p>
          <a:p xmlns:a="http://schemas.openxmlformats.org/drawingml/2006/main">
            <a:r>
              <a:t>Sources: supplied ConsumerGrowth project, validation/segment_reconciliation.csv; analysis/evidence/11_final_segment_profile.csv.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Categories are ranked by retailer sales within each segment, excluding COUPON/MISC ITEMS and (CORP USE ONLY). Shares use the full segment sales total as denominator, including excluded ranking categories. The leading categories and shares are Soft drinks, 4.0045% for High-Value Frequent; Beef, 4.4344% for Large-Basket Occasional; Soft drinks, 5.0818% for Low-Value Low-Engagement. The next two categories are Beef and Fluid milk products; Soft drinks and Cheese; Beef and Beers/ales, respectively. Short labels retain those source categories. These are spending patterns, not evidence of why shoppers choose products or of a tested response to reminders.</a:t>
            </a:r>
          </a:p>
          <a:p xmlns:a="http://schemas.openxmlformats.org/drawingml/2006/main">
            <a:r>
              <a:t/>
            </a:r>
          </a:p>
          <a:p xmlns:a="http://schemas.openxmlformats.org/drawingml/2006/main">
            <a:r>
              <a:t>Sources: supplied ConsumerGrowth project, validation/category_segment_reconciliation.csv; analysis/evidence/11_final_segment_top_categories.csv; validation/segment_reconciliation.csv.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customer, basket exposure is the fraction of baskets containing at least one promoted line. Spending share is the fraction of sales on promoted lines. The chart averages those customer-level shares within each segment. Basket exposure is 85.3737%, 89.9395% and 74.6920%. Promoted-line spending share is 51.2069%, 51.3570% and 46.3473%. These measures use different denominators, so their difference is not an unpromoted-basket share or a treatment effect. Promotion refers to a recorded retail or coupon discount. These observations describe reach and spending composition, not additional sales caused by offers.</a:t>
            </a:r>
          </a:p>
          <a:p xmlns:a="http://schemas.openxmlformats.org/drawingml/2006/main">
            <a:r>
              <a:t/>
            </a:r>
          </a:p>
          <a:p xmlns:a="http://schemas.openxmlformats.org/drawingml/2006/main">
            <a:r>
              <a:t>Sources: supplied ConsumerGrowth project, validation/segment_reconciliation.csv; analysis/evidence/13_segment_promotion_summary.csv.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Basket values divide total entire-basket sales by the corresponding basket counts within each segment and promotion classification. Contains-promotion versus no-promotion values are $33.6245 versus $9.1110, $39.8608 versus $11.2009, and $16.1554 versus $7.1466. A promoted basket contains at least one promoted line, but its total includes every item. These transaction-weighted averages differ from the mean customer basket on the segment overview. Larger baskets have more chances to contain a promotion and may differ in composition and shopper intent. This observational comparison cannot estimate causal promotion uplift or profitability. A randomized comparison is proposed to evaluate an offer.</a:t>
            </a:r>
          </a:p>
          <a:p xmlns:a="http://schemas.openxmlformats.org/drawingml/2006/main">
            <a:r>
              <a:t/>
            </a:r>
          </a:p>
          <a:p xmlns:a="http://schemas.openxmlformats.org/drawingml/2006/main">
            <a:r>
              <a:t>Sources: supplied ConsumerGrowth project, validation/segment_reconciliation.csv; analysis/evidence/12_promotion_segment_reconciliation.csv.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shows promoted-line sales divided by all sales for each category and segment. It covers the five largest merchandise categories by sales, displayed in a readable comparison order. These are ratios of category totals, whereas the earlier promotion chart reports means of customer ratios. Cheese ranges from 74.2995% to 75.3016%; Fluid milk products range from 42.6827% to 44.8025%. The difference between these categories is much larger than the within-category differences among the three segments. This supports including category context in an offer test, but it does not identify which category has the greatest potential incremental return.</a:t>
            </a:r>
          </a:p>
          <a:p xmlns:a="http://schemas.openxmlformats.org/drawingml/2006/main">
            <a:r>
              <a:t/>
            </a:r>
          </a:p>
          <a:p xmlns:a="http://schemas.openxmlformats.org/drawingml/2006/main">
            <a:r>
              <a:t>Sources: supplied ConsumerGrowth project, validation/category_segment_reconciliation.csv; validation/category_totals.csv; analysis/evidence/13_segment_category_promotion.csv.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findings support differentiated hypotheses rather than a single blanket promotion. High-Value Frequent customers contribute most sales. Large-Basket Occasional customers combine larger average baskets with substantially fewer visits. Promotion exposure is widespread, but category-level promoted-sales shares differ materially. The suggested reminders and offers have not been evaluated in this dataset. Their effect must be measured with an appropriate comparison group.</a:t>
            </a:r>
          </a:p>
          <a:p xmlns:a="http://schemas.openxmlformats.org/drawingml/2006/main">
            <a:r>
              <a:t/>
            </a:r>
          </a:p>
          <a:p xmlns:a="http://schemas.openxmlformats.org/drawingml/2006/main">
            <a:r>
              <a:t>Sources: supplied ConsumerGrowth project, validation/segment_reconciliation.csv; validation/category_segment_reconciliation.csv; analysis/evidence/16_final_insights_recommendations.csv.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three proposed tests, not realized campaign results. Retention: contact High-Value Frequent shoppers after an agreed period of inactivity with relevant category reminders. Repeat visits: test replenishment timing or next-visit offers among Large-Basket Occasional shoppers. Category offers: test relevant offers within that same segment, which has the greatest average basket promotion exposure. Randomly assign eligible comparable shoppers to treatment and control groups, agree the observation window and primary metric before launch, and compare repeat-purchase outcomes. Existing historical associations cannot establish incremental revenue. Assess discount cost and contribution margin when those inputs are available before scaling an offer.</a:t>
            </a:r>
          </a:p>
          <a:p xmlns:a="http://schemas.openxmlformats.org/drawingml/2006/main">
            <a:r>
              <a:t/>
            </a:r>
          </a:p>
          <a:p xmlns:a="http://schemas.openxmlformats.org/drawingml/2006/main">
            <a:r>
              <a:t>Sources: supplied ConsumerGrowth project, analysis/evidence/16_final_insights_recommendations.csv; validation/segment_reconciliation.csv.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a05bcf25da4a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a6e34d8ded40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5c74d304abe42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246e03778b413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8319f8b24ef444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7506699ddb4f4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9f7e92582ae647a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e7cb56ff0e3847b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d784bdf89f95483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5034cb0ab81946d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90dc7de05e1d4bb0"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8586f7b2699a44dc"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3.xml" Id="Rfc35415858ed4e41"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3.xml" Id="Rca9d9eb720b74946"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3.xml" Id="Rc344e054b3324264"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3.xml" Id="R2b0cc38724e24f18"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3.xml" Id="R0a7b97bfc79e428f"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3.xml" Id="Re7f80bcf55c54a93"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4.xml" Id="Rcc61541ed1394f42"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4.xml" Id="Rcdf980c00d714d02"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4.xml" Id="Rb25e4a7503844097"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4.xml" Id="R0568e8c0008b4d43"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4.xml" Id="R54c1aea3214d4ada"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4.xml" Id="R92b54aebae1c46bd"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5.xml" Id="R4d5e03231c494368"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5.xml" Id="R4f80669f182d4d60"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5.xml" Id="R47e2ceed43f247ff"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5.xml" Id="R938088b0fb634edb"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5.xml" Id="Ra0b269242e2949de"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5.xml" Id="Rfdfd6c3ce1e64687"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6.xml" Id="Rd00b46719e5e410c"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6.xml" Id="Ra957b6a4b2c94dba"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6.xml" Id="R58a18ee741044f52"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6.xml" Id="R01722f14487d45e9"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6.xml" Id="R5e177e7004e34967"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6.xml" Id="R60229b8a035e45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03B59F-B333-4FBE-8C34-46F4DD0552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5686FE-2B83-49DE-9FBB-53FD19C79F5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40C40C-EA04-45D8-984C-E3CC0C19FA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BE9948-58D3-4099-9E75-035C47F8CF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587FB2-D8C6-420F-A2CF-E5C1B1CC4A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262A37-1762-4682-B33B-3795A893E7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6D6FC2-120B-4C0F-9B1A-5EB32BDE20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02C1B59-C399-4A35-926D-523938AE27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781414-9047-4A72-BBFB-1AC6B46A8D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F29A82-33E2-48A9-BFFF-9CD35A0F07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03B59F-B333-4FBE-8C34-46F4DD0552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5686FE-2B83-49DE-9FBB-53FD19C79F5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40C40C-EA04-45D8-984C-E3CC0C19FA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BE9948-58D3-4099-9E75-035C47F8CF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587FB2-D8C6-420F-A2CF-E5C1B1CC4A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262A37-1762-4682-B33B-3795A893E7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6D6FC2-120B-4C0F-9B1A-5EB32BDE20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02C1B59-C399-4A35-926D-523938AE27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781414-9047-4A72-BBFB-1AC6B46A8D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F29A82-33E2-48A9-BFFF-9CD35A0F07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13.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03B59F-B333-4FBE-8C34-46F4DD0552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5686FE-2B83-49DE-9FBB-53FD19C79F5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14.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40C40C-EA04-45D8-984C-E3CC0C19FA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15.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BE9948-58D3-4099-9E75-035C47F8CF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587FB2-D8C6-420F-A2CF-E5C1B1CC4A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6.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262A37-1762-4682-B33B-3795A893E7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6D6FC2-120B-4C0F-9B1A-5EB32BDE20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02C1B59-C399-4A35-926D-523938AE27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17.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781414-9047-4A72-BBFB-1AC6B46A8D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F29A82-33E2-48A9-BFFF-9CD35A0F07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8.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19.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03B59F-B333-4FBE-8C34-46F4DD0552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5686FE-2B83-49DE-9FBB-53FD19C79F5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0.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40C40C-EA04-45D8-984C-E3CC0C19FA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21.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BE9948-58D3-4099-9E75-035C47F8CF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587FB2-D8C6-420F-A2CF-E5C1B1CC4A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22.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262A37-1762-4682-B33B-3795A893E7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6D6FC2-120B-4C0F-9B1A-5EB32BDE20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02C1B59-C399-4A35-926D-523938AE27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23.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781414-9047-4A72-BBFB-1AC6B46A8D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F29A82-33E2-48A9-BFFF-9CD35A0F07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24.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25.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03B59F-B333-4FBE-8C34-46F4DD0552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5686FE-2B83-49DE-9FBB-53FD19C79F5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6.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40C40C-EA04-45D8-984C-E3CC0C19FA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27.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BE9948-58D3-4099-9E75-035C47F8CF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587FB2-D8C6-420F-A2CF-E5C1B1CC4A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28.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262A37-1762-4682-B33B-3795A893E7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6D6FC2-120B-4C0F-9B1A-5EB32BDE20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02C1B59-C399-4A35-926D-523938AE27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29.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781414-9047-4A72-BBFB-1AC6B46A8D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F29A82-33E2-48A9-BFFF-9CD35A0F07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30.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3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03B59F-B333-4FBE-8C34-46F4DD0552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5686FE-2B83-49DE-9FBB-53FD19C79F5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3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40C40C-EA04-45D8-984C-E3CC0C19FA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BE9948-58D3-4099-9E75-035C47F8CF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587FB2-D8C6-420F-A2CF-E5C1B1CC4A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3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262A37-1762-4682-B33B-3795A893E7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6D6FC2-120B-4C0F-9B1A-5EB32BDE20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02C1B59-C399-4A35-926D-523938AE27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3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781414-9047-4A72-BBFB-1AC6B46A8D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F29A82-33E2-48A9-BFFF-9CD35A0F07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3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827ca7d12c4033" /><Relationship Type="http://schemas.openxmlformats.org/officeDocument/2006/relationships/slideLayout" Target="/ppt/slideLayouts/slideLayout1.xml" Id="R810cbfd5309e4f92" /><Relationship Type="http://schemas.openxmlformats.org/officeDocument/2006/relationships/slideLayout" Target="/ppt/slideLayouts/slideLayout2.xml" Id="R0520f3136ce148e1" /><Relationship Type="http://schemas.openxmlformats.org/officeDocument/2006/relationships/slideLayout" Target="/ppt/slideLayouts/slideLayout3.xml" Id="R714f0caec8104faa" /><Relationship Type="http://schemas.openxmlformats.org/officeDocument/2006/relationships/slideLayout" Target="/ppt/slideLayouts/slideLayout4.xml" Id="R51d95b61a6bb4cf8" /><Relationship Type="http://schemas.openxmlformats.org/officeDocument/2006/relationships/slideLayout" Target="/ppt/slideLayouts/slideLayout5.xml" Id="Rebf628ae58e0494b" /><Relationship Type="http://schemas.openxmlformats.org/officeDocument/2006/relationships/slideLayout" Target="/ppt/slideLayouts/slideLayout6.xml" Id="R3a63091141e84f7c"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de52536cd7c3424f" /><Relationship Type="http://schemas.openxmlformats.org/officeDocument/2006/relationships/slideLayout" Target="/ppt/slideLayouts/slideLayout7.xml" Id="R812b921d79c84f00" /><Relationship Type="http://schemas.openxmlformats.org/officeDocument/2006/relationships/slideLayout" Target="/ppt/slideLayouts/slideLayout8.xml" Id="Rf534f0896e904250" /><Relationship Type="http://schemas.openxmlformats.org/officeDocument/2006/relationships/slideLayout" Target="/ppt/slideLayouts/slideLayout9.xml" Id="Rf57c1008539e4b18" /><Relationship Type="http://schemas.openxmlformats.org/officeDocument/2006/relationships/slideLayout" Target="/ppt/slideLayouts/slideLayout10.xml" Id="Rd9dc0a83d48f4ec8" /><Relationship Type="http://schemas.openxmlformats.org/officeDocument/2006/relationships/slideLayout" Target="/ppt/slideLayouts/slideLayout11.xml" Id="Rde5fd29283df48cb" /><Relationship Type="http://schemas.openxmlformats.org/officeDocument/2006/relationships/slideLayout" Target="/ppt/slideLayouts/slideLayout12.xml" Id="R7b787e619d1f4ddb"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6c88c73379f1409d" /><Relationship Type="http://schemas.openxmlformats.org/officeDocument/2006/relationships/slideLayout" Target="/ppt/slideLayouts/slideLayout13.xml" Id="Ra1d49d369b3b4f6b" /><Relationship Type="http://schemas.openxmlformats.org/officeDocument/2006/relationships/slideLayout" Target="/ppt/slideLayouts/slideLayout14.xml" Id="R79770baff6884573" /><Relationship Type="http://schemas.openxmlformats.org/officeDocument/2006/relationships/slideLayout" Target="/ppt/slideLayouts/slideLayout15.xml" Id="Raee4a875f8f34bf0" /><Relationship Type="http://schemas.openxmlformats.org/officeDocument/2006/relationships/slideLayout" Target="/ppt/slideLayouts/slideLayout16.xml" Id="R76b2ef38adb14688" /><Relationship Type="http://schemas.openxmlformats.org/officeDocument/2006/relationships/slideLayout" Target="/ppt/slideLayouts/slideLayout17.xml" Id="Rc791612eb76d47fc" /><Relationship Type="http://schemas.openxmlformats.org/officeDocument/2006/relationships/slideLayout" Target="/ppt/slideLayouts/slideLayout18.xml" Id="R6c9276c66ed042e0"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0d09ba49085449ef" /><Relationship Type="http://schemas.openxmlformats.org/officeDocument/2006/relationships/slideLayout" Target="/ppt/slideLayouts/slideLayout19.xml" Id="R80ac0eb867a047f9" /><Relationship Type="http://schemas.openxmlformats.org/officeDocument/2006/relationships/slideLayout" Target="/ppt/slideLayouts/slideLayout20.xml" Id="Rd3ca501be6e843ae" /><Relationship Type="http://schemas.openxmlformats.org/officeDocument/2006/relationships/slideLayout" Target="/ppt/slideLayouts/slideLayout21.xml" Id="R89b3e07ca98f4589" /><Relationship Type="http://schemas.openxmlformats.org/officeDocument/2006/relationships/slideLayout" Target="/ppt/slideLayouts/slideLayout22.xml" Id="R0fe2cc3e15c94829" /><Relationship Type="http://schemas.openxmlformats.org/officeDocument/2006/relationships/slideLayout" Target="/ppt/slideLayouts/slideLayout23.xml" Id="Rd88b51c1ea02411a" /><Relationship Type="http://schemas.openxmlformats.org/officeDocument/2006/relationships/slideLayout" Target="/ppt/slideLayouts/slideLayout24.xml" Id="Rb0303e0d7fb440ba" /></Relationships>
</file>

<file path=ppt/slideMasters/_rels/slideMaster5.xml.rels>&#65279;<?xml version="1.0" encoding="utf-8"?><Relationships xmlns="http://schemas.openxmlformats.org/package/2006/relationships"><Relationship Type="http://schemas.openxmlformats.org/officeDocument/2006/relationships/theme" Target="/ppt/slideMasters/theme/theme6.xml" Id="R33552a1e00fb4cbb" /><Relationship Type="http://schemas.openxmlformats.org/officeDocument/2006/relationships/slideLayout" Target="/ppt/slideLayouts/slideLayout25.xml" Id="R5013e35c63bc4047" /><Relationship Type="http://schemas.openxmlformats.org/officeDocument/2006/relationships/slideLayout" Target="/ppt/slideLayouts/slideLayout26.xml" Id="R46e815a843404c71" /><Relationship Type="http://schemas.openxmlformats.org/officeDocument/2006/relationships/slideLayout" Target="/ppt/slideLayouts/slideLayout27.xml" Id="R4eb965366d55413f" /><Relationship Type="http://schemas.openxmlformats.org/officeDocument/2006/relationships/slideLayout" Target="/ppt/slideLayouts/slideLayout28.xml" Id="R727a81f102ab42eb" /><Relationship Type="http://schemas.openxmlformats.org/officeDocument/2006/relationships/slideLayout" Target="/ppt/slideLayouts/slideLayout29.xml" Id="Rc432c234d43549db" /><Relationship Type="http://schemas.openxmlformats.org/officeDocument/2006/relationships/slideLayout" Target="/ppt/slideLayouts/slideLayout30.xml" Id="R5b83a4d38a524108" /></Relationships>
</file>

<file path=ppt/slideMasters/_rels/slideMaster6.xml.rels>&#65279;<?xml version="1.0" encoding="utf-8"?><Relationships xmlns="http://schemas.openxmlformats.org/package/2006/relationships"><Relationship Type="http://schemas.openxmlformats.org/officeDocument/2006/relationships/theme" Target="/ppt/slideMasters/theme/theme7.xml" Id="R180f0c4d01cb4f97" /><Relationship Type="http://schemas.openxmlformats.org/officeDocument/2006/relationships/slideLayout" Target="/ppt/slideLayouts/slideLayout31.xml" Id="Rae1df5b418954d38" /><Relationship Type="http://schemas.openxmlformats.org/officeDocument/2006/relationships/slideLayout" Target="/ppt/slideLayouts/slideLayout32.xml" Id="R5ffe09981c5b41b8" /><Relationship Type="http://schemas.openxmlformats.org/officeDocument/2006/relationships/slideLayout" Target="/ppt/slideLayouts/slideLayout33.xml" Id="R48c4190db78642b7" /><Relationship Type="http://schemas.openxmlformats.org/officeDocument/2006/relationships/slideLayout" Target="/ppt/slideLayouts/slideLayout34.xml" Id="R0be7f0ea2e794c05" /><Relationship Type="http://schemas.openxmlformats.org/officeDocument/2006/relationships/slideLayout" Target="/ppt/slideLayouts/slideLayout35.xml" Id="Rbe14f51ae72243ae" /><Relationship Type="http://schemas.openxmlformats.org/officeDocument/2006/relationships/slideLayout" Target="/ppt/slideLayouts/slideLayout36.xml" Id="R8c0cac6926884a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0cbfd5309e4f92"/>
    <p:sldLayoutId xmlns:r="http://schemas.openxmlformats.org/officeDocument/2006/relationships" id="2147483650" r:id="R0520f3136ce148e1"/>
    <p:sldLayoutId xmlns:r="http://schemas.openxmlformats.org/officeDocument/2006/relationships" id="2147483651" r:id="R714f0caec8104faa"/>
    <p:sldLayoutId xmlns:r="http://schemas.openxmlformats.org/officeDocument/2006/relationships" id="2147483652" r:id="R51d95b61a6bb4cf8"/>
    <p:sldLayoutId xmlns:r="http://schemas.openxmlformats.org/officeDocument/2006/relationships" id="2147483653" r:id="Rebf628ae58e0494b"/>
    <p:sldLayoutId xmlns:r="http://schemas.openxmlformats.org/officeDocument/2006/relationships" id="2147483654" r:id="R3a63091141e84f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812b921d79c84f00"/>
    <p:sldLayoutId xmlns:r="http://schemas.openxmlformats.org/officeDocument/2006/relationships" id="2147483657" r:id="Rf534f0896e904250"/>
    <p:sldLayoutId xmlns:r="http://schemas.openxmlformats.org/officeDocument/2006/relationships" id="2147483658" r:id="Rf57c1008539e4b18"/>
    <p:sldLayoutId xmlns:r="http://schemas.openxmlformats.org/officeDocument/2006/relationships" id="2147483659" r:id="Rd9dc0a83d48f4ec8"/>
    <p:sldLayoutId xmlns:r="http://schemas.openxmlformats.org/officeDocument/2006/relationships" id="2147483660" r:id="Rde5fd29283df48cb"/>
    <p:sldLayoutId xmlns:r="http://schemas.openxmlformats.org/officeDocument/2006/relationships" id="2147483661" r:id="R7b787e619d1f4d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3" r:id="Ra1d49d369b3b4f6b"/>
    <p:sldLayoutId xmlns:r="http://schemas.openxmlformats.org/officeDocument/2006/relationships" id="2147483664" r:id="R79770baff6884573"/>
    <p:sldLayoutId xmlns:r="http://schemas.openxmlformats.org/officeDocument/2006/relationships" id="2147483665" r:id="Raee4a875f8f34bf0"/>
    <p:sldLayoutId xmlns:r="http://schemas.openxmlformats.org/officeDocument/2006/relationships" id="2147483666" r:id="R76b2ef38adb14688"/>
    <p:sldLayoutId xmlns:r="http://schemas.openxmlformats.org/officeDocument/2006/relationships" id="2147483667" r:id="Rc791612eb76d47fc"/>
    <p:sldLayoutId xmlns:r="http://schemas.openxmlformats.org/officeDocument/2006/relationships" id="2147483668" r:id="R6c9276c66ed042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4.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0" r:id="R80ac0eb867a047f9"/>
    <p:sldLayoutId xmlns:r="http://schemas.openxmlformats.org/officeDocument/2006/relationships" id="2147483671" r:id="Rd3ca501be6e843ae"/>
    <p:sldLayoutId xmlns:r="http://schemas.openxmlformats.org/officeDocument/2006/relationships" id="2147483672" r:id="R89b3e07ca98f4589"/>
    <p:sldLayoutId xmlns:r="http://schemas.openxmlformats.org/officeDocument/2006/relationships" id="2147483673" r:id="R0fe2cc3e15c94829"/>
    <p:sldLayoutId xmlns:r="http://schemas.openxmlformats.org/officeDocument/2006/relationships" id="2147483674" r:id="Rd88b51c1ea02411a"/>
    <p:sldLayoutId xmlns:r="http://schemas.openxmlformats.org/officeDocument/2006/relationships" id="2147483675" r:id="Rb0303e0d7fb440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5.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7" r:id="R5013e35c63bc4047"/>
    <p:sldLayoutId xmlns:r="http://schemas.openxmlformats.org/officeDocument/2006/relationships" id="2147483678" r:id="R46e815a843404c71"/>
    <p:sldLayoutId xmlns:r="http://schemas.openxmlformats.org/officeDocument/2006/relationships" id="2147483679" r:id="R4eb965366d55413f"/>
    <p:sldLayoutId xmlns:r="http://schemas.openxmlformats.org/officeDocument/2006/relationships" id="2147483680" r:id="R727a81f102ab42eb"/>
    <p:sldLayoutId xmlns:r="http://schemas.openxmlformats.org/officeDocument/2006/relationships" id="2147483681" r:id="Rc432c234d43549db"/>
    <p:sldLayoutId xmlns:r="http://schemas.openxmlformats.org/officeDocument/2006/relationships" id="2147483682" r:id="R5b83a4d38a5241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6.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84" r:id="Rae1df5b418954d38"/>
    <p:sldLayoutId xmlns:r="http://schemas.openxmlformats.org/officeDocument/2006/relationships" id="2147483685" r:id="R5ffe09981c5b41b8"/>
    <p:sldLayoutId xmlns:r="http://schemas.openxmlformats.org/officeDocument/2006/relationships" id="2147483686" r:id="R48c4190db78642b7"/>
    <p:sldLayoutId xmlns:r="http://schemas.openxmlformats.org/officeDocument/2006/relationships" id="2147483687" r:id="R0be7f0ea2e794c05"/>
    <p:sldLayoutId xmlns:r="http://schemas.openxmlformats.org/officeDocument/2006/relationships" id="2147483688" r:id="Rbe14f51ae72243ae"/>
    <p:sldLayoutId xmlns:r="http://schemas.openxmlformats.org/officeDocument/2006/relationships" id="2147483689" r:id="R8c0cac6926884a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6.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7.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8c4c010119943b1" /><Relationship Type="http://schemas.openxmlformats.org/officeDocument/2006/relationships/notesSlide" Target="/ppt/notesSlides/notesSlide1.xml" Id="R199394ddfb8242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52a34f7cf1483c" /><Relationship Type="http://schemas.openxmlformats.org/officeDocument/2006/relationships/notesSlide" Target="/ppt/notesSlides/notesSlide2.xml" Id="R522deea4e0d645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9592f9b7e014b07" /><Relationship Type="http://schemas.openxmlformats.org/officeDocument/2006/relationships/chart" Target="/ppt/slides/charts/chart1.xml" Id="R414080686833477e" /><Relationship Type="http://schemas.openxmlformats.org/officeDocument/2006/relationships/notesSlide" Target="/ppt/notesSlides/notesSlide3.xml" Id="Rcd0a182ec7af4f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c0ca5905984bc3" /><Relationship Type="http://schemas.openxmlformats.org/officeDocument/2006/relationships/notesSlide" Target="/ppt/notesSlides/notesSlide4.xml" Id="R13f52595be0c43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f981eba9372d449e" /><Relationship Type="http://schemas.openxmlformats.org/officeDocument/2006/relationships/chart" Target="/ppt/slides/charts/chart2.xml" Id="R758f3af3fc7a441b" /><Relationship Type="http://schemas.openxmlformats.org/officeDocument/2006/relationships/notesSlide" Target="/ppt/notesSlides/notesSlide5.xml" Id="Reb5fbdf064dc4e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8.xml" Id="R6247730cb21249cd" /><Relationship Type="http://schemas.openxmlformats.org/officeDocument/2006/relationships/chart" Target="/ppt/slides/charts/chart3.xml" Id="R391bcd9c5df94172" /><Relationship Type="http://schemas.openxmlformats.org/officeDocument/2006/relationships/notesSlide" Target="/ppt/notesSlides/notesSlide6.xml" Id="Rba0c685307ed49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4.xml" Id="R5ac803995e6b417f" /><Relationship Type="http://schemas.openxmlformats.org/officeDocument/2006/relationships/notesSlide" Target="/ppt/notesSlides/notesSlide7.xml" Id="R26ba78025b9d4f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0ad510283c74a6c" /><Relationship Type="http://schemas.openxmlformats.org/officeDocument/2006/relationships/chart" Target="/ppt/slides/charts/chart4.xml" Id="Rce4744b638af4f4c" /><Relationship Type="http://schemas.openxmlformats.org/officeDocument/2006/relationships/notesSlide" Target="/ppt/notesSlides/notesSlide8.xml" Id="R4ed8d634d35d49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30.xml" Id="R540d3f387bf74f3c" /><Relationship Type="http://schemas.openxmlformats.org/officeDocument/2006/relationships/chart" Target="/ppt/slides/charts/chart5.xml" Id="Ra9e317bd71004fbd" /><Relationship Type="http://schemas.openxmlformats.org/officeDocument/2006/relationships/notesSlide" Target="/ppt/notesSlides/notesSlide9.xml" Id="Re2cc29305925430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6.xml" Id="R322b9b83b7b14551" /><Relationship Type="http://schemas.openxmlformats.org/officeDocument/2006/relationships/notesSlide" Target="/ppt/notesSlides/notesSlide10.xml" Id="Rcadacabedb8247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27299cc1cc240d2" /><Relationship Type="http://schemas.openxmlformats.org/officeDocument/2006/relationships/notesSlide" Target="/ppt/notesSlides/notesSlide11.xml" Id="Re1a9b86ec97e42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b913b0b32c44707" /><Relationship Type="http://schemas.openxmlformats.org/officeDocument/2006/relationships/notesSlide" Target="/ppt/notesSlides/notesSlide12.xml" Id="R58ad96fb2824415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Revenue share</c:v>
          </c:tx>
          <c:spPr>
            <a:solidFill xmlns:a="http://schemas.openxmlformats.org/drawingml/2006/main">
              <a:srgbClr val="2563EB"/>
            </a:solidFill>
          </c:spPr>
          <c:invertIfNegative val="0"/>
          <c:dPt>
            <c:idx val="0"/>
            <c:invertIfNegative val="0"/>
            <c:spPr>
              <a:solidFill xmlns:a="http://schemas.openxmlformats.org/drawingml/2006/main">
                <a:srgbClr val="2563EB"/>
              </a:solidFill>
            </c:spPr>
          </c:dPt>
          <c:dPt>
            <c:idx val="1"/>
            <c:invertIfNegative val="0"/>
            <c:spPr>
              <a:solidFill xmlns:a="http://schemas.openxmlformats.org/drawingml/2006/main">
                <a:srgbClr val="2563EB"/>
              </a:solidFill>
            </c:spPr>
          </c:dPt>
          <c:dPt>
            <c:idx val="2"/>
            <c:invertIfNegative val="0"/>
            <c:spPr>
              <a:solidFill xmlns:a="http://schemas.openxmlformats.org/drawingml/2006/main">
                <a:srgbClr val="B6CAF5"/>
              </a:solidFill>
            </c:spPr>
          </c:dPt>
          <c:dPt>
            <c:idx val="3"/>
            <c:invertIfNegative val="0"/>
            <c:spPr>
              <a:solidFill xmlns:a="http://schemas.openxmlformats.org/drawingml/2006/main">
                <a:srgbClr val="B6CAF5"/>
              </a:solidFill>
            </c:spPr>
          </c:dPt>
          <c:dPt>
            <c:idx val="4"/>
            <c:invertIfNegative val="0"/>
            <c:spPr>
              <a:solidFill xmlns:a="http://schemas.openxmlformats.org/drawingml/2006/main">
                <a:srgbClr val="B6CAF5"/>
              </a:solidFill>
            </c:spPr>
          </c:dPt>
          <c:dPt>
            <c:idx val="5"/>
            <c:invertIfNegative val="0"/>
            <c:spPr>
              <a:solidFill xmlns:a="http://schemas.openxmlformats.org/drawingml/2006/main">
                <a:srgbClr val="B6CAF5"/>
              </a:solidFill>
            </c:spPr>
          </c:dPt>
          <c:dPt>
            <c:idx val="6"/>
            <c:invertIfNegative val="0"/>
            <c:spPr>
              <a:solidFill xmlns:a="http://schemas.openxmlformats.org/drawingml/2006/main">
                <a:srgbClr val="B6CAF5"/>
              </a:solidFill>
            </c:spPr>
          </c:dPt>
          <c:dPt>
            <c:idx val="7"/>
            <c:invertIfNegative val="0"/>
            <c:spPr>
              <a:solidFill xmlns:a="http://schemas.openxmlformats.org/drawingml/2006/main">
                <a:srgbClr val="B6CAF5"/>
              </a:solidFill>
            </c:spPr>
          </c:dPt>
          <c:dPt>
            <c:idx val="8"/>
            <c:invertIfNegative val="0"/>
            <c:spPr>
              <a:solidFill xmlns:a="http://schemas.openxmlformats.org/drawingml/2006/main">
                <a:srgbClr val="B6CAF5"/>
              </a:solidFill>
            </c:spPr>
          </c:dPt>
          <c:dPt>
            <c:idx val="9"/>
            <c:invertIfNegative val="0"/>
            <c:spPr>
              <a:solidFill xmlns:a="http://schemas.openxmlformats.org/drawingml/2006/main">
                <a:srgbClr val="B6CAF5"/>
              </a:solidFill>
            </c:spPr>
          </c:dPt>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0.34291385935574</c:v>
                </c:pt>
                <c:pt idx="1">
                  <c:v>0.1875501843401</c:v>
                </c:pt>
                <c:pt idx="2">
                  <c:v>0.13687403317663</c:v>
                </c:pt>
                <c:pt idx="3">
                  <c:v>0.099824321455398</c:v>
                </c:pt>
                <c:pt idx="4">
                  <c:v>0.076250065808712</c:v>
                </c:pt>
                <c:pt idx="5">
                  <c:v>0.058868446590965</c:v>
                </c:pt>
                <c:pt idx="6">
                  <c:v>0.043051752964135</c:v>
                </c:pt>
                <c:pt idx="7">
                  <c:v>0.029942893303209</c:v>
                </c:pt>
                <c:pt idx="8">
                  <c:v>0.01772909418245</c:v>
                </c:pt>
                <c:pt idx="9">
                  <c:v>0.0069953488226626</c:v>
                </c:pt>
              </c:numCache>
            </c:numRef>
          </c:val>
        </c:ser>
        <c:dLbls>
          <c:delete val="0"/>
          <c:numFmt formatCode="0.0%" sourceLinked="0"/>
          <c:txPr>
            <a:bodyPr xmlns:a="http://schemas.openxmlformats.org/drawingml/2006/main" anchorCtr="1"/>
            <a:lstStyle xmlns:a="http://schemas.openxmlformats.org/drawingml/2006/main"/>
            <a:p xmlns:a="http://schemas.openxmlformats.org/drawingml/2006/main">
              <a:pPr>
                <a:defRPr sz="1275">
                  <a:solidFill>
                    <a:srgbClr val="17243B"/>
                  </a:solidFill>
                  <a:latin typeface="DejaVu Sans"/>
                  <a:ea typeface="DejaVu Sans"/>
                  <a:cs typeface="DejaVu Sans"/>
                </a:defRPr>
              </a:pPr>
            </a:p>
          </c:txPr>
          <c:dLblPos val="outEnd"/>
          <c:showLegendKey val="0"/>
          <c:showVal val="1"/>
          <c:showCatName val="0"/>
          <c:showSerName val="0"/>
          <c:showPercent val="0"/>
          <c:showBubbleSize val="0"/>
          <c:separator>
</c:separator>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7243B"/>
                </a:solidFill>
                <a:latin typeface="DejaVu Sans"/>
                <a:ea typeface="DejaVu Sans"/>
                <a:cs typeface="DejaVu Sans"/>
              </a:defRPr>
            </a:pPr>
          </a:p>
        </c:txPr>
        <c:crossAx val="48672768"/>
      </c:catAx>
      <c:valAx>
        <c:axId val="48672768"/>
        <c:scaling>
          <c:orientation val="minMax"/>
          <c:max val="0.4"/>
          <c:min val="0"/>
        </c:scaling>
        <c:delete val="0"/>
        <c:axPos val="l"/>
        <c:majorGridlines>
          <c:spPr>
            <a:ln xmlns:a="http://schemas.openxmlformats.org/drawingml/2006/main" w="9525">
              <a:solidFill>
                <a:srgbClr val="E8EDF5"/>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4748B"/>
                </a:solidFill>
                <a:latin typeface="DejaVu Sans"/>
                <a:ea typeface="DejaVu Sans"/>
                <a:cs typeface="DejaVu Sans"/>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Customer average</c:v>
          </c:tx>
          <c:spPr>
            <a:solidFill xmlns:a="http://schemas.openxmlformats.org/drawingml/2006/main">
              <a:srgbClr val="2563EB"/>
            </a:solidFill>
          </c:spPr>
          <c:invertIfNegative val="0"/>
          <c:dPt>
            <c:idx val="0"/>
            <c:invertIfNegative val="0"/>
            <c:spPr>
              <a:solidFill xmlns:a="http://schemas.openxmlformats.org/drawingml/2006/main">
                <a:srgbClr val="2563EB"/>
              </a:solidFill>
            </c:spPr>
          </c:dPt>
          <c:dPt>
            <c:idx val="1"/>
            <c:invertIfNegative val="0"/>
            <c:spPr>
              <a:solidFill xmlns:a="http://schemas.openxmlformats.org/drawingml/2006/main">
                <a:srgbClr val="7C3AED"/>
              </a:solidFill>
            </c:spPr>
          </c:dPt>
          <c:dPt>
            <c:idx val="2"/>
            <c:invertIfNegative val="0"/>
            <c:spPr>
              <a:solidFill xmlns:a="http://schemas.openxmlformats.org/drawingml/2006/main">
                <a:srgbClr val="0F9488"/>
              </a:solidFill>
            </c:spPr>
          </c:dPt>
          <c:cat>
            <c:strRef>
              <c:f>'Chart Data'!$A$2:$A$4</c:f>
              <c:strCache>
                <c:ptCount val="3"/>
                <c:pt idx="0">
                  <c:v>High-Value
Frequent</c:v>
                </c:pt>
                <c:pt idx="1">
                  <c:v>Large-Basket
Occasional</c:v>
                </c:pt>
                <c:pt idx="2">
                  <c:v>Low-Value
Low-Engagement</c:v>
                </c:pt>
              </c:strCache>
            </c:strRef>
          </c:cat>
          <c:val>
            <c:numRef>
              <c:f>'Chart Data'!$B$2:$B$4</c:f>
              <c:numCache>
                <c:formatCode>$0,"K"</c:formatCode>
                <c:ptCount val="3"/>
                <c:pt idx="0">
                  <c:v>5882.4643992056</c:v>
                </c:pt>
                <c:pt idx="1">
                  <c:v>1919.4940576497</c:v>
                </c:pt>
                <c:pt idx="2">
                  <c:v>680.91118443316</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7243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43B"/>
                </a:solidFill>
                <a:latin typeface="DejaVu Sans"/>
                <a:ea typeface="DejaVu Sans"/>
                <a:cs typeface="DejaVu Sans"/>
              </a:defRPr>
            </a:pPr>
          </a:p>
        </c:txPr>
        <c:crossAx val="48672768"/>
      </c:catAx>
      <c:valAx>
        <c:axId val="48672768"/>
        <c:scaling>
          <c:orientation val="minMax"/>
          <c:max val="7000"/>
          <c:min val="0"/>
        </c:scaling>
        <c:delete val="0"/>
        <c:axPos val="l"/>
        <c:majorGridlines>
          <c:spPr>
            <a:ln xmlns:a="http://schemas.openxmlformats.org/drawingml/2006/main" w="9525">
              <a:solidFill>
                <a:srgbClr val="E6EDF5"/>
              </a:solidFill>
              <a:prstDash val="solid"/>
            </a:ln>
          </c:spPr>
        </c:majorGridlines>
        <c:numFmt formatCode="$0,&quot;K&quot;"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4748B"/>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Customer average</c:v>
          </c:tx>
          <c:spPr>
            <a:solidFill xmlns:a="http://schemas.openxmlformats.org/drawingml/2006/main">
              <a:srgbClr val="2563EB"/>
            </a:solidFill>
          </c:spPr>
          <c:invertIfNegative val="0"/>
          <c:dPt>
            <c:idx val="0"/>
            <c:invertIfNegative val="0"/>
            <c:spPr>
              <a:solidFill xmlns:a="http://schemas.openxmlformats.org/drawingml/2006/main">
                <a:srgbClr val="2563EB"/>
              </a:solidFill>
            </c:spPr>
          </c:dPt>
          <c:dPt>
            <c:idx val="1"/>
            <c:invertIfNegative val="0"/>
            <c:spPr>
              <a:solidFill xmlns:a="http://schemas.openxmlformats.org/drawingml/2006/main">
                <a:srgbClr val="7C3AED"/>
              </a:solidFill>
            </c:spPr>
          </c:dPt>
          <c:dPt>
            <c:idx val="2"/>
            <c:invertIfNegative val="0"/>
            <c:spPr>
              <a:solidFill xmlns:a="http://schemas.openxmlformats.org/drawingml/2006/main">
                <a:srgbClr val="0F9488"/>
              </a:solidFill>
            </c:spPr>
          </c:dPt>
          <c:cat>
            <c:strRef>
              <c:f>'Chart Data'!$A$2:$A$4</c:f>
              <c:strCache>
                <c:ptCount val="3"/>
                <c:pt idx="0">
                  <c:v>High-Value
Frequent</c:v>
                </c:pt>
                <c:pt idx="1">
                  <c:v>Large-Basket
Occasional</c:v>
                </c:pt>
                <c:pt idx="2">
                  <c:v>Low-Value
Low-Engagement</c:v>
                </c:pt>
              </c:strCache>
            </c:strRef>
          </c:cat>
          <c:val>
            <c:numRef>
              <c:f>'Chart Data'!$B$2:$B$4</c:f>
              <c:numCache>
                <c:formatCode>0" d"</c:formatCode>
                <c:ptCount val="3"/>
                <c:pt idx="0">
                  <c:v>5.3227408142999</c:v>
                </c:pt>
                <c:pt idx="1">
                  <c:v>30.235033259424</c:v>
                </c:pt>
                <c:pt idx="2">
                  <c:v>52.97461928934</c:v>
                </c:pt>
              </c:numCache>
            </c:numRef>
          </c:val>
        </c:ser>
        <c:dLbls>
          <c:numFmt formatCode="0.0&quot; d&quot;" sourceLinked="0"/>
          <c:txPr>
            <a:bodyPr xmlns:a="http://schemas.openxmlformats.org/drawingml/2006/main" anchorCtr="1"/>
            <a:lstStyle xmlns:a="http://schemas.openxmlformats.org/drawingml/2006/main"/>
            <a:p xmlns:a="http://schemas.openxmlformats.org/drawingml/2006/main">
              <a:pPr>
                <a:defRPr sz="1650" b="1">
                  <a:solidFill>
                    <a:srgbClr val="17243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43B"/>
                </a:solidFill>
                <a:latin typeface="DejaVu Sans"/>
                <a:ea typeface="DejaVu Sans"/>
                <a:cs typeface="DejaVu Sans"/>
              </a:defRPr>
            </a:pPr>
          </a:p>
        </c:txPr>
        <c:crossAx val="48672768"/>
      </c:catAx>
      <c:valAx>
        <c:axId val="48672768"/>
        <c:scaling>
          <c:orientation val="minMax"/>
          <c:max val="60"/>
          <c:min val="0"/>
        </c:scaling>
        <c:delete val="0"/>
        <c:axPos val="l"/>
        <c:majorGridlines>
          <c:spPr>
            <a:ln xmlns:a="http://schemas.openxmlformats.org/drawingml/2006/main" w="9525">
              <a:solidFill>
                <a:srgbClr val="E6EDF5"/>
              </a:solidFill>
              <a:prstDash val="solid"/>
            </a:ln>
          </c:spPr>
        </c:majorGridlines>
        <c:numFmt formatCode="0&quot; d&quot;"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4748B"/>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Baskets with promotions</c:v>
          </c:tx>
          <c:spPr>
            <a:solidFill xmlns:a="http://schemas.openxmlformats.org/drawingml/2006/main">
              <a:srgbClr val="2563EB"/>
            </a:solidFill>
          </c:spPr>
          <c:invertIfNegative val="0"/>
          <c:cat>
            <c:strRef>
              <c:f>'Chart Data'!$A$2:$A$4</c:f>
              <c:strCache>
                <c:ptCount val="3"/>
                <c:pt idx="0">
                  <c:v>High-Value Frequent</c:v>
                </c:pt>
                <c:pt idx="1">
                  <c:v>Large-Basket Occasional</c:v>
                </c:pt>
                <c:pt idx="2">
                  <c:v>Low-Value Low-Engagement</c:v>
                </c:pt>
              </c:strCache>
            </c:strRef>
          </c:cat>
          <c:val>
            <c:numRef>
              <c:f>'Chart Data'!$B$2:$B$4</c:f>
              <c:numCache>
                <c:formatCode>0%</c:formatCode>
                <c:ptCount val="3"/>
                <c:pt idx="0">
                  <c:v>0.85373690156049</c:v>
                </c:pt>
                <c:pt idx="1">
                  <c:v>0.89939451953089</c:v>
                </c:pt>
                <c:pt idx="2">
                  <c:v>0.74692020973217</c:v>
                </c:pt>
              </c:numCache>
            </c:numRef>
          </c:val>
        </c:ser>
        <c:ser>
          <c:idx val="1"/>
          <c:order val="1"/>
          <c:tx>
            <c:v>Spending on promoted items</c:v>
          </c:tx>
          <c:spPr>
            <a:solidFill xmlns:a="http://schemas.openxmlformats.org/drawingml/2006/main">
              <a:srgbClr val="0F9488"/>
            </a:solidFill>
          </c:spPr>
          <c:invertIfNegative val="0"/>
          <c:cat>
            <c:strRef>
              <c:f>'Chart Data'!$C$2:$C$4</c:f>
              <c:strCache>
                <c:ptCount val="3"/>
                <c:pt idx="0">
                  <c:v>High-Value Frequent</c:v>
                </c:pt>
                <c:pt idx="1">
                  <c:v>Large-Basket Occasional</c:v>
                </c:pt>
                <c:pt idx="2">
                  <c:v>Low-Value Low-Engagement</c:v>
                </c:pt>
              </c:strCache>
            </c:strRef>
          </c:cat>
          <c:val>
            <c:numRef>
              <c:f>'Chart Data'!$D$2:$D$4</c:f>
              <c:numCache>
                <c:formatCode>0%</c:formatCode>
                <c:ptCount val="3"/>
                <c:pt idx="0">
                  <c:v>0.51206892892424</c:v>
                </c:pt>
                <c:pt idx="1">
                  <c:v>0.5135703463333</c:v>
                </c:pt>
                <c:pt idx="2">
                  <c:v>0.46347330112778</c:v>
                </c:pt>
              </c:numCache>
            </c:numRef>
          </c:val>
        </c:ser>
        <c:dLbls>
          <c:delete val="0"/>
          <c:numFmt formatCode="0.0%" sourceLinked="0"/>
          <c:txPr>
            <a:bodyPr xmlns:a="http://schemas.openxmlformats.org/drawingml/2006/main" anchorCtr="1"/>
            <a:lstStyle xmlns:a="http://schemas.openxmlformats.org/drawingml/2006/main"/>
            <a:p xmlns:a="http://schemas.openxmlformats.org/drawingml/2006/main">
              <a:pPr>
                <a:defRPr sz="1650">
                  <a:solidFill>
                    <a:srgbClr val="17243B"/>
                  </a:solidFill>
                  <a:latin typeface="DejaVu Sans"/>
                  <a:ea typeface="DejaVu Sans"/>
                  <a:cs typeface="DejaVu Sans"/>
                </a:defRPr>
              </a:pPr>
            </a:p>
          </c:txPr>
          <c:dLblPos val="outEnd"/>
          <c:showLegendKey val="0"/>
          <c:showVal val="1"/>
          <c:showCatName val="0"/>
          <c:showSerName val="0"/>
          <c:showPercent val="0"/>
          <c:showBubbleSize val="0"/>
          <c:separator>
</c:separator>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43B"/>
                </a:solidFill>
                <a:latin typeface="DejaVu Sans"/>
                <a:ea typeface="DejaVu Sans"/>
                <a:cs typeface="DejaVu Sans"/>
              </a:defRPr>
            </a:pPr>
          </a:p>
        </c:txPr>
        <c:crossAx val="48672768"/>
      </c:catAx>
      <c:valAx>
        <c:axId val="48672768"/>
        <c:scaling>
          <c:orientation val="minMax"/>
          <c:max val="1"/>
          <c:min val="0"/>
        </c:scaling>
        <c:delete val="0"/>
        <c:axPos val="l"/>
        <c:majorGridlines>
          <c:spPr>
            <a:ln xmlns:a="http://schemas.openxmlformats.org/drawingml/2006/main" w="9525">
              <a:solidFill>
                <a:srgbClr val="E8EDF5"/>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4748B"/>
                </a:solidFill>
                <a:latin typeface="DejaVu Sans"/>
                <a:ea typeface="DejaVu Sans"/>
                <a:cs typeface="DejaVu Sans"/>
              </a:defRPr>
            </a:pPr>
          </a:p>
        </c:txPr>
        <c:crossAx val="48650112"/>
        <c:crossBetween val="between"/>
        <c:majorUnit val="0.2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243B"/>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Contains promotion</c:v>
          </c:tx>
          <c:spPr>
            <a:solidFill xmlns:a="http://schemas.openxmlformats.org/drawingml/2006/main">
              <a:srgbClr val="2563EB"/>
            </a:solidFill>
          </c:spPr>
          <c:invertIfNegative val="0"/>
          <c:cat>
            <c:strRef>
              <c:f>'Chart Data'!$A$2:$A$4</c:f>
              <c:strCache>
                <c:ptCount val="3"/>
                <c:pt idx="0">
                  <c:v>High-Value Frequent</c:v>
                </c:pt>
                <c:pt idx="1">
                  <c:v>Large-Basket Occasional</c:v>
                </c:pt>
                <c:pt idx="2">
                  <c:v>Low-Value Low-Engagement</c:v>
                </c:pt>
              </c:strCache>
            </c:strRef>
          </c:cat>
          <c:val>
            <c:numRef>
              <c:f>'Chart Data'!$B$2:$B$4</c:f>
              <c:numCache>
                <c:formatCode>$0</c:formatCode>
                <c:ptCount val="3"/>
                <c:pt idx="0">
                  <c:v>33.62452572779</c:v>
                </c:pt>
                <c:pt idx="1">
                  <c:v>39.860786516854</c:v>
                </c:pt>
                <c:pt idx="2">
                  <c:v>16.155401559271</c:v>
                </c:pt>
              </c:numCache>
            </c:numRef>
          </c:val>
        </c:ser>
        <c:ser>
          <c:idx val="1"/>
          <c:order val="1"/>
          <c:tx>
            <c:v>No promotion</c:v>
          </c:tx>
          <c:spPr>
            <a:solidFill xmlns:a="http://schemas.openxmlformats.org/drawingml/2006/main">
              <a:srgbClr val="0F9488"/>
            </a:solidFill>
          </c:spPr>
          <c:invertIfNegative val="0"/>
          <c:cat>
            <c:strRef>
              <c:f>'Chart Data'!$C$2:$C$4</c:f>
              <c:strCache>
                <c:ptCount val="3"/>
                <c:pt idx="0">
                  <c:v>High-Value Frequent</c:v>
                </c:pt>
                <c:pt idx="1">
                  <c:v>Large-Basket Occasional</c:v>
                </c:pt>
                <c:pt idx="2">
                  <c:v>Low-Value Low-Engagement</c:v>
                </c:pt>
              </c:strCache>
            </c:strRef>
          </c:cat>
          <c:val>
            <c:numRef>
              <c:f>'Chart Data'!$D$2:$D$4</c:f>
              <c:numCache>
                <c:formatCode>$0</c:formatCode>
                <c:ptCount val="3"/>
                <c:pt idx="0">
                  <c:v>9.1110475620888</c:v>
                </c:pt>
                <c:pt idx="1">
                  <c:v>11.200889588664</c:v>
                </c:pt>
                <c:pt idx="2">
                  <c:v>7.1465941054176</c:v>
                </c:pt>
              </c:numCache>
            </c:numRef>
          </c:val>
        </c:ser>
        <c:dLbls>
          <c:delete val="0"/>
          <c:numFmt formatCode="$0.00" sourceLinked="0"/>
          <c:txPr>
            <a:bodyPr xmlns:a="http://schemas.openxmlformats.org/drawingml/2006/main" anchorCtr="1"/>
            <a:lstStyle xmlns:a="http://schemas.openxmlformats.org/drawingml/2006/main"/>
            <a:p xmlns:a="http://schemas.openxmlformats.org/drawingml/2006/main">
              <a:pPr>
                <a:defRPr sz="1650">
                  <a:solidFill>
                    <a:srgbClr val="17243B"/>
                  </a:solidFill>
                  <a:latin typeface="DejaVu Sans"/>
                  <a:ea typeface="DejaVu Sans"/>
                  <a:cs typeface="DejaVu Sans"/>
                </a:defRPr>
              </a:pPr>
            </a:p>
          </c:txPr>
          <c:dLblPos val="outEnd"/>
          <c:showLegendKey val="0"/>
          <c:showVal val="1"/>
          <c:showCatName val="0"/>
          <c:showSerName val="0"/>
          <c:showPercent val="0"/>
          <c:showBubbleSize val="0"/>
          <c:separator>
</c:separator>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43B"/>
                </a:solidFill>
                <a:latin typeface="DejaVu Sans"/>
                <a:ea typeface="DejaVu Sans"/>
                <a:cs typeface="DejaVu Sans"/>
              </a:defRPr>
            </a:pPr>
          </a:p>
        </c:txPr>
        <c:crossAx val="48672768"/>
      </c:catAx>
      <c:valAx>
        <c:axId val="48672768"/>
        <c:scaling>
          <c:orientation val="minMax"/>
          <c:max val="50"/>
          <c:min val="0"/>
        </c:scaling>
        <c:delete val="0"/>
        <c:axPos val="l"/>
        <c:majorGridlines>
          <c:spPr>
            <a:ln xmlns:a="http://schemas.openxmlformats.org/drawingml/2006/main" w="9525">
              <a:solidFill>
                <a:srgbClr val="E8EDF5"/>
              </a:solidFill>
              <a:prstDash val="solid"/>
            </a:ln>
          </c:spPr>
        </c:majorGridlines>
        <c:numFmt formatCode="$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4748B"/>
                </a:solidFill>
                <a:latin typeface="DejaVu Sans"/>
                <a:ea typeface="DejaVu Sans"/>
                <a:cs typeface="DejaVu Sans"/>
              </a:defRPr>
            </a:pPr>
          </a:p>
        </c:txPr>
        <c:crossAx val="48650112"/>
        <c:crossBetween val="between"/>
        <c:majorUnit val="10"/>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243B"/>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4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0F43A2-F6FE-4840-B757-9FFA529E26C8}"/>
              </a:ext>
            </a:extLst>
          </p:cNvPr>
          <p:cNvSpPr>
            <a:spLocks xmlns:a="http://schemas.openxmlformats.org/drawingml/2006/main" noGrp="1"/>
          </p:cNvSpPr>
          <p:nvPr/>
        </p:nvSpPr>
        <p:spPr>
          <a:xfrm xmlns:a="http://schemas.openxmlformats.org/drawingml/2006/main">
            <a:off x="685800" y="6286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1">
                <a:solidFill>
                  <a:srgbClr val="93B6FF"/>
                </a:solidFill>
                <a:latin typeface="DejaVu Sans"/>
                <a:ea typeface="DejaVu Sans"/>
                <a:cs typeface="DejaVu Sans"/>
              </a:defRPr>
            </a:defPPr>
            <a:lvl1pPr>
              <a:buNone/>
              <a:defRPr sz="1500" b="1">
                <a:solidFill>
                  <a:srgbClr val="93B6FF"/>
                </a:solidFill>
                <a:latin typeface="DejaVu Sans"/>
                <a:ea typeface="DejaVu Sans"/>
                <a:cs typeface="DejaVu Sans"/>
              </a:defRPr>
            </a:lvl1pPr>
            <a:lvl2pPr>
              <a:buNone/>
              <a:defRPr sz="1500" b="1">
                <a:solidFill>
                  <a:srgbClr val="93B6FF"/>
                </a:solidFill>
                <a:latin typeface="DejaVu Sans"/>
                <a:ea typeface="DejaVu Sans"/>
                <a:cs typeface="DejaVu Sans"/>
              </a:defRPr>
            </a:lvl2pPr>
            <a:lvl3pPr>
              <a:buNone/>
              <a:defRPr sz="1500" b="1">
                <a:solidFill>
                  <a:srgbClr val="93B6FF"/>
                </a:solidFill>
                <a:latin typeface="DejaVu Sans"/>
                <a:ea typeface="DejaVu Sans"/>
                <a:cs typeface="DejaVu Sans"/>
              </a:defRPr>
            </a:lvl3pPr>
            <a:lvl4pPr>
              <a:buNone/>
              <a:defRPr sz="1500" b="1">
                <a:solidFill>
                  <a:srgbClr val="93B6FF"/>
                </a:solidFill>
                <a:latin typeface="DejaVu Sans"/>
                <a:ea typeface="DejaVu Sans"/>
                <a:cs typeface="DejaVu Sans"/>
              </a:defRPr>
            </a:lvl4pPr>
            <a:lvl5pPr>
              <a:buNone/>
              <a:defRPr sz="1500" b="1">
                <a:solidFill>
                  <a:srgbClr val="93B6FF"/>
                </a:solidFill>
                <a:latin typeface="DejaVu Sans"/>
                <a:ea typeface="DejaVu Sans"/>
                <a:cs typeface="DejaVu Sans"/>
              </a:defRPr>
            </a:lvl5pPr>
            <a:lvl6pPr>
              <a:buNone/>
              <a:defRPr sz="1500" b="1">
                <a:solidFill>
                  <a:srgbClr val="93B6FF"/>
                </a:solidFill>
                <a:latin typeface="DejaVu Sans"/>
                <a:ea typeface="DejaVu Sans"/>
                <a:cs typeface="DejaVu Sans"/>
              </a:defRPr>
            </a:lvl6pPr>
            <a:lvl7pPr>
              <a:buNone/>
              <a:defRPr sz="1500" b="1">
                <a:solidFill>
                  <a:srgbClr val="93B6FF"/>
                </a:solidFill>
                <a:latin typeface="DejaVu Sans"/>
                <a:ea typeface="DejaVu Sans"/>
                <a:cs typeface="DejaVu Sans"/>
              </a:defRPr>
            </a:lvl7pPr>
            <a:lvl8pPr>
              <a:buNone/>
              <a:defRPr sz="1500" b="1">
                <a:solidFill>
                  <a:srgbClr val="93B6FF"/>
                </a:solidFill>
                <a:latin typeface="DejaVu Sans"/>
                <a:ea typeface="DejaVu Sans"/>
                <a:cs typeface="DejaVu Sans"/>
              </a:defRPr>
            </a:lvl8pPr>
            <a:lvl9pPr>
              <a:buNone/>
              <a:defRPr sz="1500" b="1">
                <a:solidFill>
                  <a:srgbClr val="93B6FF"/>
                </a:solidFill>
                <a:latin typeface="DejaVu Sans"/>
                <a:ea typeface="DejaVu Sans"/>
                <a:cs typeface="DejaVu Sans"/>
              </a:defRPr>
            </a:lvl9pPr>
          </a:lstStyle>
          <a:p xmlns:a="http://schemas.openxmlformats.org/drawingml/2006/main">
            <a:pPr>
              <a:buNone/>
              <a:defRPr sz="1500" b="1">
                <a:solidFill>
                  <a:srgbClr val="93B6FF"/>
                </a:solidFill>
                <a:latin typeface="DejaVu Sans"/>
                <a:ea typeface="DejaVu Sans"/>
                <a:cs typeface="DejaVu Sans"/>
              </a:defRPr>
            </a:pPr>
            <a:r>
              <a:rPr sz="1500" b="1">
                <a:solidFill>
                  <a:srgbClr val="93B6FF"/>
                </a:solidFill>
                <a:latin typeface="DejaVu Sans"/>
                <a:ea typeface="DejaVu Sans"/>
                <a:cs typeface="DejaVu Sans"/>
              </a:rPr>
              <a:t>FMCG CONSUMER GROWTH</a:t>
            </a:r>
          </a:p>
        </p:txBody>
      </p:sp>
      <p:sp>
        <p:nvSpPr>
          <p:cNvPr id="2" name="">
            <a:extLst xmlns:a="http://schemas.openxmlformats.org/drawingml/2006/main">
              <a:ext uri="{FF2B5EF4-FFF2-40B4-BE49-F238E27FC236}">
                <a16:creationId xmlns:a16="http://schemas.microsoft.com/office/drawing/2014/main" id="{BC593615-F35F-4F19-9A92-A4777085CE00}"/>
              </a:ext>
            </a:extLst>
          </p:cNvPr>
          <p:cNvSpPr>
            <a:spLocks xmlns:a="http://schemas.openxmlformats.org/drawingml/2006/main" noGrp="1"/>
          </p:cNvSpPr>
          <p:nvPr/>
        </p:nvSpPr>
        <p:spPr>
          <a:xfrm xmlns:a="http://schemas.openxmlformats.org/drawingml/2006/main">
            <a:off x="685800" y="1524000"/>
            <a:ext cx="10572750"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100" b="1">
                <a:solidFill>
                  <a:srgbClr val="FFFFFF"/>
                </a:solidFill>
                <a:latin typeface="DejaVu Sans"/>
                <a:ea typeface="DejaVu Sans"/>
                <a:cs typeface="DejaVu Sans"/>
              </a:defRPr>
            </a:defPPr>
            <a:lvl1pPr>
              <a:buNone/>
              <a:defRPr sz="5100" b="1">
                <a:solidFill>
                  <a:srgbClr val="FFFFFF"/>
                </a:solidFill>
                <a:latin typeface="DejaVu Sans"/>
                <a:ea typeface="DejaVu Sans"/>
                <a:cs typeface="DejaVu Sans"/>
              </a:defRPr>
            </a:lvl1pPr>
            <a:lvl2pPr>
              <a:buNone/>
              <a:defRPr sz="5100" b="1">
                <a:solidFill>
                  <a:srgbClr val="FFFFFF"/>
                </a:solidFill>
                <a:latin typeface="DejaVu Sans"/>
                <a:ea typeface="DejaVu Sans"/>
                <a:cs typeface="DejaVu Sans"/>
              </a:defRPr>
            </a:lvl2pPr>
            <a:lvl3pPr>
              <a:buNone/>
              <a:defRPr sz="5100" b="1">
                <a:solidFill>
                  <a:srgbClr val="FFFFFF"/>
                </a:solidFill>
                <a:latin typeface="DejaVu Sans"/>
                <a:ea typeface="DejaVu Sans"/>
                <a:cs typeface="DejaVu Sans"/>
              </a:defRPr>
            </a:lvl3pPr>
            <a:lvl4pPr>
              <a:buNone/>
              <a:defRPr sz="5100" b="1">
                <a:solidFill>
                  <a:srgbClr val="FFFFFF"/>
                </a:solidFill>
                <a:latin typeface="DejaVu Sans"/>
                <a:ea typeface="DejaVu Sans"/>
                <a:cs typeface="DejaVu Sans"/>
              </a:defRPr>
            </a:lvl4pPr>
            <a:lvl5pPr>
              <a:buNone/>
              <a:defRPr sz="5100" b="1">
                <a:solidFill>
                  <a:srgbClr val="FFFFFF"/>
                </a:solidFill>
                <a:latin typeface="DejaVu Sans"/>
                <a:ea typeface="DejaVu Sans"/>
                <a:cs typeface="DejaVu Sans"/>
              </a:defRPr>
            </a:lvl5pPr>
            <a:lvl6pPr>
              <a:buNone/>
              <a:defRPr sz="5100" b="1">
                <a:solidFill>
                  <a:srgbClr val="FFFFFF"/>
                </a:solidFill>
                <a:latin typeface="DejaVu Sans"/>
                <a:ea typeface="DejaVu Sans"/>
                <a:cs typeface="DejaVu Sans"/>
              </a:defRPr>
            </a:lvl6pPr>
            <a:lvl7pPr>
              <a:buNone/>
              <a:defRPr sz="5100" b="1">
                <a:solidFill>
                  <a:srgbClr val="FFFFFF"/>
                </a:solidFill>
                <a:latin typeface="DejaVu Sans"/>
                <a:ea typeface="DejaVu Sans"/>
                <a:cs typeface="DejaVu Sans"/>
              </a:defRPr>
            </a:lvl7pPr>
            <a:lvl8pPr>
              <a:buNone/>
              <a:defRPr sz="5100" b="1">
                <a:solidFill>
                  <a:srgbClr val="FFFFFF"/>
                </a:solidFill>
                <a:latin typeface="DejaVu Sans"/>
                <a:ea typeface="DejaVu Sans"/>
                <a:cs typeface="DejaVu Sans"/>
              </a:defRPr>
            </a:lvl8pPr>
            <a:lvl9pPr>
              <a:buNone/>
              <a:defRPr sz="5100" b="1">
                <a:solidFill>
                  <a:srgbClr val="FFFFFF"/>
                </a:solidFill>
                <a:latin typeface="DejaVu Sans"/>
                <a:ea typeface="DejaVu Sans"/>
                <a:cs typeface="DejaVu Sans"/>
              </a:defRPr>
            </a:lvl9pPr>
          </a:lstStyle>
          <a:p xmlns:a="http://schemas.openxmlformats.org/drawingml/2006/main">
            <a:pPr>
              <a:buNone/>
              <a:defRPr sz="5100" b="1">
                <a:solidFill>
                  <a:srgbClr val="FFFFFF"/>
                </a:solidFill>
                <a:latin typeface="DejaVu Sans"/>
                <a:ea typeface="DejaVu Sans"/>
                <a:cs typeface="DejaVu Sans"/>
              </a:defRPr>
            </a:pPr>
            <a:r>
              <a:rPr sz="5100" b="1">
                <a:solidFill>
                  <a:srgbClr val="FFFFFF"/>
                </a:solidFill>
                <a:latin typeface="DejaVu Sans"/>
                <a:ea typeface="DejaVu Sans"/>
                <a:cs typeface="DejaVu Sans"/>
              </a:rPr>
              <a:t>Which shoppers should</a:t>
            </a:r>
          </a:p>
          <a:p xmlns:a="http://schemas.openxmlformats.org/drawingml/2006/main">
            <a:pPr>
              <a:buNone/>
              <a:defRPr sz="5100" b="1">
                <a:solidFill>
                  <a:srgbClr val="FFFFFF"/>
                </a:solidFill>
                <a:latin typeface="DejaVu Sans"/>
                <a:ea typeface="DejaVu Sans"/>
                <a:cs typeface="DejaVu Sans"/>
              </a:defRPr>
            </a:pPr>
            <a:r>
              <a:rPr sz="5100" b="1">
                <a:solidFill>
                  <a:srgbClr val="FFFFFF"/>
                </a:solidFill>
                <a:latin typeface="DejaVu Sans"/>
                <a:ea typeface="DejaVu Sans"/>
                <a:cs typeface="DejaVu Sans"/>
              </a:rPr>
              <a:t>we retain, develop</a:t>
            </a:r>
          </a:p>
          <a:p xmlns:a="http://schemas.openxmlformats.org/drawingml/2006/main">
            <a:pPr>
              <a:buNone/>
              <a:defRPr sz="5100" b="1">
                <a:solidFill>
                  <a:srgbClr val="FFFFFF"/>
                </a:solidFill>
                <a:latin typeface="DejaVu Sans"/>
                <a:ea typeface="DejaVu Sans"/>
                <a:cs typeface="DejaVu Sans"/>
              </a:defRPr>
            </a:pPr>
            <a:r>
              <a:rPr sz="5100" b="1">
                <a:solidFill>
                  <a:srgbClr val="FFFFFF"/>
                </a:solidFill>
                <a:latin typeface="DejaVu Sans"/>
                <a:ea typeface="DejaVu Sans"/>
                <a:cs typeface="DejaVu Sans"/>
              </a:rPr>
              <a:t>and target?</a:t>
            </a:r>
          </a:p>
        </p:txBody>
      </p:sp>
      <p:sp>
        <p:nvSpPr>
          <p:cNvPr id="3" name="">
            <a:extLst xmlns:a="http://schemas.openxmlformats.org/drawingml/2006/main">
              <a:ext uri="{FF2B5EF4-FFF2-40B4-BE49-F238E27FC236}">
                <a16:creationId xmlns:a16="http://schemas.microsoft.com/office/drawing/2014/main" id="{DF69D562-54B5-4350-A894-F59EBCC7FB30}"/>
              </a:ext>
            </a:extLst>
          </p:cNvPr>
          <p:cNvSpPr>
            <a:spLocks xmlns:a="http://schemas.openxmlformats.org/drawingml/2006/main" noGrp="1"/>
          </p:cNvSpPr>
          <p:nvPr/>
        </p:nvSpPr>
        <p:spPr>
          <a:xfrm xmlns:a="http://schemas.openxmlformats.org/drawingml/2006/main">
            <a:off x="723900" y="4838700"/>
            <a:ext cx="99060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CDDAF0"/>
                </a:solidFill>
                <a:latin typeface="DejaVu Sans"/>
                <a:ea typeface="DejaVu Sans"/>
                <a:cs typeface="DejaVu Sans"/>
              </a:defRPr>
            </a:defPPr>
            <a:lvl1pPr>
              <a:buNone/>
              <a:defRPr sz="2175" b="0">
                <a:solidFill>
                  <a:srgbClr val="CDDAF0"/>
                </a:solidFill>
                <a:latin typeface="DejaVu Sans"/>
                <a:ea typeface="DejaVu Sans"/>
                <a:cs typeface="DejaVu Sans"/>
              </a:defRPr>
            </a:lvl1pPr>
            <a:lvl2pPr>
              <a:buNone/>
              <a:defRPr sz="2175" b="0">
                <a:solidFill>
                  <a:srgbClr val="CDDAF0"/>
                </a:solidFill>
                <a:latin typeface="DejaVu Sans"/>
                <a:ea typeface="DejaVu Sans"/>
                <a:cs typeface="DejaVu Sans"/>
              </a:defRPr>
            </a:lvl2pPr>
            <a:lvl3pPr>
              <a:buNone/>
              <a:defRPr sz="2175" b="0">
                <a:solidFill>
                  <a:srgbClr val="CDDAF0"/>
                </a:solidFill>
                <a:latin typeface="DejaVu Sans"/>
                <a:ea typeface="DejaVu Sans"/>
                <a:cs typeface="DejaVu Sans"/>
              </a:defRPr>
            </a:lvl3pPr>
            <a:lvl4pPr>
              <a:buNone/>
              <a:defRPr sz="2175" b="0">
                <a:solidFill>
                  <a:srgbClr val="CDDAF0"/>
                </a:solidFill>
                <a:latin typeface="DejaVu Sans"/>
                <a:ea typeface="DejaVu Sans"/>
                <a:cs typeface="DejaVu Sans"/>
              </a:defRPr>
            </a:lvl4pPr>
            <a:lvl5pPr>
              <a:buNone/>
              <a:defRPr sz="2175" b="0">
                <a:solidFill>
                  <a:srgbClr val="CDDAF0"/>
                </a:solidFill>
                <a:latin typeface="DejaVu Sans"/>
                <a:ea typeface="DejaVu Sans"/>
                <a:cs typeface="DejaVu Sans"/>
              </a:defRPr>
            </a:lvl5pPr>
            <a:lvl6pPr>
              <a:buNone/>
              <a:defRPr sz="2175" b="0">
                <a:solidFill>
                  <a:srgbClr val="CDDAF0"/>
                </a:solidFill>
                <a:latin typeface="DejaVu Sans"/>
                <a:ea typeface="DejaVu Sans"/>
                <a:cs typeface="DejaVu Sans"/>
              </a:defRPr>
            </a:lvl6pPr>
            <a:lvl7pPr>
              <a:buNone/>
              <a:defRPr sz="2175" b="0">
                <a:solidFill>
                  <a:srgbClr val="CDDAF0"/>
                </a:solidFill>
                <a:latin typeface="DejaVu Sans"/>
                <a:ea typeface="DejaVu Sans"/>
                <a:cs typeface="DejaVu Sans"/>
              </a:defRPr>
            </a:lvl7pPr>
            <a:lvl8pPr>
              <a:buNone/>
              <a:defRPr sz="2175" b="0">
                <a:solidFill>
                  <a:srgbClr val="CDDAF0"/>
                </a:solidFill>
                <a:latin typeface="DejaVu Sans"/>
                <a:ea typeface="DejaVu Sans"/>
                <a:cs typeface="DejaVu Sans"/>
              </a:defRPr>
            </a:lvl8pPr>
            <a:lvl9pPr>
              <a:buNone/>
              <a:defRPr sz="2175" b="0">
                <a:solidFill>
                  <a:srgbClr val="CDDAF0"/>
                </a:solidFill>
                <a:latin typeface="DejaVu Sans"/>
                <a:ea typeface="DejaVu Sans"/>
                <a:cs typeface="DejaVu Sans"/>
              </a:defRPr>
            </a:lvl9pPr>
          </a:lstStyle>
          <a:p xmlns:a="http://schemas.openxmlformats.org/drawingml/2006/main">
            <a:pPr>
              <a:buNone/>
              <a:defRPr sz="2175" b="0">
                <a:solidFill>
                  <a:srgbClr val="CDDAF0"/>
                </a:solidFill>
                <a:latin typeface="DejaVu Sans"/>
                <a:ea typeface="DejaVu Sans"/>
                <a:cs typeface="DejaVu Sans"/>
              </a:defRPr>
            </a:pPr>
            <a:r>
              <a:rPr sz="2175" b="0">
                <a:solidFill>
                  <a:srgbClr val="CDDAF0"/>
                </a:solidFill>
                <a:latin typeface="DejaVu Sans"/>
                <a:ea typeface="DejaVu Sans"/>
                <a:cs typeface="DejaVu Sans"/>
              </a:rPr>
              <a:t>Consumer segmentation and promotion behavior</a:t>
            </a:r>
          </a:p>
          <a:p xmlns:a="http://schemas.openxmlformats.org/drawingml/2006/main">
            <a:pPr>
              <a:buNone/>
              <a:defRPr sz="2175" b="0">
                <a:solidFill>
                  <a:srgbClr val="CDDAF0"/>
                </a:solidFill>
                <a:latin typeface="DejaVu Sans"/>
                <a:ea typeface="DejaVu Sans"/>
                <a:cs typeface="DejaVu Sans"/>
              </a:defRPr>
            </a:pPr>
            <a:r>
              <a:rPr sz="2175" b="0">
                <a:solidFill>
                  <a:srgbClr val="CDDAF0"/>
                </a:solidFill>
                <a:latin typeface="DejaVu Sans"/>
                <a:ea typeface="DejaVu Sans"/>
                <a:cs typeface="DejaVu Sans"/>
              </a:rPr>
              <a:t>across 2,500 households</a:t>
            </a:r>
          </a:p>
        </p:txBody>
      </p:sp>
      <p:sp>
        <p:nvSpPr>
          <p:cNvPr id="4" name="">
            <a:extLst xmlns:a="http://schemas.openxmlformats.org/drawingml/2006/main">
              <a:ext uri="{FF2B5EF4-FFF2-40B4-BE49-F238E27FC236}">
                <a16:creationId xmlns:a16="http://schemas.microsoft.com/office/drawing/2014/main" id="{00C18FEB-BABA-4DF5-8B13-93614BF0C287}"/>
              </a:ext>
            </a:extLst>
          </p:cNvPr>
          <p:cNvSpPr>
            <a:spLocks xmlns:a="http://schemas.openxmlformats.org/drawingml/2006/main" noGrp="1"/>
          </p:cNvSpPr>
          <p:nvPr/>
        </p:nvSpPr>
        <p:spPr>
          <a:xfrm xmlns:a="http://schemas.openxmlformats.org/drawingml/2006/main">
            <a:off x="723900" y="620077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93B6FF"/>
                </a:solidFill>
                <a:latin typeface="DejaVu Sans"/>
                <a:ea typeface="DejaVu Sans"/>
                <a:cs typeface="DejaVu Sans"/>
              </a:defRPr>
            </a:defPPr>
            <a:lvl1pPr>
              <a:buNone/>
              <a:defRPr sz="1350" b="0">
                <a:solidFill>
                  <a:srgbClr val="93B6FF"/>
                </a:solidFill>
                <a:latin typeface="DejaVu Sans"/>
                <a:ea typeface="DejaVu Sans"/>
                <a:cs typeface="DejaVu Sans"/>
              </a:defRPr>
            </a:lvl1pPr>
            <a:lvl2pPr>
              <a:buNone/>
              <a:defRPr sz="1350" b="0">
                <a:solidFill>
                  <a:srgbClr val="93B6FF"/>
                </a:solidFill>
                <a:latin typeface="DejaVu Sans"/>
                <a:ea typeface="DejaVu Sans"/>
                <a:cs typeface="DejaVu Sans"/>
              </a:defRPr>
            </a:lvl2pPr>
            <a:lvl3pPr>
              <a:buNone/>
              <a:defRPr sz="1350" b="0">
                <a:solidFill>
                  <a:srgbClr val="93B6FF"/>
                </a:solidFill>
                <a:latin typeface="DejaVu Sans"/>
                <a:ea typeface="DejaVu Sans"/>
                <a:cs typeface="DejaVu Sans"/>
              </a:defRPr>
            </a:lvl3pPr>
            <a:lvl4pPr>
              <a:buNone/>
              <a:defRPr sz="1350" b="0">
                <a:solidFill>
                  <a:srgbClr val="93B6FF"/>
                </a:solidFill>
                <a:latin typeface="DejaVu Sans"/>
                <a:ea typeface="DejaVu Sans"/>
                <a:cs typeface="DejaVu Sans"/>
              </a:defRPr>
            </a:lvl4pPr>
            <a:lvl5pPr>
              <a:buNone/>
              <a:defRPr sz="1350" b="0">
                <a:solidFill>
                  <a:srgbClr val="93B6FF"/>
                </a:solidFill>
                <a:latin typeface="DejaVu Sans"/>
                <a:ea typeface="DejaVu Sans"/>
                <a:cs typeface="DejaVu Sans"/>
              </a:defRPr>
            </a:lvl5pPr>
            <a:lvl6pPr>
              <a:buNone/>
              <a:defRPr sz="1350" b="0">
                <a:solidFill>
                  <a:srgbClr val="93B6FF"/>
                </a:solidFill>
                <a:latin typeface="DejaVu Sans"/>
                <a:ea typeface="DejaVu Sans"/>
                <a:cs typeface="DejaVu Sans"/>
              </a:defRPr>
            </a:lvl6pPr>
            <a:lvl7pPr>
              <a:buNone/>
              <a:defRPr sz="1350" b="0">
                <a:solidFill>
                  <a:srgbClr val="93B6FF"/>
                </a:solidFill>
                <a:latin typeface="DejaVu Sans"/>
                <a:ea typeface="DejaVu Sans"/>
                <a:cs typeface="DejaVu Sans"/>
              </a:defRPr>
            </a:lvl7pPr>
            <a:lvl8pPr>
              <a:buNone/>
              <a:defRPr sz="1350" b="0">
                <a:solidFill>
                  <a:srgbClr val="93B6FF"/>
                </a:solidFill>
                <a:latin typeface="DejaVu Sans"/>
                <a:ea typeface="DejaVu Sans"/>
                <a:cs typeface="DejaVu Sans"/>
              </a:defRPr>
            </a:lvl8pPr>
            <a:lvl9pPr>
              <a:buNone/>
              <a:defRPr sz="1350" b="0">
                <a:solidFill>
                  <a:srgbClr val="93B6FF"/>
                </a:solidFill>
                <a:latin typeface="DejaVu Sans"/>
                <a:ea typeface="DejaVu Sans"/>
                <a:cs typeface="DejaVu Sans"/>
              </a:defRPr>
            </a:lvl9pPr>
          </a:lstStyle>
          <a:p xmlns:a="http://schemas.openxmlformats.org/drawingml/2006/main">
            <a:pPr>
              <a:buNone/>
              <a:defRPr sz="1350" b="0">
                <a:solidFill>
                  <a:srgbClr val="93B6FF"/>
                </a:solidFill>
                <a:latin typeface="DejaVu Sans"/>
                <a:ea typeface="DejaVu Sans"/>
                <a:cs typeface="DejaVu Sans"/>
              </a:defRPr>
            </a:pPr>
            <a:r>
              <a:rPr sz="1350" b="0">
                <a:solidFill>
                  <a:srgbClr val="93B6FF"/>
                </a:solidFill>
                <a:latin typeface="DejaVu Sans"/>
                <a:ea typeface="DejaVu Sans"/>
                <a:cs typeface="DejaVu Sans"/>
              </a:rPr>
              <a:t>Executive recommendations</a:t>
            </a:r>
          </a:p>
        </p:txBody>
      </p:sp>
    </p:spTree>
    <p:extLst>
      <p:ext uri="{BB962C8B-B14F-4D97-AF65-F5344CB8AC3E}">
        <p14:creationId xmlns:p14="http://schemas.microsoft.com/office/powerpoint/2010/main" val="16738152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A24A5ED-5156-4116-A0AA-BF3DF9E142CE}"/>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225" b="1">
                <a:solidFill>
                  <a:srgbClr val="17243B"/>
                </a:solidFill>
                <a:latin typeface="DejaVu Sans"/>
                <a:ea typeface="DejaVu Sans"/>
                <a:cs typeface="DejaVu Sans"/>
              </a:defRPr>
            </a:defPPr>
            <a:lvl1pPr>
              <a:buNone/>
              <a:defRPr sz="3225" b="1">
                <a:solidFill>
                  <a:srgbClr val="17243B"/>
                </a:solidFill>
                <a:latin typeface="DejaVu Sans"/>
                <a:ea typeface="DejaVu Sans"/>
                <a:cs typeface="DejaVu Sans"/>
              </a:defRPr>
            </a:lvl1pPr>
            <a:lvl2pPr>
              <a:buNone/>
              <a:defRPr sz="3225" b="1">
                <a:solidFill>
                  <a:srgbClr val="17243B"/>
                </a:solidFill>
                <a:latin typeface="DejaVu Sans"/>
                <a:ea typeface="DejaVu Sans"/>
                <a:cs typeface="DejaVu Sans"/>
              </a:defRPr>
            </a:lvl2pPr>
            <a:lvl3pPr>
              <a:buNone/>
              <a:defRPr sz="3225" b="1">
                <a:solidFill>
                  <a:srgbClr val="17243B"/>
                </a:solidFill>
                <a:latin typeface="DejaVu Sans"/>
                <a:ea typeface="DejaVu Sans"/>
                <a:cs typeface="DejaVu Sans"/>
              </a:defRPr>
            </a:lvl3pPr>
            <a:lvl4pPr>
              <a:buNone/>
              <a:defRPr sz="3225" b="1">
                <a:solidFill>
                  <a:srgbClr val="17243B"/>
                </a:solidFill>
                <a:latin typeface="DejaVu Sans"/>
                <a:ea typeface="DejaVu Sans"/>
                <a:cs typeface="DejaVu Sans"/>
              </a:defRPr>
            </a:lvl4pPr>
            <a:lvl5pPr>
              <a:buNone/>
              <a:defRPr sz="3225" b="1">
                <a:solidFill>
                  <a:srgbClr val="17243B"/>
                </a:solidFill>
                <a:latin typeface="DejaVu Sans"/>
                <a:ea typeface="DejaVu Sans"/>
                <a:cs typeface="DejaVu Sans"/>
              </a:defRPr>
            </a:lvl5pPr>
            <a:lvl6pPr>
              <a:buNone/>
              <a:defRPr sz="3225" b="1">
                <a:solidFill>
                  <a:srgbClr val="17243B"/>
                </a:solidFill>
                <a:latin typeface="DejaVu Sans"/>
                <a:ea typeface="DejaVu Sans"/>
                <a:cs typeface="DejaVu Sans"/>
              </a:defRPr>
            </a:lvl6pPr>
            <a:lvl7pPr>
              <a:buNone/>
              <a:defRPr sz="3225" b="1">
                <a:solidFill>
                  <a:srgbClr val="17243B"/>
                </a:solidFill>
                <a:latin typeface="DejaVu Sans"/>
                <a:ea typeface="DejaVu Sans"/>
                <a:cs typeface="DejaVu Sans"/>
              </a:defRPr>
            </a:lvl7pPr>
            <a:lvl8pPr>
              <a:buNone/>
              <a:defRPr sz="3225" b="1">
                <a:solidFill>
                  <a:srgbClr val="17243B"/>
                </a:solidFill>
                <a:latin typeface="DejaVu Sans"/>
                <a:ea typeface="DejaVu Sans"/>
                <a:cs typeface="DejaVu Sans"/>
              </a:defRPr>
            </a:lvl8pPr>
            <a:lvl9pPr>
              <a:buNone/>
              <a:defRPr sz="3225" b="1">
                <a:solidFill>
                  <a:srgbClr val="17243B"/>
                </a:solidFill>
                <a:latin typeface="DejaVu Sans"/>
                <a:ea typeface="DejaVu Sans"/>
                <a:cs typeface="DejaVu Sans"/>
              </a:defRPr>
            </a:lvl9pPr>
          </a:lstStyle>
          <a:p xmlns:a="http://schemas.openxmlformats.org/drawingml/2006/main">
            <a:pPr>
              <a:buNone/>
              <a:defRPr sz="3225" b="1">
                <a:solidFill>
                  <a:srgbClr val="17243B"/>
                </a:solidFill>
                <a:latin typeface="DejaVu Sans"/>
                <a:ea typeface="DejaVu Sans"/>
                <a:cs typeface="DejaVu Sans"/>
              </a:defRPr>
            </a:pPr>
            <a:r>
              <a:rPr sz="3225" b="1">
                <a:solidFill>
                  <a:srgbClr val="17243B"/>
                </a:solidFill>
                <a:latin typeface="DejaVu Sans"/>
                <a:ea typeface="DejaVu Sans"/>
                <a:cs typeface="DejaVu Sans"/>
              </a:rPr>
              <a:t>Data and analytical approach</a:t>
            </a:r>
          </a:p>
        </p:txBody>
      </p:sp>
      <p:sp>
        <p:nvSpPr>
          <p:cNvPr id="2" name="">
            <a:extLst xmlns:a="http://schemas.openxmlformats.org/drawingml/2006/main">
              <a:ext uri="{FF2B5EF4-FFF2-40B4-BE49-F238E27FC236}">
                <a16:creationId xmlns:a16="http://schemas.microsoft.com/office/drawing/2014/main" id="{B5A78344-1A6E-48E7-A1F6-1AF003B6EBC1}"/>
              </a:ext>
            </a:extLst>
          </p:cNvPr>
          <p:cNvSpPr>
            <a:spLocks xmlns:a="http://schemas.openxmlformats.org/drawingml/2006/main" noGrp="1"/>
          </p:cNvSpPr>
          <p:nvPr/>
        </p:nvSpPr>
        <p:spPr>
          <a:xfrm xmlns:a="http://schemas.openxmlformats.org/drawingml/2006/main">
            <a:off x="609600" y="6429375"/>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050" b="0">
                <a:solidFill>
                  <a:srgbClr val="64748B"/>
                </a:solidFill>
                <a:latin typeface="DejaVu Sans"/>
                <a:ea typeface="DejaVu Sans"/>
                <a:cs typeface="DejaVu Sans"/>
              </a:defRPr>
            </a:defPPr>
            <a:lvl1pPr>
              <a:buNone/>
              <a:defRPr sz="1050" b="0">
                <a:solidFill>
                  <a:srgbClr val="64748B"/>
                </a:solidFill>
                <a:latin typeface="DejaVu Sans"/>
                <a:ea typeface="DejaVu Sans"/>
                <a:cs typeface="DejaVu Sans"/>
              </a:defRPr>
            </a:lvl1pPr>
            <a:lvl2pPr>
              <a:buNone/>
              <a:defRPr sz="1050" b="0">
                <a:solidFill>
                  <a:srgbClr val="64748B"/>
                </a:solidFill>
                <a:latin typeface="DejaVu Sans"/>
                <a:ea typeface="DejaVu Sans"/>
                <a:cs typeface="DejaVu Sans"/>
              </a:defRPr>
            </a:lvl2pPr>
            <a:lvl3pPr>
              <a:buNone/>
              <a:defRPr sz="1050" b="0">
                <a:solidFill>
                  <a:srgbClr val="64748B"/>
                </a:solidFill>
                <a:latin typeface="DejaVu Sans"/>
                <a:ea typeface="DejaVu Sans"/>
                <a:cs typeface="DejaVu Sans"/>
              </a:defRPr>
            </a:lvl3pPr>
            <a:lvl4pPr>
              <a:buNone/>
              <a:defRPr sz="1050" b="0">
                <a:solidFill>
                  <a:srgbClr val="64748B"/>
                </a:solidFill>
                <a:latin typeface="DejaVu Sans"/>
                <a:ea typeface="DejaVu Sans"/>
                <a:cs typeface="DejaVu Sans"/>
              </a:defRPr>
            </a:lvl4pPr>
            <a:lvl5pPr>
              <a:buNone/>
              <a:defRPr sz="1050" b="0">
                <a:solidFill>
                  <a:srgbClr val="64748B"/>
                </a:solidFill>
                <a:latin typeface="DejaVu Sans"/>
                <a:ea typeface="DejaVu Sans"/>
                <a:cs typeface="DejaVu Sans"/>
              </a:defRPr>
            </a:lvl5pPr>
            <a:lvl6pPr>
              <a:buNone/>
              <a:defRPr sz="1050" b="0">
                <a:solidFill>
                  <a:srgbClr val="64748B"/>
                </a:solidFill>
                <a:latin typeface="DejaVu Sans"/>
                <a:ea typeface="DejaVu Sans"/>
                <a:cs typeface="DejaVu Sans"/>
              </a:defRPr>
            </a:lvl6pPr>
            <a:lvl7pPr>
              <a:buNone/>
              <a:defRPr sz="1050" b="0">
                <a:solidFill>
                  <a:srgbClr val="64748B"/>
                </a:solidFill>
                <a:latin typeface="DejaVu Sans"/>
                <a:ea typeface="DejaVu Sans"/>
                <a:cs typeface="DejaVu Sans"/>
              </a:defRPr>
            </a:lvl7pPr>
            <a:lvl8pPr>
              <a:buNone/>
              <a:defRPr sz="1050" b="0">
                <a:solidFill>
                  <a:srgbClr val="64748B"/>
                </a:solidFill>
                <a:latin typeface="DejaVu Sans"/>
                <a:ea typeface="DejaVu Sans"/>
                <a:cs typeface="DejaVu Sans"/>
              </a:defRPr>
            </a:lvl8pPr>
            <a:lvl9pPr>
              <a:buNone/>
              <a:defRPr sz="1050" b="0">
                <a:solidFill>
                  <a:srgbClr val="64748B"/>
                </a:solidFill>
                <a:latin typeface="DejaVu Sans"/>
                <a:ea typeface="DejaVu Sans"/>
                <a:cs typeface="DejaVu Sans"/>
              </a:defRPr>
            </a:lvl9pPr>
          </a:lstStyle>
          <a:p xmlns:a="http://schemas.openxmlformats.org/drawingml/2006/main">
            <a:pPr>
              <a:buNone/>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FMCG Consumer Growth &amp; Promotion Insights</a:t>
            </a:r>
          </a:p>
        </p:txBody>
      </p:sp>
      <p:sp>
        <p:nvSpPr>
          <p:cNvPr id="3" name="">
            <a:extLst xmlns:a="http://schemas.openxmlformats.org/drawingml/2006/main">
              <a:ext uri="{FF2B5EF4-FFF2-40B4-BE49-F238E27FC236}">
                <a16:creationId xmlns:a16="http://schemas.microsoft.com/office/drawing/2014/main" id="{30905475-39A1-4807-B008-E7F775FBFC66}"/>
              </a:ext>
            </a:extLst>
          </p:cNvPr>
          <p:cNvSpPr>
            <a:spLocks xmlns:a="http://schemas.openxmlformats.org/drawingml/2006/main" noGrp="1"/>
          </p:cNvSpPr>
          <p:nvPr/>
        </p:nvSpPr>
        <p:spPr>
          <a:xfrm xmlns:a="http://schemas.openxmlformats.org/drawingml/2006/main">
            <a:off x="11049000" y="64198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DejaVu Sans"/>
                <a:ea typeface="DejaVu Sans"/>
                <a:cs typeface="DejaVu Sans"/>
              </a:defRPr>
            </a:defPPr>
            <a:lvl1pPr algn="l">
              <a:buNone/>
              <a:defRPr sz="1200" b="0">
                <a:solidFill>
                  <a:srgbClr val="64748B"/>
                </a:solidFill>
                <a:latin typeface="DejaVu Sans"/>
                <a:ea typeface="DejaVu Sans"/>
                <a:cs typeface="DejaVu Sans"/>
              </a:defRPr>
            </a:lvl1pPr>
            <a:lvl2pPr algn="l">
              <a:buNone/>
              <a:defRPr sz="1200" b="0">
                <a:solidFill>
                  <a:srgbClr val="64748B"/>
                </a:solidFill>
                <a:latin typeface="DejaVu Sans"/>
                <a:ea typeface="DejaVu Sans"/>
                <a:cs typeface="DejaVu Sans"/>
              </a:defRPr>
            </a:lvl2pPr>
            <a:lvl3pPr algn="l">
              <a:buNone/>
              <a:defRPr sz="1200" b="0">
                <a:solidFill>
                  <a:srgbClr val="64748B"/>
                </a:solidFill>
                <a:latin typeface="DejaVu Sans"/>
                <a:ea typeface="DejaVu Sans"/>
                <a:cs typeface="DejaVu Sans"/>
              </a:defRPr>
            </a:lvl3pPr>
            <a:lvl4pPr algn="l">
              <a:buNone/>
              <a:defRPr sz="1200" b="0">
                <a:solidFill>
                  <a:srgbClr val="64748B"/>
                </a:solidFill>
                <a:latin typeface="DejaVu Sans"/>
                <a:ea typeface="DejaVu Sans"/>
                <a:cs typeface="DejaVu Sans"/>
              </a:defRPr>
            </a:lvl4pPr>
            <a:lvl5pPr algn="l">
              <a:buNone/>
              <a:defRPr sz="1200" b="0">
                <a:solidFill>
                  <a:srgbClr val="64748B"/>
                </a:solidFill>
                <a:latin typeface="DejaVu Sans"/>
                <a:ea typeface="DejaVu Sans"/>
                <a:cs typeface="DejaVu Sans"/>
              </a:defRPr>
            </a:lvl5pPr>
            <a:lvl6pPr algn="l">
              <a:buNone/>
              <a:defRPr sz="1200" b="0">
                <a:solidFill>
                  <a:srgbClr val="64748B"/>
                </a:solidFill>
                <a:latin typeface="DejaVu Sans"/>
                <a:ea typeface="DejaVu Sans"/>
                <a:cs typeface="DejaVu Sans"/>
              </a:defRPr>
            </a:lvl6pPr>
            <a:lvl7pPr algn="l">
              <a:buNone/>
              <a:defRPr sz="1200" b="0">
                <a:solidFill>
                  <a:srgbClr val="64748B"/>
                </a:solidFill>
                <a:latin typeface="DejaVu Sans"/>
                <a:ea typeface="DejaVu Sans"/>
                <a:cs typeface="DejaVu Sans"/>
              </a:defRPr>
            </a:lvl7pPr>
            <a:lvl8pPr algn="l">
              <a:buNone/>
              <a:defRPr sz="1200" b="0">
                <a:solidFill>
                  <a:srgbClr val="64748B"/>
                </a:solidFill>
                <a:latin typeface="DejaVu Sans"/>
                <a:ea typeface="DejaVu Sans"/>
                <a:cs typeface="DejaVu Sans"/>
              </a:defRPr>
            </a:lvl8pPr>
            <a:lvl9pPr algn="l">
              <a:buNone/>
              <a:defRPr sz="1200" b="0">
                <a:solidFill>
                  <a:srgbClr val="64748B"/>
                </a:solidFill>
                <a:latin typeface="DejaVu Sans"/>
                <a:ea typeface="DejaVu Sans"/>
                <a:cs typeface="DejaVu Sans"/>
              </a:defRPr>
            </a:lvl9pPr>
          </a:lstStyle>
          <a:p xmlns:a="http://schemas.openxmlformats.org/drawingml/2006/main">
            <a:pPr algn="l">
              <a:buNone/>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7C1F1D7B-39A0-4444-A45A-B39EAA667480}"/>
              </a:ext>
            </a:extLst>
          </p:cNvPr>
          <p:cNvSpPr>
            <a:spLocks xmlns:a="http://schemas.openxmlformats.org/drawingml/2006/main" noGrp="1"/>
          </p:cNvSpPr>
          <p:nvPr/>
        </p:nvSpPr>
        <p:spPr>
          <a:xfrm xmlns:a="http://schemas.openxmlformats.org/drawingml/2006/main">
            <a:off x="609600" y="1762125"/>
            <a:ext cx="4095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950" b="1">
                <a:solidFill>
                  <a:srgbClr val="2563EB"/>
                </a:solidFill>
                <a:latin typeface="DejaVu Sans"/>
                <a:ea typeface="DejaVu Sans"/>
                <a:cs typeface="DejaVu Sans"/>
              </a:defRPr>
            </a:defPPr>
            <a:lvl1pPr>
              <a:buNone/>
              <a:defRPr sz="4950" b="1">
                <a:solidFill>
                  <a:srgbClr val="2563EB"/>
                </a:solidFill>
                <a:latin typeface="DejaVu Sans"/>
                <a:ea typeface="DejaVu Sans"/>
                <a:cs typeface="DejaVu Sans"/>
              </a:defRPr>
            </a:lvl1pPr>
            <a:lvl2pPr>
              <a:buNone/>
              <a:defRPr sz="4950" b="1">
                <a:solidFill>
                  <a:srgbClr val="2563EB"/>
                </a:solidFill>
                <a:latin typeface="DejaVu Sans"/>
                <a:ea typeface="DejaVu Sans"/>
                <a:cs typeface="DejaVu Sans"/>
              </a:defRPr>
            </a:lvl2pPr>
            <a:lvl3pPr>
              <a:buNone/>
              <a:defRPr sz="4950" b="1">
                <a:solidFill>
                  <a:srgbClr val="2563EB"/>
                </a:solidFill>
                <a:latin typeface="DejaVu Sans"/>
                <a:ea typeface="DejaVu Sans"/>
                <a:cs typeface="DejaVu Sans"/>
              </a:defRPr>
            </a:lvl3pPr>
            <a:lvl4pPr>
              <a:buNone/>
              <a:defRPr sz="4950" b="1">
                <a:solidFill>
                  <a:srgbClr val="2563EB"/>
                </a:solidFill>
                <a:latin typeface="DejaVu Sans"/>
                <a:ea typeface="DejaVu Sans"/>
                <a:cs typeface="DejaVu Sans"/>
              </a:defRPr>
            </a:lvl4pPr>
            <a:lvl5pPr>
              <a:buNone/>
              <a:defRPr sz="4950" b="1">
                <a:solidFill>
                  <a:srgbClr val="2563EB"/>
                </a:solidFill>
                <a:latin typeface="DejaVu Sans"/>
                <a:ea typeface="DejaVu Sans"/>
                <a:cs typeface="DejaVu Sans"/>
              </a:defRPr>
            </a:lvl5pPr>
            <a:lvl6pPr>
              <a:buNone/>
              <a:defRPr sz="4950" b="1">
                <a:solidFill>
                  <a:srgbClr val="2563EB"/>
                </a:solidFill>
                <a:latin typeface="DejaVu Sans"/>
                <a:ea typeface="DejaVu Sans"/>
                <a:cs typeface="DejaVu Sans"/>
              </a:defRPr>
            </a:lvl6pPr>
            <a:lvl7pPr>
              <a:buNone/>
              <a:defRPr sz="4950" b="1">
                <a:solidFill>
                  <a:srgbClr val="2563EB"/>
                </a:solidFill>
                <a:latin typeface="DejaVu Sans"/>
                <a:ea typeface="DejaVu Sans"/>
                <a:cs typeface="DejaVu Sans"/>
              </a:defRPr>
            </a:lvl7pPr>
            <a:lvl8pPr>
              <a:buNone/>
              <a:defRPr sz="4950" b="1">
                <a:solidFill>
                  <a:srgbClr val="2563EB"/>
                </a:solidFill>
                <a:latin typeface="DejaVu Sans"/>
                <a:ea typeface="DejaVu Sans"/>
                <a:cs typeface="DejaVu Sans"/>
              </a:defRPr>
            </a:lvl8pPr>
            <a:lvl9pPr>
              <a:buNone/>
              <a:defRPr sz="4950" b="1">
                <a:solidFill>
                  <a:srgbClr val="2563EB"/>
                </a:solidFill>
                <a:latin typeface="DejaVu Sans"/>
                <a:ea typeface="DejaVu Sans"/>
                <a:cs typeface="DejaVu Sans"/>
              </a:defRPr>
            </a:lvl9pPr>
          </a:lstStyle>
          <a:p xmlns:a="http://schemas.openxmlformats.org/drawingml/2006/main">
            <a:pPr>
              <a:buNone/>
              <a:defRPr sz="4950" b="1">
                <a:solidFill>
                  <a:srgbClr val="2563EB"/>
                </a:solidFill>
                <a:latin typeface="DejaVu Sans"/>
                <a:ea typeface="DejaVu Sans"/>
                <a:cs typeface="DejaVu Sans"/>
              </a:defRPr>
            </a:pPr>
            <a:r>
              <a:rPr sz="4950" b="1">
                <a:solidFill>
                  <a:srgbClr val="2563EB"/>
                </a:solidFill>
                <a:latin typeface="DejaVu Sans"/>
                <a:ea typeface="DejaVu Sans"/>
                <a:cs typeface="DejaVu Sans"/>
              </a:rPr>
              <a:t>2.60M</a:t>
            </a:r>
          </a:p>
        </p:txBody>
      </p:sp>
      <p:sp>
        <p:nvSpPr>
          <p:cNvPr id="5" name="">
            <a:extLst xmlns:a="http://schemas.openxmlformats.org/drawingml/2006/main">
              <a:ext uri="{FF2B5EF4-FFF2-40B4-BE49-F238E27FC236}">
                <a16:creationId xmlns:a16="http://schemas.microsoft.com/office/drawing/2014/main" id="{21E1C63B-397B-4050-A2D3-9151505CC55D}"/>
              </a:ext>
            </a:extLst>
          </p:cNvPr>
          <p:cNvSpPr>
            <a:spLocks xmlns:a="http://schemas.openxmlformats.org/drawingml/2006/main" noGrp="1"/>
          </p:cNvSpPr>
          <p:nvPr/>
        </p:nvSpPr>
        <p:spPr>
          <a:xfrm xmlns:a="http://schemas.openxmlformats.org/drawingml/2006/main">
            <a:off x="647700" y="25908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64748B"/>
                </a:solidFill>
                <a:latin typeface="DejaVu Sans"/>
                <a:ea typeface="DejaVu Sans"/>
                <a:cs typeface="DejaVu Sans"/>
              </a:defRPr>
            </a:defPPr>
            <a:lvl1pPr>
              <a:buNone/>
              <a:defRPr sz="1725" b="0">
                <a:solidFill>
                  <a:srgbClr val="64748B"/>
                </a:solidFill>
                <a:latin typeface="DejaVu Sans"/>
                <a:ea typeface="DejaVu Sans"/>
                <a:cs typeface="DejaVu Sans"/>
              </a:defRPr>
            </a:lvl1pPr>
            <a:lvl2pPr>
              <a:buNone/>
              <a:defRPr sz="1725" b="0">
                <a:solidFill>
                  <a:srgbClr val="64748B"/>
                </a:solidFill>
                <a:latin typeface="DejaVu Sans"/>
                <a:ea typeface="DejaVu Sans"/>
                <a:cs typeface="DejaVu Sans"/>
              </a:defRPr>
            </a:lvl2pPr>
            <a:lvl3pPr>
              <a:buNone/>
              <a:defRPr sz="1725" b="0">
                <a:solidFill>
                  <a:srgbClr val="64748B"/>
                </a:solidFill>
                <a:latin typeface="DejaVu Sans"/>
                <a:ea typeface="DejaVu Sans"/>
                <a:cs typeface="DejaVu Sans"/>
              </a:defRPr>
            </a:lvl3pPr>
            <a:lvl4pPr>
              <a:buNone/>
              <a:defRPr sz="1725" b="0">
                <a:solidFill>
                  <a:srgbClr val="64748B"/>
                </a:solidFill>
                <a:latin typeface="DejaVu Sans"/>
                <a:ea typeface="DejaVu Sans"/>
                <a:cs typeface="DejaVu Sans"/>
              </a:defRPr>
            </a:lvl4pPr>
            <a:lvl5pPr>
              <a:buNone/>
              <a:defRPr sz="1725" b="0">
                <a:solidFill>
                  <a:srgbClr val="64748B"/>
                </a:solidFill>
                <a:latin typeface="DejaVu Sans"/>
                <a:ea typeface="DejaVu Sans"/>
                <a:cs typeface="DejaVu Sans"/>
              </a:defRPr>
            </a:lvl5pPr>
            <a:lvl6pPr>
              <a:buNone/>
              <a:defRPr sz="1725" b="0">
                <a:solidFill>
                  <a:srgbClr val="64748B"/>
                </a:solidFill>
                <a:latin typeface="DejaVu Sans"/>
                <a:ea typeface="DejaVu Sans"/>
                <a:cs typeface="DejaVu Sans"/>
              </a:defRPr>
            </a:lvl6pPr>
            <a:lvl7pPr>
              <a:buNone/>
              <a:defRPr sz="1725" b="0">
                <a:solidFill>
                  <a:srgbClr val="64748B"/>
                </a:solidFill>
                <a:latin typeface="DejaVu Sans"/>
                <a:ea typeface="DejaVu Sans"/>
                <a:cs typeface="DejaVu Sans"/>
              </a:defRPr>
            </a:lvl7pPr>
            <a:lvl8pPr>
              <a:buNone/>
              <a:defRPr sz="1725" b="0">
                <a:solidFill>
                  <a:srgbClr val="64748B"/>
                </a:solidFill>
                <a:latin typeface="DejaVu Sans"/>
                <a:ea typeface="DejaVu Sans"/>
                <a:cs typeface="DejaVu Sans"/>
              </a:defRPr>
            </a:lvl8pPr>
            <a:lvl9pPr>
              <a:buNone/>
              <a:defRPr sz="1725" b="0">
                <a:solidFill>
                  <a:srgbClr val="64748B"/>
                </a:solidFill>
                <a:latin typeface="DejaVu Sans"/>
                <a:ea typeface="DejaVu Sans"/>
                <a:cs typeface="DejaVu Sans"/>
              </a:defRPr>
            </a:lvl9pPr>
          </a:lstStyle>
          <a:p xmlns:a="http://schemas.openxmlformats.org/drawingml/2006/main">
            <a:pPr>
              <a:buNone/>
              <a:defRPr sz="1725" b="0">
                <a:solidFill>
                  <a:srgbClr val="64748B"/>
                </a:solidFill>
                <a:latin typeface="DejaVu Sans"/>
                <a:ea typeface="DejaVu Sans"/>
                <a:cs typeface="DejaVu Sans"/>
              </a:defRPr>
            </a:pPr>
            <a:r>
              <a:rPr sz="1725" b="0">
                <a:solidFill>
                  <a:srgbClr val="64748B"/>
                </a:solidFill>
                <a:latin typeface="DejaVu Sans"/>
                <a:ea typeface="DejaVu Sans"/>
                <a:cs typeface="DejaVu Sans"/>
              </a:rPr>
              <a:t>transaction lines in the source file</a:t>
            </a:r>
          </a:p>
        </p:txBody>
      </p:sp>
      <p:sp>
        <p:nvSpPr>
          <p:cNvPr id="6" name="">
            <a:extLst xmlns:a="http://schemas.openxmlformats.org/drawingml/2006/main">
              <a:ext uri="{FF2B5EF4-FFF2-40B4-BE49-F238E27FC236}">
                <a16:creationId xmlns:a16="http://schemas.microsoft.com/office/drawing/2014/main" id="{5766AD54-6D5F-486A-9E3A-1710E24D8F38}"/>
              </a:ext>
            </a:extLst>
          </p:cNvPr>
          <p:cNvSpPr>
            <a:spLocks xmlns:a="http://schemas.openxmlformats.org/drawingml/2006/main" noGrp="1"/>
          </p:cNvSpPr>
          <p:nvPr/>
        </p:nvSpPr>
        <p:spPr>
          <a:xfrm xmlns:a="http://schemas.openxmlformats.org/drawingml/2006/main">
            <a:off x="609600" y="3314700"/>
            <a:ext cx="4191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1">
                <a:solidFill>
                  <a:srgbClr val="17243B"/>
                </a:solidFill>
                <a:latin typeface="DejaVu Sans"/>
                <a:ea typeface="DejaVu Sans"/>
                <a:cs typeface="DejaVu Sans"/>
              </a:defRPr>
            </a:defPPr>
            <a:lvl1pPr>
              <a:buNone/>
              <a:defRPr sz="3900" b="1">
                <a:solidFill>
                  <a:srgbClr val="17243B"/>
                </a:solidFill>
                <a:latin typeface="DejaVu Sans"/>
                <a:ea typeface="DejaVu Sans"/>
                <a:cs typeface="DejaVu Sans"/>
              </a:defRPr>
            </a:lvl1pPr>
            <a:lvl2pPr>
              <a:buNone/>
              <a:defRPr sz="3900" b="1">
                <a:solidFill>
                  <a:srgbClr val="17243B"/>
                </a:solidFill>
                <a:latin typeface="DejaVu Sans"/>
                <a:ea typeface="DejaVu Sans"/>
                <a:cs typeface="DejaVu Sans"/>
              </a:defRPr>
            </a:lvl2pPr>
            <a:lvl3pPr>
              <a:buNone/>
              <a:defRPr sz="3900" b="1">
                <a:solidFill>
                  <a:srgbClr val="17243B"/>
                </a:solidFill>
                <a:latin typeface="DejaVu Sans"/>
                <a:ea typeface="DejaVu Sans"/>
                <a:cs typeface="DejaVu Sans"/>
              </a:defRPr>
            </a:lvl3pPr>
            <a:lvl4pPr>
              <a:buNone/>
              <a:defRPr sz="3900" b="1">
                <a:solidFill>
                  <a:srgbClr val="17243B"/>
                </a:solidFill>
                <a:latin typeface="DejaVu Sans"/>
                <a:ea typeface="DejaVu Sans"/>
                <a:cs typeface="DejaVu Sans"/>
              </a:defRPr>
            </a:lvl4pPr>
            <a:lvl5pPr>
              <a:buNone/>
              <a:defRPr sz="3900" b="1">
                <a:solidFill>
                  <a:srgbClr val="17243B"/>
                </a:solidFill>
                <a:latin typeface="DejaVu Sans"/>
                <a:ea typeface="DejaVu Sans"/>
                <a:cs typeface="DejaVu Sans"/>
              </a:defRPr>
            </a:lvl5pPr>
            <a:lvl6pPr>
              <a:buNone/>
              <a:defRPr sz="3900" b="1">
                <a:solidFill>
                  <a:srgbClr val="17243B"/>
                </a:solidFill>
                <a:latin typeface="DejaVu Sans"/>
                <a:ea typeface="DejaVu Sans"/>
                <a:cs typeface="DejaVu Sans"/>
              </a:defRPr>
            </a:lvl6pPr>
            <a:lvl7pPr>
              <a:buNone/>
              <a:defRPr sz="3900" b="1">
                <a:solidFill>
                  <a:srgbClr val="17243B"/>
                </a:solidFill>
                <a:latin typeface="DejaVu Sans"/>
                <a:ea typeface="DejaVu Sans"/>
                <a:cs typeface="DejaVu Sans"/>
              </a:defRPr>
            </a:lvl7pPr>
            <a:lvl8pPr>
              <a:buNone/>
              <a:defRPr sz="3900" b="1">
                <a:solidFill>
                  <a:srgbClr val="17243B"/>
                </a:solidFill>
                <a:latin typeface="DejaVu Sans"/>
                <a:ea typeface="DejaVu Sans"/>
                <a:cs typeface="DejaVu Sans"/>
              </a:defRPr>
            </a:lvl8pPr>
            <a:lvl9pPr>
              <a:buNone/>
              <a:defRPr sz="3900" b="1">
                <a:solidFill>
                  <a:srgbClr val="17243B"/>
                </a:solidFill>
                <a:latin typeface="DejaVu Sans"/>
                <a:ea typeface="DejaVu Sans"/>
                <a:cs typeface="DejaVu Sans"/>
              </a:defRPr>
            </a:lvl9pPr>
          </a:lstStyle>
          <a:p xmlns:a="http://schemas.openxmlformats.org/drawingml/2006/main">
            <a:pPr>
              <a:buNone/>
              <a:defRPr sz="3900" b="1">
                <a:solidFill>
                  <a:srgbClr val="17243B"/>
                </a:solidFill>
                <a:latin typeface="DejaVu Sans"/>
                <a:ea typeface="DejaVu Sans"/>
                <a:cs typeface="DejaVu Sans"/>
              </a:defRPr>
            </a:pPr>
            <a:r>
              <a:rPr sz="3900" b="1">
                <a:solidFill>
                  <a:srgbClr val="17243B"/>
                </a:solidFill>
                <a:latin typeface="DejaVu Sans"/>
                <a:ea typeface="DejaVu Sans"/>
                <a:cs typeface="DejaVu Sans"/>
              </a:rPr>
              <a:t>275,889</a:t>
            </a:r>
          </a:p>
        </p:txBody>
      </p:sp>
      <p:sp>
        <p:nvSpPr>
          <p:cNvPr id="7" name="">
            <a:extLst xmlns:a="http://schemas.openxmlformats.org/drawingml/2006/main">
              <a:ext uri="{FF2B5EF4-FFF2-40B4-BE49-F238E27FC236}">
                <a16:creationId xmlns:a16="http://schemas.microsoft.com/office/drawing/2014/main" id="{9AE0AD68-4DA9-4A79-86A9-D7BB0F9159BC}"/>
              </a:ext>
            </a:extLst>
          </p:cNvPr>
          <p:cNvSpPr>
            <a:spLocks xmlns:a="http://schemas.openxmlformats.org/drawingml/2006/main" noGrp="1"/>
          </p:cNvSpPr>
          <p:nvPr/>
        </p:nvSpPr>
        <p:spPr>
          <a:xfrm xmlns:a="http://schemas.openxmlformats.org/drawingml/2006/main">
            <a:off x="647700" y="40767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64748B"/>
                </a:solidFill>
                <a:latin typeface="DejaVu Sans"/>
                <a:ea typeface="DejaVu Sans"/>
                <a:cs typeface="DejaVu Sans"/>
              </a:defRPr>
            </a:defPPr>
            <a:lvl1pPr>
              <a:buNone/>
              <a:defRPr sz="1725" b="0">
                <a:solidFill>
                  <a:srgbClr val="64748B"/>
                </a:solidFill>
                <a:latin typeface="DejaVu Sans"/>
                <a:ea typeface="DejaVu Sans"/>
                <a:cs typeface="DejaVu Sans"/>
              </a:defRPr>
            </a:lvl1pPr>
            <a:lvl2pPr>
              <a:buNone/>
              <a:defRPr sz="1725" b="0">
                <a:solidFill>
                  <a:srgbClr val="64748B"/>
                </a:solidFill>
                <a:latin typeface="DejaVu Sans"/>
                <a:ea typeface="DejaVu Sans"/>
                <a:cs typeface="DejaVu Sans"/>
              </a:defRPr>
            </a:lvl2pPr>
            <a:lvl3pPr>
              <a:buNone/>
              <a:defRPr sz="1725" b="0">
                <a:solidFill>
                  <a:srgbClr val="64748B"/>
                </a:solidFill>
                <a:latin typeface="DejaVu Sans"/>
                <a:ea typeface="DejaVu Sans"/>
                <a:cs typeface="DejaVu Sans"/>
              </a:defRPr>
            </a:lvl3pPr>
            <a:lvl4pPr>
              <a:buNone/>
              <a:defRPr sz="1725" b="0">
                <a:solidFill>
                  <a:srgbClr val="64748B"/>
                </a:solidFill>
                <a:latin typeface="DejaVu Sans"/>
                <a:ea typeface="DejaVu Sans"/>
                <a:cs typeface="DejaVu Sans"/>
              </a:defRPr>
            </a:lvl4pPr>
            <a:lvl5pPr>
              <a:buNone/>
              <a:defRPr sz="1725" b="0">
                <a:solidFill>
                  <a:srgbClr val="64748B"/>
                </a:solidFill>
                <a:latin typeface="DejaVu Sans"/>
                <a:ea typeface="DejaVu Sans"/>
                <a:cs typeface="DejaVu Sans"/>
              </a:defRPr>
            </a:lvl5pPr>
            <a:lvl6pPr>
              <a:buNone/>
              <a:defRPr sz="1725" b="0">
                <a:solidFill>
                  <a:srgbClr val="64748B"/>
                </a:solidFill>
                <a:latin typeface="DejaVu Sans"/>
                <a:ea typeface="DejaVu Sans"/>
                <a:cs typeface="DejaVu Sans"/>
              </a:defRPr>
            </a:lvl6pPr>
            <a:lvl7pPr>
              <a:buNone/>
              <a:defRPr sz="1725" b="0">
                <a:solidFill>
                  <a:srgbClr val="64748B"/>
                </a:solidFill>
                <a:latin typeface="DejaVu Sans"/>
                <a:ea typeface="DejaVu Sans"/>
                <a:cs typeface="DejaVu Sans"/>
              </a:defRPr>
            </a:lvl7pPr>
            <a:lvl8pPr>
              <a:buNone/>
              <a:defRPr sz="1725" b="0">
                <a:solidFill>
                  <a:srgbClr val="64748B"/>
                </a:solidFill>
                <a:latin typeface="DejaVu Sans"/>
                <a:ea typeface="DejaVu Sans"/>
                <a:cs typeface="DejaVu Sans"/>
              </a:defRPr>
            </a:lvl8pPr>
            <a:lvl9pPr>
              <a:buNone/>
              <a:defRPr sz="1725" b="0">
                <a:solidFill>
                  <a:srgbClr val="64748B"/>
                </a:solidFill>
                <a:latin typeface="DejaVu Sans"/>
                <a:ea typeface="DejaVu Sans"/>
                <a:cs typeface="DejaVu Sans"/>
              </a:defRPr>
            </a:lvl9pPr>
          </a:lstStyle>
          <a:p xmlns:a="http://schemas.openxmlformats.org/drawingml/2006/main">
            <a:pPr>
              <a:buNone/>
              <a:defRPr sz="1725" b="0">
                <a:solidFill>
                  <a:srgbClr val="64748B"/>
                </a:solidFill>
                <a:latin typeface="DejaVu Sans"/>
                <a:ea typeface="DejaVu Sans"/>
                <a:cs typeface="DejaVu Sans"/>
              </a:defRPr>
            </a:pPr>
            <a:r>
              <a:rPr sz="1725" b="0">
                <a:solidFill>
                  <a:srgbClr val="64748B"/>
                </a:solidFill>
                <a:latin typeface="DejaVu Sans"/>
                <a:ea typeface="DejaVu Sans"/>
                <a:cs typeface="DejaVu Sans"/>
              </a:rPr>
              <a:t>valid purchase occasions</a:t>
            </a:r>
          </a:p>
        </p:txBody>
      </p:sp>
      <p:graphicFrame>
        <p:nvGraphicFramePr>
          <p:cNvPr id="8" name="">
            <a:extLst xmlns:a="http://schemas.openxmlformats.org/drawingml/2006/main">
              <a:ext uri="{FF2B5EF4-FFF2-40B4-BE49-F238E27FC236}">
                <a16:creationId xmlns:a16="http://schemas.microsoft.com/office/drawing/2014/main" id="{466361E2-7730-43F3-A190-D450EFCCFC46}"/>
              </a:ext>
            </a:extLst>
          </p:cNvPr>
          <p:cNvGraphicFramePr/>
          <p:nvPr/>
        </p:nvGraphicFramePr>
        <p:xfrm>
          <a:off xmlns:a="http://schemas.openxmlformats.org/drawingml/2006/main" x="5095875" y="1695450"/>
          <a:ext xmlns:a="http://schemas.openxmlformats.org/drawingml/2006/main" cx="6143625" cy="4000500"/>
        </p:xfrm>
        <a:graphic xmlns:a="http://schemas.openxmlformats.org/drawingml/2006/main">
          <a:graphicData uri="http://schemas.openxmlformats.org/drawingml/2006/table">
            <a:tbl>
              <a:tblPr/>
              <a:tblGrid>
                <a:gridCol w="2762250"/>
                <a:gridCol w="3381375"/>
              </a:tblGrid>
              <a:tr h="800100">
                <a:tc>
                  <a:txBody>
                    <a:bodyPr wrap="square" lIns="152400" tIns="114300" rIns="152400" bIns="114300">
                      <a:noAutofit/>
                    </a:bodyPr>
                    <a:lstStyle/>
                    <a:p>
                      <a:r>
                        <a:rPr sz="1500" b="1">
                          <a:solidFill>
                            <a:srgbClr val="FFFFFF"/>
                          </a:solidFill>
                          <a:latin typeface="DejaVu Sans"/>
                          <a:ea typeface="DejaVu Sans"/>
                          <a:cs typeface="DejaVu Sans"/>
                        </a:rPr>
                        <a:t>Stage</a:t>
                      </a:r>
                    </a:p>
                  </a:txBody>
                  <a:tcPr marL="152400" marR="152400" marT="133350" marB="133350" anchor="ctr">
                    <a:lnL w="4763">
                      <a:solidFill>
                        <a:srgbClr val="DFE6EF"/>
                      </a:solidFill>
                      <a:prstDash val="solid"/>
                    </a:lnL>
                    <a:lnR w="4763">
                      <a:solidFill>
                        <a:srgbClr val="DFE6EF"/>
                      </a:solidFill>
                      <a:prstDash val="solid"/>
                    </a:lnR>
                    <a:lnT w="4763">
                      <a:solidFill>
                        <a:srgbClr val="DFE6EF"/>
                      </a:solidFill>
                      <a:prstDash val="solid"/>
                    </a:lnT>
                    <a:lnB w="4763">
                      <a:solidFill>
                        <a:srgbClr val="DFE6EF"/>
                      </a:solidFill>
                      <a:prstDash val="solid"/>
                    </a:lnB>
                    <a:solidFill>
                      <a:srgbClr val="17243B"/>
                    </a:solidFill>
                  </a:tcPr>
                </a:tc>
                <a:tc>
                  <a:txBody>
                    <a:bodyPr wrap="square" lIns="152400" tIns="114300" rIns="152400" bIns="114300">
                      <a:noAutofit/>
                    </a:bodyPr>
                    <a:lstStyle/>
                    <a:p>
                      <a:r>
                        <a:rPr sz="1500" b="1">
                          <a:solidFill>
                            <a:srgbClr val="FFFFFF"/>
                          </a:solidFill>
                          <a:latin typeface="DejaVu Sans"/>
                          <a:ea typeface="DejaVu Sans"/>
                          <a:cs typeface="DejaVu Sans"/>
                        </a:rPr>
                        <a:t>Purpose</a:t>
                      </a:r>
                    </a:p>
                  </a:txBody>
                  <a:tcPr marL="152400" marR="152400" marT="133350" marB="133350" anchor="ctr">
                    <a:lnR w="4763">
                      <a:solidFill>
                        <a:srgbClr val="DFE6EF"/>
                      </a:solidFill>
                      <a:prstDash val="solid"/>
                    </a:lnR>
                    <a:lnT w="4763">
                      <a:solidFill>
                        <a:srgbClr val="DFE6EF"/>
                      </a:solidFill>
                      <a:prstDash val="solid"/>
                    </a:lnT>
                    <a:lnB w="4763">
                      <a:solidFill>
                        <a:srgbClr val="DFE6EF"/>
                      </a:solidFill>
                      <a:prstDash val="solid"/>
                    </a:lnB>
                    <a:solidFill>
                      <a:srgbClr val="17243B"/>
                    </a:solidFill>
                  </a:tcPr>
                </a:tc>
              </a:tr>
              <a:tr h="800100">
                <a:tc>
                  <a:txBody>
                    <a:bodyPr wrap="square" lIns="152400" tIns="114300" rIns="152400" bIns="114300">
                      <a:noAutofit/>
                    </a:bodyPr>
                    <a:lstStyle/>
                    <a:p>
                      <a:r>
                        <a:rPr sz="1650" b="0">
                          <a:solidFill>
                            <a:srgbClr val="17243B"/>
                          </a:solidFill>
                          <a:latin typeface="DejaVu Sans"/>
                          <a:ea typeface="DejaVu Sans"/>
                          <a:cs typeface="DejaVu Sans"/>
                        </a:rPr>
                        <a:t>Purchase records</a:t>
                      </a:r>
                    </a:p>
                  </a:txBody>
                  <a:tcPr marL="152400" marR="152400" marT="133350" marB="133350" anchor="ctr">
                    <a:lnL w="4763">
                      <a:solidFill>
                        <a:srgbClr val="DFE6EF"/>
                      </a:solidFill>
                      <a:prstDash val="solid"/>
                    </a:lnL>
                    <a:lnR w="4763">
                      <a:solidFill>
                        <a:srgbClr val="DFE6EF"/>
                      </a:solidFill>
                      <a:prstDash val="solid"/>
                    </a:lnR>
                    <a:lnB w="4763">
                      <a:solidFill>
                        <a:srgbClr val="DFE6EF"/>
                      </a:solidFill>
                      <a:prstDash val="solid"/>
                    </a:lnB>
                    <a:solidFill>
                      <a:srgbClr val="FFFFFF"/>
                    </a:solidFill>
                  </a:tcPr>
                </a:tc>
                <a:tc>
                  <a:txBody>
                    <a:bodyPr wrap="square" lIns="152400" tIns="114300" rIns="152400" bIns="114300">
                      <a:noAutofit/>
                    </a:bodyPr>
                    <a:lstStyle/>
                    <a:p>
                      <a:r>
                        <a:rPr sz="1650" b="0">
                          <a:solidFill>
                            <a:srgbClr val="17243B"/>
                          </a:solidFill>
                          <a:latin typeface="DejaVu Sans"/>
                          <a:ea typeface="DejaVu Sans"/>
                          <a:cs typeface="DejaVu Sans"/>
                        </a:rPr>
                        <a:t>Purchases, products</a:t>
                      </a:r>
                    </a:p>
                    <a:p>
                      <a:r>
                        <a:rPr sz="1650" b="0">
                          <a:solidFill>
                            <a:srgbClr val="17243B"/>
                          </a:solidFill>
                          <a:latin typeface="DejaVu Sans"/>
                          <a:ea typeface="DejaVu Sans"/>
                          <a:cs typeface="DejaVu Sans"/>
                        </a:rPr>
                        <a:t>and discount amounts</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r>
              <a:tr h="800100">
                <a:tc>
                  <a:txBody>
                    <a:bodyPr wrap="square" lIns="152400" tIns="114300" rIns="152400" bIns="114300">
                      <a:noAutofit/>
                    </a:bodyPr>
                    <a:lstStyle/>
                    <a:p>
                      <a:r>
                        <a:rPr sz="1650" b="0">
                          <a:solidFill>
                            <a:srgbClr val="17243B"/>
                          </a:solidFill>
                          <a:latin typeface="DejaVu Sans"/>
                          <a:ea typeface="DejaVu Sans"/>
                          <a:cs typeface="DejaVu Sans"/>
                        </a:rPr>
                        <a:t>Customer profiles</a:t>
                      </a:r>
                    </a:p>
                  </a:txBody>
                  <a:tcPr marL="152400" marR="152400" marT="133350" marB="133350" anchor="ctr">
                    <a:lnL w="4763">
                      <a:solidFill>
                        <a:srgbClr val="DFE6EF"/>
                      </a:solidFill>
                      <a:prstDash val="solid"/>
                    </a:lnL>
                    <a:lnR w="4763">
                      <a:solidFill>
                        <a:srgbClr val="DFE6EF"/>
                      </a:solidFill>
                      <a:prstDash val="solid"/>
                    </a:lnR>
                    <a:lnB w="4763">
                      <a:solidFill>
                        <a:srgbClr val="DFE6EF"/>
                      </a:solidFill>
                      <a:prstDash val="solid"/>
                    </a:lnB>
                    <a:solidFill>
                      <a:srgbClr val="FFFFFF"/>
                    </a:solidFill>
                  </a:tcPr>
                </a:tc>
                <a:tc>
                  <a:txBody>
                    <a:bodyPr wrap="square" lIns="152400" tIns="114300" rIns="152400" bIns="114300">
                      <a:noAutofit/>
                    </a:bodyPr>
                    <a:lstStyle/>
                    <a:p>
                      <a:r>
                        <a:rPr sz="1650" b="0">
                          <a:solidFill>
                            <a:srgbClr val="17243B"/>
                          </a:solidFill>
                          <a:latin typeface="DejaVu Sans"/>
                          <a:ea typeface="DejaVu Sans"/>
                          <a:cs typeface="DejaVu Sans"/>
                        </a:rPr>
                        <a:t>Spending, basket value,</a:t>
                      </a:r>
                    </a:p>
                    <a:p>
                      <a:r>
                        <a:rPr sz="1650" b="0">
                          <a:solidFill>
                            <a:srgbClr val="17243B"/>
                          </a:solidFill>
                          <a:latin typeface="DejaVu Sans"/>
                          <a:ea typeface="DejaVu Sans"/>
                          <a:cs typeface="DejaVu Sans"/>
                        </a:rPr>
                        <a:t>visits and recent activity</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r>
              <a:tr h="800100">
                <a:tc>
                  <a:txBody>
                    <a:bodyPr wrap="square" lIns="152400" tIns="114300" rIns="152400" bIns="114300">
                      <a:noAutofit/>
                    </a:bodyPr>
                    <a:lstStyle/>
                    <a:p>
                      <a:r>
                        <a:rPr sz="1650" b="0">
                          <a:solidFill>
                            <a:srgbClr val="17243B"/>
                          </a:solidFill>
                          <a:latin typeface="DejaVu Sans"/>
                          <a:ea typeface="DejaVu Sans"/>
                          <a:cs typeface="DejaVu Sans"/>
                        </a:rPr>
                        <a:t>Behavioral groups</a:t>
                      </a:r>
                    </a:p>
                  </a:txBody>
                  <a:tcPr marL="152400" marR="152400" marT="133350" marB="133350" anchor="ctr">
                    <a:lnL w="4763">
                      <a:solidFill>
                        <a:srgbClr val="DFE6EF"/>
                      </a:solidFill>
                      <a:prstDash val="solid"/>
                    </a:lnL>
                    <a:lnR w="4763">
                      <a:solidFill>
                        <a:srgbClr val="DFE6EF"/>
                      </a:solidFill>
                      <a:prstDash val="solid"/>
                    </a:lnR>
                    <a:lnB w="4763">
                      <a:solidFill>
                        <a:srgbClr val="DFE6EF"/>
                      </a:solidFill>
                      <a:prstDash val="solid"/>
                    </a:lnB>
                    <a:solidFill>
                      <a:srgbClr val="FFFFFF"/>
                    </a:solidFill>
                  </a:tcPr>
                </a:tc>
                <a:tc>
                  <a:txBody>
                    <a:bodyPr wrap="square" lIns="152400" tIns="114300" rIns="152400" bIns="114300">
                      <a:noAutofit/>
                    </a:bodyPr>
                    <a:lstStyle/>
                    <a:p>
                      <a:r>
                        <a:rPr sz="1650" b="0">
                          <a:solidFill>
                            <a:srgbClr val="17243B"/>
                          </a:solidFill>
                          <a:latin typeface="DejaVu Sans"/>
                          <a:ea typeface="DejaVu Sans"/>
                          <a:cs typeface="DejaVu Sans"/>
                        </a:rPr>
                        <a:t>Three groups with different</a:t>
                      </a:r>
                    </a:p>
                    <a:p>
                      <a:r>
                        <a:rPr sz="1650" b="0">
                          <a:solidFill>
                            <a:srgbClr val="17243B"/>
                          </a:solidFill>
                          <a:latin typeface="DejaVu Sans"/>
                          <a:ea typeface="DejaVu Sans"/>
                          <a:cs typeface="DejaVu Sans"/>
                        </a:rPr>
                        <a:t>shopping patterns</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r>
              <a:tr h="800100">
                <a:tc>
                  <a:txBody>
                    <a:bodyPr wrap="square" lIns="152400" tIns="114300" rIns="152400" bIns="114300">
                      <a:noAutofit/>
                    </a:bodyPr>
                    <a:lstStyle/>
                    <a:p>
                      <a:r>
                        <a:rPr sz="1650" b="0">
                          <a:solidFill>
                            <a:srgbClr val="17243B"/>
                          </a:solidFill>
                          <a:latin typeface="DejaVu Sans"/>
                          <a:ea typeface="DejaVu Sans"/>
                          <a:cs typeface="DejaVu Sans"/>
                        </a:rPr>
                        <a:t>Promotion analysis</a:t>
                      </a:r>
                    </a:p>
                  </a:txBody>
                  <a:tcPr marL="152400" marR="152400" marT="133350" marB="133350" anchor="ctr">
                    <a:lnL w="4763">
                      <a:solidFill>
                        <a:srgbClr val="DFE6EF"/>
                      </a:solidFill>
                      <a:prstDash val="solid"/>
                    </a:lnL>
                    <a:lnR w="4763">
                      <a:solidFill>
                        <a:srgbClr val="DFE6EF"/>
                      </a:solidFill>
                      <a:prstDash val="solid"/>
                    </a:lnR>
                    <a:lnB w="4763">
                      <a:solidFill>
                        <a:srgbClr val="DFE6EF"/>
                      </a:solidFill>
                      <a:prstDash val="solid"/>
                    </a:lnB>
                    <a:solidFill>
                      <a:srgbClr val="FFFFFF"/>
                    </a:solidFill>
                  </a:tcPr>
                </a:tc>
                <a:tc>
                  <a:txBody>
                    <a:bodyPr wrap="square" lIns="152400" tIns="114300" rIns="152400" bIns="114300">
                      <a:noAutofit/>
                    </a:bodyPr>
                    <a:lstStyle/>
                    <a:p>
                      <a:r>
                        <a:rPr sz="1650" b="0">
                          <a:solidFill>
                            <a:srgbClr val="17243B"/>
                          </a:solidFill>
                          <a:latin typeface="DejaVu Sans"/>
                          <a:ea typeface="DejaVu Sans"/>
                          <a:cs typeface="DejaVu Sans"/>
                        </a:rPr>
                        <a:t>Reach, spending share</a:t>
                      </a:r>
                    </a:p>
                    <a:p>
                      <a:r>
                        <a:rPr sz="1650" b="0">
                          <a:solidFill>
                            <a:srgbClr val="17243B"/>
                          </a:solidFill>
                          <a:latin typeface="DejaVu Sans"/>
                          <a:ea typeface="DejaVu Sans"/>
                          <a:cs typeface="DejaVu Sans"/>
                        </a:rPr>
                        <a:t>and category differences</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F7C61865-113F-4031-B577-A917276C299D}"/>
              </a:ext>
            </a:extLst>
          </p:cNvPr>
          <p:cNvSpPr>
            <a:spLocks xmlns:a="http://schemas.openxmlformats.org/drawingml/2006/main" noGrp="1"/>
          </p:cNvSpPr>
          <p:nvPr/>
        </p:nvSpPr>
        <p:spPr>
          <a:xfrm xmlns:a="http://schemas.openxmlformats.org/drawingml/2006/main">
            <a:off x="647700" y="4953000"/>
            <a:ext cx="4095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4748B"/>
                </a:solidFill>
                <a:latin typeface="DejaVu Sans"/>
                <a:ea typeface="DejaVu Sans"/>
                <a:cs typeface="DejaVu Sans"/>
              </a:defRPr>
            </a:defPPr>
            <a:lvl1pPr algn="l">
              <a:buNone/>
              <a:defRPr sz="1650" b="0">
                <a:solidFill>
                  <a:srgbClr val="64748B"/>
                </a:solidFill>
                <a:latin typeface="DejaVu Sans"/>
                <a:ea typeface="DejaVu Sans"/>
                <a:cs typeface="DejaVu Sans"/>
              </a:defRPr>
            </a:lvl1pPr>
            <a:lvl2pPr algn="l">
              <a:buNone/>
              <a:defRPr sz="1650" b="0">
                <a:solidFill>
                  <a:srgbClr val="64748B"/>
                </a:solidFill>
                <a:latin typeface="DejaVu Sans"/>
                <a:ea typeface="DejaVu Sans"/>
                <a:cs typeface="DejaVu Sans"/>
              </a:defRPr>
            </a:lvl2pPr>
            <a:lvl3pPr algn="l">
              <a:buNone/>
              <a:defRPr sz="1650" b="0">
                <a:solidFill>
                  <a:srgbClr val="64748B"/>
                </a:solidFill>
                <a:latin typeface="DejaVu Sans"/>
                <a:ea typeface="DejaVu Sans"/>
                <a:cs typeface="DejaVu Sans"/>
              </a:defRPr>
            </a:lvl3pPr>
            <a:lvl4pPr algn="l">
              <a:buNone/>
              <a:defRPr sz="1650" b="0">
                <a:solidFill>
                  <a:srgbClr val="64748B"/>
                </a:solidFill>
                <a:latin typeface="DejaVu Sans"/>
                <a:ea typeface="DejaVu Sans"/>
                <a:cs typeface="DejaVu Sans"/>
              </a:defRPr>
            </a:lvl4pPr>
            <a:lvl5pPr algn="l">
              <a:buNone/>
              <a:defRPr sz="1650" b="0">
                <a:solidFill>
                  <a:srgbClr val="64748B"/>
                </a:solidFill>
                <a:latin typeface="DejaVu Sans"/>
                <a:ea typeface="DejaVu Sans"/>
                <a:cs typeface="DejaVu Sans"/>
              </a:defRPr>
            </a:lvl5pPr>
            <a:lvl6pPr algn="l">
              <a:buNone/>
              <a:defRPr sz="1650" b="0">
                <a:solidFill>
                  <a:srgbClr val="64748B"/>
                </a:solidFill>
                <a:latin typeface="DejaVu Sans"/>
                <a:ea typeface="DejaVu Sans"/>
                <a:cs typeface="DejaVu Sans"/>
              </a:defRPr>
            </a:lvl6pPr>
            <a:lvl7pPr algn="l">
              <a:buNone/>
              <a:defRPr sz="1650" b="0">
                <a:solidFill>
                  <a:srgbClr val="64748B"/>
                </a:solidFill>
                <a:latin typeface="DejaVu Sans"/>
                <a:ea typeface="DejaVu Sans"/>
                <a:cs typeface="DejaVu Sans"/>
              </a:defRPr>
            </a:lvl7pPr>
            <a:lvl8pPr algn="l">
              <a:buNone/>
              <a:defRPr sz="1650" b="0">
                <a:solidFill>
                  <a:srgbClr val="64748B"/>
                </a:solidFill>
                <a:latin typeface="DejaVu Sans"/>
                <a:ea typeface="DejaVu Sans"/>
                <a:cs typeface="DejaVu Sans"/>
              </a:defRPr>
            </a:lvl8pPr>
            <a:lvl9pPr algn="l">
              <a:buNone/>
              <a:defRPr sz="1650" b="0">
                <a:solidFill>
                  <a:srgbClr val="64748B"/>
                </a:solidFill>
                <a:latin typeface="DejaVu Sans"/>
                <a:ea typeface="DejaVu Sans"/>
                <a:cs typeface="DejaVu Sans"/>
              </a:defRPr>
            </a:lvl9pPr>
          </a:lstStyle>
          <a:p xmlns:a="http://schemas.openxmlformats.org/drawingml/2006/main">
            <a:pPr algn="l">
              <a:buNone/>
              <a:defRPr sz="1650" b="0">
                <a:solidFill>
                  <a:srgbClr val="64748B"/>
                </a:solidFill>
                <a:latin typeface="DejaVu Sans"/>
                <a:ea typeface="DejaVu Sans"/>
                <a:cs typeface="DejaVu Sans"/>
              </a:defRPr>
            </a:pPr>
            <a:r>
              <a:rPr sz="1650" b="0">
                <a:solidFill>
                  <a:srgbClr val="64748B"/>
                </a:solidFill>
                <a:latin typeface="DejaVu Sans"/>
                <a:ea typeface="DejaVu Sans"/>
                <a:cs typeface="DejaVu Sans"/>
              </a:rPr>
              <a:t>2,500 households</a:t>
            </a:r>
          </a:p>
          <a:p xmlns:a="http://schemas.openxmlformats.org/drawingml/2006/main">
            <a:pPr algn="l">
              <a:buNone/>
              <a:defRPr sz="1650" b="0">
                <a:solidFill>
                  <a:srgbClr val="64748B"/>
                </a:solidFill>
                <a:latin typeface="DejaVu Sans"/>
                <a:ea typeface="DejaVu Sans"/>
                <a:cs typeface="DejaVu Sans"/>
              </a:defRPr>
            </a:pPr>
            <a:r>
              <a:rPr sz="1650" b="0">
                <a:solidFill>
                  <a:srgbClr val="64748B"/>
                </a:solidFill>
                <a:latin typeface="DejaVu Sans"/>
                <a:ea typeface="DejaVu Sans"/>
                <a:cs typeface="DejaVu Sans"/>
              </a:rPr>
              <a:t>across the observation period</a:t>
            </a:r>
          </a:p>
        </p:txBody>
      </p:sp>
    </p:spTree>
    <p:extLst>
      <p:ext uri="{BB962C8B-B14F-4D97-AF65-F5344CB8AC3E}">
        <p14:creationId xmlns:p14="http://schemas.microsoft.com/office/powerpoint/2010/main" val="15835789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D19191B-3112-4E14-8E58-130F52A130B4}"/>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225" b="1">
                <a:solidFill>
                  <a:srgbClr val="17243B"/>
                </a:solidFill>
                <a:latin typeface="DejaVu Sans"/>
                <a:ea typeface="DejaVu Sans"/>
                <a:cs typeface="DejaVu Sans"/>
              </a:defRPr>
            </a:defPPr>
            <a:lvl1pPr>
              <a:buNone/>
              <a:defRPr sz="3225" b="1">
                <a:solidFill>
                  <a:srgbClr val="17243B"/>
                </a:solidFill>
                <a:latin typeface="DejaVu Sans"/>
                <a:ea typeface="DejaVu Sans"/>
                <a:cs typeface="DejaVu Sans"/>
              </a:defRPr>
            </a:lvl1pPr>
            <a:lvl2pPr>
              <a:buNone/>
              <a:defRPr sz="3225" b="1">
                <a:solidFill>
                  <a:srgbClr val="17243B"/>
                </a:solidFill>
                <a:latin typeface="DejaVu Sans"/>
                <a:ea typeface="DejaVu Sans"/>
                <a:cs typeface="DejaVu Sans"/>
              </a:defRPr>
            </a:lvl2pPr>
            <a:lvl3pPr>
              <a:buNone/>
              <a:defRPr sz="3225" b="1">
                <a:solidFill>
                  <a:srgbClr val="17243B"/>
                </a:solidFill>
                <a:latin typeface="DejaVu Sans"/>
                <a:ea typeface="DejaVu Sans"/>
                <a:cs typeface="DejaVu Sans"/>
              </a:defRPr>
            </a:lvl3pPr>
            <a:lvl4pPr>
              <a:buNone/>
              <a:defRPr sz="3225" b="1">
                <a:solidFill>
                  <a:srgbClr val="17243B"/>
                </a:solidFill>
                <a:latin typeface="DejaVu Sans"/>
                <a:ea typeface="DejaVu Sans"/>
                <a:cs typeface="DejaVu Sans"/>
              </a:defRPr>
            </a:lvl4pPr>
            <a:lvl5pPr>
              <a:buNone/>
              <a:defRPr sz="3225" b="1">
                <a:solidFill>
                  <a:srgbClr val="17243B"/>
                </a:solidFill>
                <a:latin typeface="DejaVu Sans"/>
                <a:ea typeface="DejaVu Sans"/>
                <a:cs typeface="DejaVu Sans"/>
              </a:defRPr>
            </a:lvl5pPr>
            <a:lvl6pPr>
              <a:buNone/>
              <a:defRPr sz="3225" b="1">
                <a:solidFill>
                  <a:srgbClr val="17243B"/>
                </a:solidFill>
                <a:latin typeface="DejaVu Sans"/>
                <a:ea typeface="DejaVu Sans"/>
                <a:cs typeface="DejaVu Sans"/>
              </a:defRPr>
            </a:lvl6pPr>
            <a:lvl7pPr>
              <a:buNone/>
              <a:defRPr sz="3225" b="1">
                <a:solidFill>
                  <a:srgbClr val="17243B"/>
                </a:solidFill>
                <a:latin typeface="DejaVu Sans"/>
                <a:ea typeface="DejaVu Sans"/>
                <a:cs typeface="DejaVu Sans"/>
              </a:defRPr>
            </a:lvl7pPr>
            <a:lvl8pPr>
              <a:buNone/>
              <a:defRPr sz="3225" b="1">
                <a:solidFill>
                  <a:srgbClr val="17243B"/>
                </a:solidFill>
                <a:latin typeface="DejaVu Sans"/>
                <a:ea typeface="DejaVu Sans"/>
                <a:cs typeface="DejaVu Sans"/>
              </a:defRPr>
            </a:lvl8pPr>
            <a:lvl9pPr>
              <a:buNone/>
              <a:defRPr sz="3225" b="1">
                <a:solidFill>
                  <a:srgbClr val="17243B"/>
                </a:solidFill>
                <a:latin typeface="DejaVu Sans"/>
                <a:ea typeface="DejaVu Sans"/>
                <a:cs typeface="DejaVu Sans"/>
              </a:defRPr>
            </a:lvl9pPr>
          </a:lstStyle>
          <a:p xmlns:a="http://schemas.openxmlformats.org/drawingml/2006/main">
            <a:pPr>
              <a:buNone/>
              <a:defRPr sz="3225" b="1">
                <a:solidFill>
                  <a:srgbClr val="17243B"/>
                </a:solidFill>
                <a:latin typeface="DejaVu Sans"/>
                <a:ea typeface="DejaVu Sans"/>
                <a:cs typeface="DejaVu Sans"/>
              </a:defRPr>
            </a:pPr>
            <a:r>
              <a:rPr sz="3225" b="1">
                <a:solidFill>
                  <a:srgbClr val="17243B"/>
                </a:solidFill>
                <a:latin typeface="DejaVu Sans"/>
                <a:ea typeface="DejaVu Sans"/>
                <a:cs typeface="DejaVu Sans"/>
              </a:rPr>
              <a:t>The top 20% of shoppers generate 53% of sales</a:t>
            </a:r>
          </a:p>
        </p:txBody>
      </p:sp>
      <p:sp>
        <p:nvSpPr>
          <p:cNvPr id="2" name="">
            <a:extLst xmlns:a="http://schemas.openxmlformats.org/drawingml/2006/main">
              <a:ext uri="{FF2B5EF4-FFF2-40B4-BE49-F238E27FC236}">
                <a16:creationId xmlns:a16="http://schemas.microsoft.com/office/drawing/2014/main" id="{7FAD4009-F5E3-4DD9-B7F5-08CFBE46221B}"/>
              </a:ext>
            </a:extLst>
          </p:cNvPr>
          <p:cNvSpPr>
            <a:spLocks xmlns:a="http://schemas.openxmlformats.org/drawingml/2006/main" noGrp="1"/>
          </p:cNvSpPr>
          <p:nvPr/>
        </p:nvSpPr>
        <p:spPr>
          <a:xfrm xmlns:a="http://schemas.openxmlformats.org/drawingml/2006/main">
            <a:off x="609600" y="6429375"/>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050" b="0">
                <a:solidFill>
                  <a:srgbClr val="64748B"/>
                </a:solidFill>
                <a:latin typeface="DejaVu Sans"/>
                <a:ea typeface="DejaVu Sans"/>
                <a:cs typeface="DejaVu Sans"/>
              </a:defRPr>
            </a:defPPr>
            <a:lvl1pPr>
              <a:buNone/>
              <a:defRPr sz="1050" b="0">
                <a:solidFill>
                  <a:srgbClr val="64748B"/>
                </a:solidFill>
                <a:latin typeface="DejaVu Sans"/>
                <a:ea typeface="DejaVu Sans"/>
                <a:cs typeface="DejaVu Sans"/>
              </a:defRPr>
            </a:lvl1pPr>
            <a:lvl2pPr>
              <a:buNone/>
              <a:defRPr sz="1050" b="0">
                <a:solidFill>
                  <a:srgbClr val="64748B"/>
                </a:solidFill>
                <a:latin typeface="DejaVu Sans"/>
                <a:ea typeface="DejaVu Sans"/>
                <a:cs typeface="DejaVu Sans"/>
              </a:defRPr>
            </a:lvl2pPr>
            <a:lvl3pPr>
              <a:buNone/>
              <a:defRPr sz="1050" b="0">
                <a:solidFill>
                  <a:srgbClr val="64748B"/>
                </a:solidFill>
                <a:latin typeface="DejaVu Sans"/>
                <a:ea typeface="DejaVu Sans"/>
                <a:cs typeface="DejaVu Sans"/>
              </a:defRPr>
            </a:lvl3pPr>
            <a:lvl4pPr>
              <a:buNone/>
              <a:defRPr sz="1050" b="0">
                <a:solidFill>
                  <a:srgbClr val="64748B"/>
                </a:solidFill>
                <a:latin typeface="DejaVu Sans"/>
                <a:ea typeface="DejaVu Sans"/>
                <a:cs typeface="DejaVu Sans"/>
              </a:defRPr>
            </a:lvl4pPr>
            <a:lvl5pPr>
              <a:buNone/>
              <a:defRPr sz="1050" b="0">
                <a:solidFill>
                  <a:srgbClr val="64748B"/>
                </a:solidFill>
                <a:latin typeface="DejaVu Sans"/>
                <a:ea typeface="DejaVu Sans"/>
                <a:cs typeface="DejaVu Sans"/>
              </a:defRPr>
            </a:lvl5pPr>
            <a:lvl6pPr>
              <a:buNone/>
              <a:defRPr sz="1050" b="0">
                <a:solidFill>
                  <a:srgbClr val="64748B"/>
                </a:solidFill>
                <a:latin typeface="DejaVu Sans"/>
                <a:ea typeface="DejaVu Sans"/>
                <a:cs typeface="DejaVu Sans"/>
              </a:defRPr>
            </a:lvl6pPr>
            <a:lvl7pPr>
              <a:buNone/>
              <a:defRPr sz="1050" b="0">
                <a:solidFill>
                  <a:srgbClr val="64748B"/>
                </a:solidFill>
                <a:latin typeface="DejaVu Sans"/>
                <a:ea typeface="DejaVu Sans"/>
                <a:cs typeface="DejaVu Sans"/>
              </a:defRPr>
            </a:lvl7pPr>
            <a:lvl8pPr>
              <a:buNone/>
              <a:defRPr sz="1050" b="0">
                <a:solidFill>
                  <a:srgbClr val="64748B"/>
                </a:solidFill>
                <a:latin typeface="DejaVu Sans"/>
                <a:ea typeface="DejaVu Sans"/>
                <a:cs typeface="DejaVu Sans"/>
              </a:defRPr>
            </a:lvl8pPr>
            <a:lvl9pPr>
              <a:buNone/>
              <a:defRPr sz="1050" b="0">
                <a:solidFill>
                  <a:srgbClr val="64748B"/>
                </a:solidFill>
                <a:latin typeface="DejaVu Sans"/>
                <a:ea typeface="DejaVu Sans"/>
                <a:cs typeface="DejaVu Sans"/>
              </a:defRPr>
            </a:lvl9pPr>
          </a:lstStyle>
          <a:p xmlns:a="http://schemas.openxmlformats.org/drawingml/2006/main">
            <a:pPr>
              <a:buNone/>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FMCG Consumer Growth &amp; Promotion Insights</a:t>
            </a:r>
          </a:p>
        </p:txBody>
      </p:sp>
      <p:sp>
        <p:nvSpPr>
          <p:cNvPr id="3" name="">
            <a:extLst xmlns:a="http://schemas.openxmlformats.org/drawingml/2006/main">
              <a:ext uri="{FF2B5EF4-FFF2-40B4-BE49-F238E27FC236}">
                <a16:creationId xmlns:a16="http://schemas.microsoft.com/office/drawing/2014/main" id="{5DE697B5-6D4E-421B-A372-8CE6E25AEECC}"/>
              </a:ext>
            </a:extLst>
          </p:cNvPr>
          <p:cNvSpPr>
            <a:spLocks xmlns:a="http://schemas.openxmlformats.org/drawingml/2006/main" noGrp="1"/>
          </p:cNvSpPr>
          <p:nvPr/>
        </p:nvSpPr>
        <p:spPr>
          <a:xfrm xmlns:a="http://schemas.openxmlformats.org/drawingml/2006/main">
            <a:off x="11049000" y="64198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DejaVu Sans"/>
                <a:ea typeface="DejaVu Sans"/>
                <a:cs typeface="DejaVu Sans"/>
              </a:defRPr>
            </a:defPPr>
            <a:lvl1pPr algn="l">
              <a:buNone/>
              <a:defRPr sz="1200" b="0">
                <a:solidFill>
                  <a:srgbClr val="64748B"/>
                </a:solidFill>
                <a:latin typeface="DejaVu Sans"/>
                <a:ea typeface="DejaVu Sans"/>
                <a:cs typeface="DejaVu Sans"/>
              </a:defRPr>
            </a:lvl1pPr>
            <a:lvl2pPr algn="l">
              <a:buNone/>
              <a:defRPr sz="1200" b="0">
                <a:solidFill>
                  <a:srgbClr val="64748B"/>
                </a:solidFill>
                <a:latin typeface="DejaVu Sans"/>
                <a:ea typeface="DejaVu Sans"/>
                <a:cs typeface="DejaVu Sans"/>
              </a:defRPr>
            </a:lvl2pPr>
            <a:lvl3pPr algn="l">
              <a:buNone/>
              <a:defRPr sz="1200" b="0">
                <a:solidFill>
                  <a:srgbClr val="64748B"/>
                </a:solidFill>
                <a:latin typeface="DejaVu Sans"/>
                <a:ea typeface="DejaVu Sans"/>
                <a:cs typeface="DejaVu Sans"/>
              </a:defRPr>
            </a:lvl3pPr>
            <a:lvl4pPr algn="l">
              <a:buNone/>
              <a:defRPr sz="1200" b="0">
                <a:solidFill>
                  <a:srgbClr val="64748B"/>
                </a:solidFill>
                <a:latin typeface="DejaVu Sans"/>
                <a:ea typeface="DejaVu Sans"/>
                <a:cs typeface="DejaVu Sans"/>
              </a:defRPr>
            </a:lvl4pPr>
            <a:lvl5pPr algn="l">
              <a:buNone/>
              <a:defRPr sz="1200" b="0">
                <a:solidFill>
                  <a:srgbClr val="64748B"/>
                </a:solidFill>
                <a:latin typeface="DejaVu Sans"/>
                <a:ea typeface="DejaVu Sans"/>
                <a:cs typeface="DejaVu Sans"/>
              </a:defRPr>
            </a:lvl5pPr>
            <a:lvl6pPr algn="l">
              <a:buNone/>
              <a:defRPr sz="1200" b="0">
                <a:solidFill>
                  <a:srgbClr val="64748B"/>
                </a:solidFill>
                <a:latin typeface="DejaVu Sans"/>
                <a:ea typeface="DejaVu Sans"/>
                <a:cs typeface="DejaVu Sans"/>
              </a:defRPr>
            </a:lvl6pPr>
            <a:lvl7pPr algn="l">
              <a:buNone/>
              <a:defRPr sz="1200" b="0">
                <a:solidFill>
                  <a:srgbClr val="64748B"/>
                </a:solidFill>
                <a:latin typeface="DejaVu Sans"/>
                <a:ea typeface="DejaVu Sans"/>
                <a:cs typeface="DejaVu Sans"/>
              </a:defRPr>
            </a:lvl7pPr>
            <a:lvl8pPr algn="l">
              <a:buNone/>
              <a:defRPr sz="1200" b="0">
                <a:solidFill>
                  <a:srgbClr val="64748B"/>
                </a:solidFill>
                <a:latin typeface="DejaVu Sans"/>
                <a:ea typeface="DejaVu Sans"/>
                <a:cs typeface="DejaVu Sans"/>
              </a:defRPr>
            </a:lvl8pPr>
            <a:lvl9pPr algn="l">
              <a:buNone/>
              <a:defRPr sz="1200" b="0">
                <a:solidFill>
                  <a:srgbClr val="64748B"/>
                </a:solidFill>
                <a:latin typeface="DejaVu Sans"/>
                <a:ea typeface="DejaVu Sans"/>
                <a:cs typeface="DejaVu Sans"/>
              </a:defRPr>
            </a:lvl9pPr>
          </a:lstStyle>
          <a:p xmlns:a="http://schemas.openxmlformats.org/drawingml/2006/main">
            <a:pPr algn="l">
              <a:buNone/>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03</a:t>
            </a:r>
          </a:p>
        </p:txBody>
      </p:sp>
      <p:graphicFrame>
        <p:nvGraphicFramePr>
          <p:cNvPr id="4" name="Chart">
            <a:extLst xmlns:a="http://schemas.openxmlformats.org/drawingml/2006/main">
              <a:ext uri="{FF2B5EF4-FFF2-40B4-BE49-F238E27FC236}">
                <a16:creationId xmlns:a16="http://schemas.microsoft.com/office/drawing/2014/main" id="{12E49E19-FC37-4E07-A8F0-33D18FB22FF5}"/>
              </a:ext>
            </a:extLst>
          </p:cNvPr>
          <p:cNvGraphicFramePr/>
          <p:nvPr/>
        </p:nvGraphicFramePr>
        <p:xfrm>
          <a:off xmlns:a="http://schemas.openxmlformats.org/drawingml/2006/main" x="628650" y="1781175"/>
          <a:ext xmlns:a="http://schemas.openxmlformats.org/drawingml/2006/main" cx="7715250" cy="3905250"/>
        </p:xfrm>
        <a:graphic xmlns:a="http://schemas.openxmlformats.org/drawingml/2006/main">
          <a:graphicData uri="http://schemas.openxmlformats.org/drawingml/2006/chart">
            <c:chart xmlns:r="http://schemas.openxmlformats.org/officeDocument/2006/relationships" xmlns:c="http://schemas.openxmlformats.org/drawingml/2006/chart" r:id="R414080686833477e"/>
          </a:graphicData>
        </a:graphic>
      </p:graphicFrame>
      <p:sp>
        <p:nvSpPr>
          <p:cNvPr id="5" name="">
            <a:extLst xmlns:a="http://schemas.openxmlformats.org/drawingml/2006/main">
              <a:ext uri="{FF2B5EF4-FFF2-40B4-BE49-F238E27FC236}">
                <a16:creationId xmlns:a16="http://schemas.microsoft.com/office/drawing/2014/main" id="{D93B59C0-3224-4FD6-947B-59EF942A2BE7}"/>
              </a:ext>
            </a:extLst>
          </p:cNvPr>
          <p:cNvSpPr>
            <a:spLocks xmlns:a="http://schemas.openxmlformats.org/drawingml/2006/main" noGrp="1"/>
          </p:cNvSpPr>
          <p:nvPr/>
        </p:nvSpPr>
        <p:spPr>
          <a:xfrm xmlns:a="http://schemas.openxmlformats.org/drawingml/2006/main">
            <a:off x="8782050" y="209550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275" b="1">
                <a:solidFill>
                  <a:srgbClr val="2563EB"/>
                </a:solidFill>
                <a:latin typeface="DejaVu Sans"/>
                <a:ea typeface="DejaVu Sans"/>
                <a:cs typeface="DejaVu Sans"/>
              </a:defRPr>
            </a:defPPr>
            <a:lvl1pPr>
              <a:buNone/>
              <a:defRPr sz="4275" b="1">
                <a:solidFill>
                  <a:srgbClr val="2563EB"/>
                </a:solidFill>
                <a:latin typeface="DejaVu Sans"/>
                <a:ea typeface="DejaVu Sans"/>
                <a:cs typeface="DejaVu Sans"/>
              </a:defRPr>
            </a:lvl1pPr>
            <a:lvl2pPr>
              <a:buNone/>
              <a:defRPr sz="4275" b="1">
                <a:solidFill>
                  <a:srgbClr val="2563EB"/>
                </a:solidFill>
                <a:latin typeface="DejaVu Sans"/>
                <a:ea typeface="DejaVu Sans"/>
                <a:cs typeface="DejaVu Sans"/>
              </a:defRPr>
            </a:lvl2pPr>
            <a:lvl3pPr>
              <a:buNone/>
              <a:defRPr sz="4275" b="1">
                <a:solidFill>
                  <a:srgbClr val="2563EB"/>
                </a:solidFill>
                <a:latin typeface="DejaVu Sans"/>
                <a:ea typeface="DejaVu Sans"/>
                <a:cs typeface="DejaVu Sans"/>
              </a:defRPr>
            </a:lvl3pPr>
            <a:lvl4pPr>
              <a:buNone/>
              <a:defRPr sz="4275" b="1">
                <a:solidFill>
                  <a:srgbClr val="2563EB"/>
                </a:solidFill>
                <a:latin typeface="DejaVu Sans"/>
                <a:ea typeface="DejaVu Sans"/>
                <a:cs typeface="DejaVu Sans"/>
              </a:defRPr>
            </a:lvl4pPr>
            <a:lvl5pPr>
              <a:buNone/>
              <a:defRPr sz="4275" b="1">
                <a:solidFill>
                  <a:srgbClr val="2563EB"/>
                </a:solidFill>
                <a:latin typeface="DejaVu Sans"/>
                <a:ea typeface="DejaVu Sans"/>
                <a:cs typeface="DejaVu Sans"/>
              </a:defRPr>
            </a:lvl5pPr>
            <a:lvl6pPr>
              <a:buNone/>
              <a:defRPr sz="4275" b="1">
                <a:solidFill>
                  <a:srgbClr val="2563EB"/>
                </a:solidFill>
                <a:latin typeface="DejaVu Sans"/>
                <a:ea typeface="DejaVu Sans"/>
                <a:cs typeface="DejaVu Sans"/>
              </a:defRPr>
            </a:lvl6pPr>
            <a:lvl7pPr>
              <a:buNone/>
              <a:defRPr sz="4275" b="1">
                <a:solidFill>
                  <a:srgbClr val="2563EB"/>
                </a:solidFill>
                <a:latin typeface="DejaVu Sans"/>
                <a:ea typeface="DejaVu Sans"/>
                <a:cs typeface="DejaVu Sans"/>
              </a:defRPr>
            </a:lvl7pPr>
            <a:lvl8pPr>
              <a:buNone/>
              <a:defRPr sz="4275" b="1">
                <a:solidFill>
                  <a:srgbClr val="2563EB"/>
                </a:solidFill>
                <a:latin typeface="DejaVu Sans"/>
                <a:ea typeface="DejaVu Sans"/>
                <a:cs typeface="DejaVu Sans"/>
              </a:defRPr>
            </a:lvl8pPr>
            <a:lvl9pPr>
              <a:buNone/>
              <a:defRPr sz="4275" b="1">
                <a:solidFill>
                  <a:srgbClr val="2563EB"/>
                </a:solidFill>
                <a:latin typeface="DejaVu Sans"/>
                <a:ea typeface="DejaVu Sans"/>
                <a:cs typeface="DejaVu Sans"/>
              </a:defRPr>
            </a:lvl9pPr>
          </a:lstStyle>
          <a:p xmlns:a="http://schemas.openxmlformats.org/drawingml/2006/main">
            <a:pPr>
              <a:buNone/>
              <a:defRPr sz="4275" b="1">
                <a:solidFill>
                  <a:srgbClr val="2563EB"/>
                </a:solidFill>
                <a:latin typeface="DejaVu Sans"/>
                <a:ea typeface="DejaVu Sans"/>
                <a:cs typeface="DejaVu Sans"/>
              </a:defRPr>
            </a:pPr>
            <a:r>
              <a:rPr sz="4275" b="1">
                <a:solidFill>
                  <a:srgbClr val="2563EB"/>
                </a:solidFill>
                <a:latin typeface="DejaVu Sans"/>
                <a:ea typeface="DejaVu Sans"/>
                <a:cs typeface="DejaVu Sans"/>
              </a:rPr>
              <a:t>$8.06M</a:t>
            </a:r>
          </a:p>
        </p:txBody>
      </p:sp>
      <p:sp>
        <p:nvSpPr>
          <p:cNvPr id="6" name="">
            <a:extLst xmlns:a="http://schemas.openxmlformats.org/drawingml/2006/main">
              <a:ext uri="{FF2B5EF4-FFF2-40B4-BE49-F238E27FC236}">
                <a16:creationId xmlns:a16="http://schemas.microsoft.com/office/drawing/2014/main" id="{8682280D-BE18-4077-AD16-DC77506D3C19}"/>
              </a:ext>
            </a:extLst>
          </p:cNvPr>
          <p:cNvSpPr>
            <a:spLocks xmlns:a="http://schemas.openxmlformats.org/drawingml/2006/main" noGrp="1"/>
          </p:cNvSpPr>
          <p:nvPr/>
        </p:nvSpPr>
        <p:spPr>
          <a:xfrm xmlns:a="http://schemas.openxmlformats.org/drawingml/2006/main">
            <a:off x="8820150" y="2914650"/>
            <a:ext cx="266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64748B"/>
                </a:solidFill>
                <a:latin typeface="DejaVu Sans"/>
                <a:ea typeface="DejaVu Sans"/>
                <a:cs typeface="DejaVu Sans"/>
              </a:defRPr>
            </a:defPPr>
            <a:lvl1pPr>
              <a:buNone/>
              <a:defRPr sz="1650" b="0">
                <a:solidFill>
                  <a:srgbClr val="64748B"/>
                </a:solidFill>
                <a:latin typeface="DejaVu Sans"/>
                <a:ea typeface="DejaVu Sans"/>
                <a:cs typeface="DejaVu Sans"/>
              </a:defRPr>
            </a:lvl1pPr>
            <a:lvl2pPr>
              <a:buNone/>
              <a:defRPr sz="1650" b="0">
                <a:solidFill>
                  <a:srgbClr val="64748B"/>
                </a:solidFill>
                <a:latin typeface="DejaVu Sans"/>
                <a:ea typeface="DejaVu Sans"/>
                <a:cs typeface="DejaVu Sans"/>
              </a:defRPr>
            </a:lvl2pPr>
            <a:lvl3pPr>
              <a:buNone/>
              <a:defRPr sz="1650" b="0">
                <a:solidFill>
                  <a:srgbClr val="64748B"/>
                </a:solidFill>
                <a:latin typeface="DejaVu Sans"/>
                <a:ea typeface="DejaVu Sans"/>
                <a:cs typeface="DejaVu Sans"/>
              </a:defRPr>
            </a:lvl3pPr>
            <a:lvl4pPr>
              <a:buNone/>
              <a:defRPr sz="1650" b="0">
                <a:solidFill>
                  <a:srgbClr val="64748B"/>
                </a:solidFill>
                <a:latin typeface="DejaVu Sans"/>
                <a:ea typeface="DejaVu Sans"/>
                <a:cs typeface="DejaVu Sans"/>
              </a:defRPr>
            </a:lvl4pPr>
            <a:lvl5pPr>
              <a:buNone/>
              <a:defRPr sz="1650" b="0">
                <a:solidFill>
                  <a:srgbClr val="64748B"/>
                </a:solidFill>
                <a:latin typeface="DejaVu Sans"/>
                <a:ea typeface="DejaVu Sans"/>
                <a:cs typeface="DejaVu Sans"/>
              </a:defRPr>
            </a:lvl5pPr>
            <a:lvl6pPr>
              <a:buNone/>
              <a:defRPr sz="1650" b="0">
                <a:solidFill>
                  <a:srgbClr val="64748B"/>
                </a:solidFill>
                <a:latin typeface="DejaVu Sans"/>
                <a:ea typeface="DejaVu Sans"/>
                <a:cs typeface="DejaVu Sans"/>
              </a:defRPr>
            </a:lvl6pPr>
            <a:lvl7pPr>
              <a:buNone/>
              <a:defRPr sz="1650" b="0">
                <a:solidFill>
                  <a:srgbClr val="64748B"/>
                </a:solidFill>
                <a:latin typeface="DejaVu Sans"/>
                <a:ea typeface="DejaVu Sans"/>
                <a:cs typeface="DejaVu Sans"/>
              </a:defRPr>
            </a:lvl7pPr>
            <a:lvl8pPr>
              <a:buNone/>
              <a:defRPr sz="1650" b="0">
                <a:solidFill>
                  <a:srgbClr val="64748B"/>
                </a:solidFill>
                <a:latin typeface="DejaVu Sans"/>
                <a:ea typeface="DejaVu Sans"/>
                <a:cs typeface="DejaVu Sans"/>
              </a:defRPr>
            </a:lvl8pPr>
            <a:lvl9pPr>
              <a:buNone/>
              <a:defRPr sz="1650" b="0">
                <a:solidFill>
                  <a:srgbClr val="64748B"/>
                </a:solidFill>
                <a:latin typeface="DejaVu Sans"/>
                <a:ea typeface="DejaVu Sans"/>
                <a:cs typeface="DejaVu Sans"/>
              </a:defRPr>
            </a:lvl9pPr>
          </a:lstStyle>
          <a:p xmlns:a="http://schemas.openxmlformats.org/drawingml/2006/main">
            <a:pPr>
              <a:buNone/>
              <a:defRPr sz="1650" b="0">
                <a:solidFill>
                  <a:srgbClr val="64748B"/>
                </a:solidFill>
                <a:latin typeface="DejaVu Sans"/>
                <a:ea typeface="DejaVu Sans"/>
                <a:cs typeface="DejaVu Sans"/>
              </a:defRPr>
            </a:pPr>
            <a:r>
              <a:rPr sz="1650" b="0">
                <a:solidFill>
                  <a:srgbClr val="64748B"/>
                </a:solidFill>
                <a:latin typeface="DejaVu Sans"/>
                <a:ea typeface="DejaVu Sans"/>
                <a:cs typeface="DejaVu Sans"/>
              </a:rPr>
              <a:t>retailer sales</a:t>
            </a:r>
          </a:p>
        </p:txBody>
      </p:sp>
      <p:sp>
        <p:nvSpPr>
          <p:cNvPr id="7" name="">
            <a:extLst xmlns:a="http://schemas.openxmlformats.org/drawingml/2006/main">
              <a:ext uri="{FF2B5EF4-FFF2-40B4-BE49-F238E27FC236}">
                <a16:creationId xmlns:a16="http://schemas.microsoft.com/office/drawing/2014/main" id="{A44A1E63-8068-4B94-9DC5-8F6389E2F138}"/>
              </a:ext>
            </a:extLst>
          </p:cNvPr>
          <p:cNvSpPr>
            <a:spLocks xmlns:a="http://schemas.openxmlformats.org/drawingml/2006/main" noGrp="1"/>
          </p:cNvSpPr>
          <p:nvPr/>
        </p:nvSpPr>
        <p:spPr>
          <a:xfrm xmlns:a="http://schemas.openxmlformats.org/drawingml/2006/main">
            <a:off x="8782050" y="3752850"/>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275" b="1">
                <a:solidFill>
                  <a:srgbClr val="17243B"/>
                </a:solidFill>
                <a:latin typeface="DejaVu Sans"/>
                <a:ea typeface="DejaVu Sans"/>
                <a:cs typeface="DejaVu Sans"/>
              </a:defRPr>
            </a:defPPr>
            <a:lvl1pPr>
              <a:buNone/>
              <a:defRPr sz="4275" b="1">
                <a:solidFill>
                  <a:srgbClr val="17243B"/>
                </a:solidFill>
                <a:latin typeface="DejaVu Sans"/>
                <a:ea typeface="DejaVu Sans"/>
                <a:cs typeface="DejaVu Sans"/>
              </a:defRPr>
            </a:lvl1pPr>
            <a:lvl2pPr>
              <a:buNone/>
              <a:defRPr sz="4275" b="1">
                <a:solidFill>
                  <a:srgbClr val="17243B"/>
                </a:solidFill>
                <a:latin typeface="DejaVu Sans"/>
                <a:ea typeface="DejaVu Sans"/>
                <a:cs typeface="DejaVu Sans"/>
              </a:defRPr>
            </a:lvl2pPr>
            <a:lvl3pPr>
              <a:buNone/>
              <a:defRPr sz="4275" b="1">
                <a:solidFill>
                  <a:srgbClr val="17243B"/>
                </a:solidFill>
                <a:latin typeface="DejaVu Sans"/>
                <a:ea typeface="DejaVu Sans"/>
                <a:cs typeface="DejaVu Sans"/>
              </a:defRPr>
            </a:lvl3pPr>
            <a:lvl4pPr>
              <a:buNone/>
              <a:defRPr sz="4275" b="1">
                <a:solidFill>
                  <a:srgbClr val="17243B"/>
                </a:solidFill>
                <a:latin typeface="DejaVu Sans"/>
                <a:ea typeface="DejaVu Sans"/>
                <a:cs typeface="DejaVu Sans"/>
              </a:defRPr>
            </a:lvl4pPr>
            <a:lvl5pPr>
              <a:buNone/>
              <a:defRPr sz="4275" b="1">
                <a:solidFill>
                  <a:srgbClr val="17243B"/>
                </a:solidFill>
                <a:latin typeface="DejaVu Sans"/>
                <a:ea typeface="DejaVu Sans"/>
                <a:cs typeface="DejaVu Sans"/>
              </a:defRPr>
            </a:lvl5pPr>
            <a:lvl6pPr>
              <a:buNone/>
              <a:defRPr sz="4275" b="1">
                <a:solidFill>
                  <a:srgbClr val="17243B"/>
                </a:solidFill>
                <a:latin typeface="DejaVu Sans"/>
                <a:ea typeface="DejaVu Sans"/>
                <a:cs typeface="DejaVu Sans"/>
              </a:defRPr>
            </a:lvl6pPr>
            <a:lvl7pPr>
              <a:buNone/>
              <a:defRPr sz="4275" b="1">
                <a:solidFill>
                  <a:srgbClr val="17243B"/>
                </a:solidFill>
                <a:latin typeface="DejaVu Sans"/>
                <a:ea typeface="DejaVu Sans"/>
                <a:cs typeface="DejaVu Sans"/>
              </a:defRPr>
            </a:lvl7pPr>
            <a:lvl8pPr>
              <a:buNone/>
              <a:defRPr sz="4275" b="1">
                <a:solidFill>
                  <a:srgbClr val="17243B"/>
                </a:solidFill>
                <a:latin typeface="DejaVu Sans"/>
                <a:ea typeface="DejaVu Sans"/>
                <a:cs typeface="DejaVu Sans"/>
              </a:defRPr>
            </a:lvl8pPr>
            <a:lvl9pPr>
              <a:buNone/>
              <a:defRPr sz="4275" b="1">
                <a:solidFill>
                  <a:srgbClr val="17243B"/>
                </a:solidFill>
                <a:latin typeface="DejaVu Sans"/>
                <a:ea typeface="DejaVu Sans"/>
                <a:cs typeface="DejaVu Sans"/>
              </a:defRPr>
            </a:lvl9pPr>
          </a:lstStyle>
          <a:p xmlns:a="http://schemas.openxmlformats.org/drawingml/2006/main">
            <a:pPr>
              <a:buNone/>
              <a:defRPr sz="4275" b="1">
                <a:solidFill>
                  <a:srgbClr val="17243B"/>
                </a:solidFill>
                <a:latin typeface="DejaVu Sans"/>
                <a:ea typeface="DejaVu Sans"/>
                <a:cs typeface="DejaVu Sans"/>
              </a:defRPr>
            </a:pPr>
            <a:r>
              <a:rPr sz="4275" b="1">
                <a:solidFill>
                  <a:srgbClr val="17243B"/>
                </a:solidFill>
                <a:latin typeface="DejaVu Sans"/>
                <a:ea typeface="DejaVu Sans"/>
                <a:cs typeface="DejaVu Sans"/>
              </a:rPr>
              <a:t>$29.21</a:t>
            </a:r>
          </a:p>
        </p:txBody>
      </p:sp>
      <p:sp>
        <p:nvSpPr>
          <p:cNvPr id="8" name="">
            <a:extLst xmlns:a="http://schemas.openxmlformats.org/drawingml/2006/main">
              <a:ext uri="{FF2B5EF4-FFF2-40B4-BE49-F238E27FC236}">
                <a16:creationId xmlns:a16="http://schemas.microsoft.com/office/drawing/2014/main" id="{0669451C-82EE-468F-B78A-BD352DE7AA4C}"/>
              </a:ext>
            </a:extLst>
          </p:cNvPr>
          <p:cNvSpPr>
            <a:spLocks xmlns:a="http://schemas.openxmlformats.org/drawingml/2006/main" noGrp="1"/>
          </p:cNvSpPr>
          <p:nvPr/>
        </p:nvSpPr>
        <p:spPr>
          <a:xfrm xmlns:a="http://schemas.openxmlformats.org/drawingml/2006/main">
            <a:off x="8820150" y="4552950"/>
            <a:ext cx="266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64748B"/>
                </a:solidFill>
                <a:latin typeface="DejaVu Sans"/>
                <a:ea typeface="DejaVu Sans"/>
                <a:cs typeface="DejaVu Sans"/>
              </a:defRPr>
            </a:defPPr>
            <a:lvl1pPr>
              <a:buNone/>
              <a:defRPr sz="1650" b="0">
                <a:solidFill>
                  <a:srgbClr val="64748B"/>
                </a:solidFill>
                <a:latin typeface="DejaVu Sans"/>
                <a:ea typeface="DejaVu Sans"/>
                <a:cs typeface="DejaVu Sans"/>
              </a:defRPr>
            </a:lvl1pPr>
            <a:lvl2pPr>
              <a:buNone/>
              <a:defRPr sz="1650" b="0">
                <a:solidFill>
                  <a:srgbClr val="64748B"/>
                </a:solidFill>
                <a:latin typeface="DejaVu Sans"/>
                <a:ea typeface="DejaVu Sans"/>
                <a:cs typeface="DejaVu Sans"/>
              </a:defRPr>
            </a:lvl2pPr>
            <a:lvl3pPr>
              <a:buNone/>
              <a:defRPr sz="1650" b="0">
                <a:solidFill>
                  <a:srgbClr val="64748B"/>
                </a:solidFill>
                <a:latin typeface="DejaVu Sans"/>
                <a:ea typeface="DejaVu Sans"/>
                <a:cs typeface="DejaVu Sans"/>
              </a:defRPr>
            </a:lvl3pPr>
            <a:lvl4pPr>
              <a:buNone/>
              <a:defRPr sz="1650" b="0">
                <a:solidFill>
                  <a:srgbClr val="64748B"/>
                </a:solidFill>
                <a:latin typeface="DejaVu Sans"/>
                <a:ea typeface="DejaVu Sans"/>
                <a:cs typeface="DejaVu Sans"/>
              </a:defRPr>
            </a:lvl4pPr>
            <a:lvl5pPr>
              <a:buNone/>
              <a:defRPr sz="1650" b="0">
                <a:solidFill>
                  <a:srgbClr val="64748B"/>
                </a:solidFill>
                <a:latin typeface="DejaVu Sans"/>
                <a:ea typeface="DejaVu Sans"/>
                <a:cs typeface="DejaVu Sans"/>
              </a:defRPr>
            </a:lvl5pPr>
            <a:lvl6pPr>
              <a:buNone/>
              <a:defRPr sz="1650" b="0">
                <a:solidFill>
                  <a:srgbClr val="64748B"/>
                </a:solidFill>
                <a:latin typeface="DejaVu Sans"/>
                <a:ea typeface="DejaVu Sans"/>
                <a:cs typeface="DejaVu Sans"/>
              </a:defRPr>
            </a:lvl6pPr>
            <a:lvl7pPr>
              <a:buNone/>
              <a:defRPr sz="1650" b="0">
                <a:solidFill>
                  <a:srgbClr val="64748B"/>
                </a:solidFill>
                <a:latin typeface="DejaVu Sans"/>
                <a:ea typeface="DejaVu Sans"/>
                <a:cs typeface="DejaVu Sans"/>
              </a:defRPr>
            </a:lvl7pPr>
            <a:lvl8pPr>
              <a:buNone/>
              <a:defRPr sz="1650" b="0">
                <a:solidFill>
                  <a:srgbClr val="64748B"/>
                </a:solidFill>
                <a:latin typeface="DejaVu Sans"/>
                <a:ea typeface="DejaVu Sans"/>
                <a:cs typeface="DejaVu Sans"/>
              </a:defRPr>
            </a:lvl8pPr>
            <a:lvl9pPr>
              <a:buNone/>
              <a:defRPr sz="1650" b="0">
                <a:solidFill>
                  <a:srgbClr val="64748B"/>
                </a:solidFill>
                <a:latin typeface="DejaVu Sans"/>
                <a:ea typeface="DejaVu Sans"/>
                <a:cs typeface="DejaVu Sans"/>
              </a:defRPr>
            </a:lvl9pPr>
          </a:lstStyle>
          <a:p xmlns:a="http://schemas.openxmlformats.org/drawingml/2006/main">
            <a:pPr>
              <a:buNone/>
              <a:defRPr sz="1650" b="0">
                <a:solidFill>
                  <a:srgbClr val="64748B"/>
                </a:solidFill>
                <a:latin typeface="DejaVu Sans"/>
                <a:ea typeface="DejaVu Sans"/>
                <a:cs typeface="DejaVu Sans"/>
              </a:defRPr>
            </a:pPr>
            <a:r>
              <a:rPr sz="1650" b="0">
                <a:solidFill>
                  <a:srgbClr val="64748B"/>
                </a:solidFill>
                <a:latin typeface="DejaVu Sans"/>
                <a:ea typeface="DejaVu Sans"/>
                <a:cs typeface="DejaVu Sans"/>
              </a:rPr>
              <a:t>weighted basket value</a:t>
            </a:r>
          </a:p>
        </p:txBody>
      </p:sp>
      <p:sp>
        <p:nvSpPr>
          <p:cNvPr id="9" name="">
            <a:extLst xmlns:a="http://schemas.openxmlformats.org/drawingml/2006/main">
              <a:ext uri="{FF2B5EF4-FFF2-40B4-BE49-F238E27FC236}">
                <a16:creationId xmlns:a16="http://schemas.microsoft.com/office/drawing/2014/main" id="{639D1F67-C32A-44A1-B30C-65EF42B95BE7}"/>
              </a:ext>
            </a:extLst>
          </p:cNvPr>
          <p:cNvSpPr>
            <a:spLocks xmlns:a="http://schemas.openxmlformats.org/drawingml/2006/main" noGrp="1"/>
          </p:cNvSpPr>
          <p:nvPr/>
        </p:nvSpPr>
        <p:spPr>
          <a:xfrm xmlns:a="http://schemas.openxmlformats.org/drawingml/2006/main">
            <a:off x="666750" y="5753100"/>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7243B"/>
                </a:solidFill>
                <a:latin typeface="DejaVu Sans"/>
                <a:ea typeface="DejaVu Sans"/>
                <a:cs typeface="DejaVu Sans"/>
              </a:defRPr>
            </a:defPPr>
            <a:lvl1pPr algn="l">
              <a:buNone/>
              <a:defRPr sz="1575" b="0">
                <a:solidFill>
                  <a:srgbClr val="64748B"/>
                </a:solidFill>
                <a:latin typeface="DejaVu Sans"/>
                <a:ea typeface="DejaVu Sans"/>
                <a:cs typeface="DejaVu Sans"/>
              </a:defRPr>
            </a:lvl1pPr>
            <a:lvl2pPr algn="l">
              <a:buNone/>
              <a:defRPr sz="1575" b="0">
                <a:solidFill>
                  <a:srgbClr val="64748B"/>
                </a:solidFill>
                <a:latin typeface="DejaVu Sans"/>
                <a:ea typeface="DejaVu Sans"/>
                <a:cs typeface="DejaVu Sans"/>
              </a:defRPr>
            </a:lvl2pPr>
            <a:lvl3pPr algn="l">
              <a:buNone/>
              <a:defRPr sz="1575" b="0">
                <a:solidFill>
                  <a:srgbClr val="64748B"/>
                </a:solidFill>
                <a:latin typeface="DejaVu Sans"/>
                <a:ea typeface="DejaVu Sans"/>
                <a:cs typeface="DejaVu Sans"/>
              </a:defRPr>
            </a:lvl3pPr>
            <a:lvl4pPr algn="l">
              <a:buNone/>
              <a:defRPr sz="1575" b="0">
                <a:solidFill>
                  <a:srgbClr val="64748B"/>
                </a:solidFill>
                <a:latin typeface="DejaVu Sans"/>
                <a:ea typeface="DejaVu Sans"/>
                <a:cs typeface="DejaVu Sans"/>
              </a:defRPr>
            </a:lvl4pPr>
            <a:lvl5pPr algn="l">
              <a:buNone/>
              <a:defRPr sz="1575" b="0">
                <a:solidFill>
                  <a:srgbClr val="64748B"/>
                </a:solidFill>
                <a:latin typeface="DejaVu Sans"/>
                <a:ea typeface="DejaVu Sans"/>
                <a:cs typeface="DejaVu Sans"/>
              </a:defRPr>
            </a:lvl5pPr>
            <a:lvl6pPr algn="l">
              <a:buNone/>
              <a:defRPr sz="1575" b="0">
                <a:solidFill>
                  <a:srgbClr val="64748B"/>
                </a:solidFill>
                <a:latin typeface="DejaVu Sans"/>
                <a:ea typeface="DejaVu Sans"/>
                <a:cs typeface="DejaVu Sans"/>
              </a:defRPr>
            </a:lvl6pPr>
            <a:lvl7pPr algn="l">
              <a:buNone/>
              <a:defRPr sz="1575" b="0">
                <a:solidFill>
                  <a:srgbClr val="64748B"/>
                </a:solidFill>
                <a:latin typeface="DejaVu Sans"/>
                <a:ea typeface="DejaVu Sans"/>
                <a:cs typeface="DejaVu Sans"/>
              </a:defRPr>
            </a:lvl7pPr>
            <a:lvl8pPr algn="l">
              <a:buNone/>
              <a:defRPr sz="1575" b="0">
                <a:solidFill>
                  <a:srgbClr val="64748B"/>
                </a:solidFill>
                <a:latin typeface="DejaVu Sans"/>
                <a:ea typeface="DejaVu Sans"/>
                <a:cs typeface="DejaVu Sans"/>
              </a:defRPr>
            </a:lvl8pPr>
            <a:lvl9pPr algn="l">
              <a:buNone/>
              <a:defRPr sz="1575" b="0">
                <a:solidFill>
                  <a:srgbClr val="64748B"/>
                </a:solidFill>
                <a:latin typeface="DejaVu Sans"/>
                <a:ea typeface="DejaVu Sans"/>
                <a:cs typeface="DejaVu Sans"/>
              </a:defRPr>
            </a:lvl9pPr>
          </a:lstStyle>
          <a:p xmlns:a="http://schemas.openxmlformats.org/drawingml/2006/main">
            <a:pPr algn="l">
              <a:buNone/>
              <a:defRPr sz="1575" b="0">
                <a:solidFill>
                  <a:srgbClr val="17243B"/>
                </a:solidFill>
                <a:latin typeface="DejaVu Sans"/>
                <a:ea typeface="DejaVu Sans"/>
                <a:cs typeface="DejaVu Sans"/>
              </a:defRPr>
            </a:pPr>
            <a:r>
              <a:rPr sz="1575" b="0">
                <a:solidFill>
                  <a:srgbClr val="17243B"/>
                </a:solidFill>
                <a:latin typeface="DejaVu Sans"/>
                <a:ea typeface="DejaVu Sans"/>
                <a:cs typeface="DejaVu Sans"/>
              </a:rPr>
              <a:t>Each column represents 10% of shoppers, ranked by sales.</a:t>
            </a:r>
          </a:p>
          <a:p xmlns:a="http://schemas.openxmlformats.org/drawingml/2006/main">
            <a:pPr algn="l">
              <a:buNone/>
              <a:defRPr sz="1575" b="0">
                <a:solidFill>
                  <a:srgbClr val="17243B"/>
                </a:solidFill>
                <a:latin typeface="DejaVu Sans"/>
                <a:ea typeface="DejaVu Sans"/>
                <a:cs typeface="DejaVu Sans"/>
              </a:defRPr>
            </a:pPr>
            <a:r>
              <a:rPr sz="1575" b="0">
                <a:solidFill>
                  <a:srgbClr val="17243B"/>
                </a:solidFill>
                <a:latin typeface="DejaVu Sans"/>
                <a:ea typeface="DejaVu Sans"/>
                <a:cs typeface="DejaVu Sans"/>
              </a:rPr>
              <a:t>This concentration gives a starting point for focused retention tests.</a:t>
            </a:r>
          </a:p>
        </p:txBody>
      </p:sp>
    </p:spTree>
    <p:extLst>
      <p:ext uri="{BB962C8B-B14F-4D97-AF65-F5344CB8AC3E}">
        <p14:creationId xmlns:p14="http://schemas.microsoft.com/office/powerpoint/2010/main" val="9745554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ECFADA-8B67-4880-B236-E9F71A0EFDD9}"/>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225" b="1">
                <a:solidFill>
                  <a:srgbClr val="17243B"/>
                </a:solidFill>
                <a:latin typeface="DejaVu Sans"/>
                <a:ea typeface="DejaVu Sans"/>
                <a:cs typeface="DejaVu Sans"/>
              </a:defRPr>
            </a:defPPr>
            <a:lvl1pPr>
              <a:buNone/>
              <a:defRPr sz="3225" b="1">
                <a:solidFill>
                  <a:srgbClr val="17243B"/>
                </a:solidFill>
                <a:latin typeface="DejaVu Sans"/>
                <a:ea typeface="DejaVu Sans"/>
                <a:cs typeface="DejaVu Sans"/>
              </a:defRPr>
            </a:lvl1pPr>
            <a:lvl2pPr>
              <a:buNone/>
              <a:defRPr sz="3225" b="1">
                <a:solidFill>
                  <a:srgbClr val="17243B"/>
                </a:solidFill>
                <a:latin typeface="DejaVu Sans"/>
                <a:ea typeface="DejaVu Sans"/>
                <a:cs typeface="DejaVu Sans"/>
              </a:defRPr>
            </a:lvl2pPr>
            <a:lvl3pPr>
              <a:buNone/>
              <a:defRPr sz="3225" b="1">
                <a:solidFill>
                  <a:srgbClr val="17243B"/>
                </a:solidFill>
                <a:latin typeface="DejaVu Sans"/>
                <a:ea typeface="DejaVu Sans"/>
                <a:cs typeface="DejaVu Sans"/>
              </a:defRPr>
            </a:lvl3pPr>
            <a:lvl4pPr>
              <a:buNone/>
              <a:defRPr sz="3225" b="1">
                <a:solidFill>
                  <a:srgbClr val="17243B"/>
                </a:solidFill>
                <a:latin typeface="DejaVu Sans"/>
                <a:ea typeface="DejaVu Sans"/>
                <a:cs typeface="DejaVu Sans"/>
              </a:defRPr>
            </a:lvl4pPr>
            <a:lvl5pPr>
              <a:buNone/>
              <a:defRPr sz="3225" b="1">
                <a:solidFill>
                  <a:srgbClr val="17243B"/>
                </a:solidFill>
                <a:latin typeface="DejaVu Sans"/>
                <a:ea typeface="DejaVu Sans"/>
                <a:cs typeface="DejaVu Sans"/>
              </a:defRPr>
            </a:lvl5pPr>
            <a:lvl6pPr>
              <a:buNone/>
              <a:defRPr sz="3225" b="1">
                <a:solidFill>
                  <a:srgbClr val="17243B"/>
                </a:solidFill>
                <a:latin typeface="DejaVu Sans"/>
                <a:ea typeface="DejaVu Sans"/>
                <a:cs typeface="DejaVu Sans"/>
              </a:defRPr>
            </a:lvl6pPr>
            <a:lvl7pPr>
              <a:buNone/>
              <a:defRPr sz="3225" b="1">
                <a:solidFill>
                  <a:srgbClr val="17243B"/>
                </a:solidFill>
                <a:latin typeface="DejaVu Sans"/>
                <a:ea typeface="DejaVu Sans"/>
                <a:cs typeface="DejaVu Sans"/>
              </a:defRPr>
            </a:lvl7pPr>
            <a:lvl8pPr>
              <a:buNone/>
              <a:defRPr sz="3225" b="1">
                <a:solidFill>
                  <a:srgbClr val="17243B"/>
                </a:solidFill>
                <a:latin typeface="DejaVu Sans"/>
                <a:ea typeface="DejaVu Sans"/>
                <a:cs typeface="DejaVu Sans"/>
              </a:defRPr>
            </a:lvl8pPr>
            <a:lvl9pPr>
              <a:buNone/>
              <a:defRPr sz="3225" b="1">
                <a:solidFill>
                  <a:srgbClr val="17243B"/>
                </a:solidFill>
                <a:latin typeface="DejaVu Sans"/>
                <a:ea typeface="DejaVu Sans"/>
                <a:cs typeface="DejaVu Sans"/>
              </a:defRPr>
            </a:lvl9pPr>
          </a:lstStyle>
          <a:p xmlns:a="http://schemas.openxmlformats.org/drawingml/2006/main">
            <a:pPr>
              <a:buNone/>
              <a:defRPr sz="3225" b="1">
                <a:solidFill>
                  <a:srgbClr val="17243B"/>
                </a:solidFill>
                <a:latin typeface="DejaVu Sans"/>
                <a:ea typeface="DejaVu Sans"/>
                <a:cs typeface="DejaVu Sans"/>
              </a:defRPr>
            </a:pPr>
            <a:r>
              <a:rPr sz="3225" b="1">
                <a:solidFill>
                  <a:srgbClr val="17243B"/>
                </a:solidFill>
                <a:latin typeface="DejaVu Sans"/>
                <a:ea typeface="DejaVu Sans"/>
                <a:cs typeface="DejaVu Sans"/>
              </a:rPr>
              <a:t>Three segments call for different priorities</a:t>
            </a:r>
          </a:p>
        </p:txBody>
      </p:sp>
      <p:sp>
        <p:nvSpPr>
          <p:cNvPr id="2" name="">
            <a:extLst xmlns:a="http://schemas.openxmlformats.org/drawingml/2006/main">
              <a:ext uri="{FF2B5EF4-FFF2-40B4-BE49-F238E27FC236}">
                <a16:creationId xmlns:a16="http://schemas.microsoft.com/office/drawing/2014/main" id="{50E5AE14-2371-4567-8784-453646B2A5F1}"/>
              </a:ext>
            </a:extLst>
          </p:cNvPr>
          <p:cNvSpPr>
            <a:spLocks xmlns:a="http://schemas.openxmlformats.org/drawingml/2006/main" noGrp="1"/>
          </p:cNvSpPr>
          <p:nvPr/>
        </p:nvSpPr>
        <p:spPr>
          <a:xfrm xmlns:a="http://schemas.openxmlformats.org/drawingml/2006/main">
            <a:off x="609600" y="6429375"/>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050" b="0">
                <a:solidFill>
                  <a:srgbClr val="64748B"/>
                </a:solidFill>
                <a:latin typeface="DejaVu Sans"/>
                <a:ea typeface="DejaVu Sans"/>
                <a:cs typeface="DejaVu Sans"/>
              </a:defRPr>
            </a:defPPr>
            <a:lvl1pPr>
              <a:buNone/>
              <a:defRPr sz="1050" b="0">
                <a:solidFill>
                  <a:srgbClr val="64748B"/>
                </a:solidFill>
                <a:latin typeface="DejaVu Sans"/>
                <a:ea typeface="DejaVu Sans"/>
                <a:cs typeface="DejaVu Sans"/>
              </a:defRPr>
            </a:lvl1pPr>
            <a:lvl2pPr>
              <a:buNone/>
              <a:defRPr sz="1050" b="0">
                <a:solidFill>
                  <a:srgbClr val="64748B"/>
                </a:solidFill>
                <a:latin typeface="DejaVu Sans"/>
                <a:ea typeface="DejaVu Sans"/>
                <a:cs typeface="DejaVu Sans"/>
              </a:defRPr>
            </a:lvl2pPr>
            <a:lvl3pPr>
              <a:buNone/>
              <a:defRPr sz="1050" b="0">
                <a:solidFill>
                  <a:srgbClr val="64748B"/>
                </a:solidFill>
                <a:latin typeface="DejaVu Sans"/>
                <a:ea typeface="DejaVu Sans"/>
                <a:cs typeface="DejaVu Sans"/>
              </a:defRPr>
            </a:lvl3pPr>
            <a:lvl4pPr>
              <a:buNone/>
              <a:defRPr sz="1050" b="0">
                <a:solidFill>
                  <a:srgbClr val="64748B"/>
                </a:solidFill>
                <a:latin typeface="DejaVu Sans"/>
                <a:ea typeface="DejaVu Sans"/>
                <a:cs typeface="DejaVu Sans"/>
              </a:defRPr>
            </a:lvl4pPr>
            <a:lvl5pPr>
              <a:buNone/>
              <a:defRPr sz="1050" b="0">
                <a:solidFill>
                  <a:srgbClr val="64748B"/>
                </a:solidFill>
                <a:latin typeface="DejaVu Sans"/>
                <a:ea typeface="DejaVu Sans"/>
                <a:cs typeface="DejaVu Sans"/>
              </a:defRPr>
            </a:lvl5pPr>
            <a:lvl6pPr>
              <a:buNone/>
              <a:defRPr sz="1050" b="0">
                <a:solidFill>
                  <a:srgbClr val="64748B"/>
                </a:solidFill>
                <a:latin typeface="DejaVu Sans"/>
                <a:ea typeface="DejaVu Sans"/>
                <a:cs typeface="DejaVu Sans"/>
              </a:defRPr>
            </a:lvl6pPr>
            <a:lvl7pPr>
              <a:buNone/>
              <a:defRPr sz="1050" b="0">
                <a:solidFill>
                  <a:srgbClr val="64748B"/>
                </a:solidFill>
                <a:latin typeface="DejaVu Sans"/>
                <a:ea typeface="DejaVu Sans"/>
                <a:cs typeface="DejaVu Sans"/>
              </a:defRPr>
            </a:lvl7pPr>
            <a:lvl8pPr>
              <a:buNone/>
              <a:defRPr sz="1050" b="0">
                <a:solidFill>
                  <a:srgbClr val="64748B"/>
                </a:solidFill>
                <a:latin typeface="DejaVu Sans"/>
                <a:ea typeface="DejaVu Sans"/>
                <a:cs typeface="DejaVu Sans"/>
              </a:defRPr>
            </a:lvl8pPr>
            <a:lvl9pPr>
              <a:buNone/>
              <a:defRPr sz="1050" b="0">
                <a:solidFill>
                  <a:srgbClr val="64748B"/>
                </a:solidFill>
                <a:latin typeface="DejaVu Sans"/>
                <a:ea typeface="DejaVu Sans"/>
                <a:cs typeface="DejaVu Sans"/>
              </a:defRPr>
            </a:lvl9pPr>
          </a:lstStyle>
          <a:p xmlns:a="http://schemas.openxmlformats.org/drawingml/2006/main">
            <a:pPr>
              <a:buNone/>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FMCG Consumer Growth &amp; Promotion Insights</a:t>
            </a:r>
          </a:p>
        </p:txBody>
      </p:sp>
      <p:sp>
        <p:nvSpPr>
          <p:cNvPr id="3" name="">
            <a:extLst xmlns:a="http://schemas.openxmlformats.org/drawingml/2006/main">
              <a:ext uri="{FF2B5EF4-FFF2-40B4-BE49-F238E27FC236}">
                <a16:creationId xmlns:a16="http://schemas.microsoft.com/office/drawing/2014/main" id="{37131E6D-B065-4D0A-9515-2272E7328A30}"/>
              </a:ext>
            </a:extLst>
          </p:cNvPr>
          <p:cNvSpPr>
            <a:spLocks xmlns:a="http://schemas.openxmlformats.org/drawingml/2006/main" noGrp="1"/>
          </p:cNvSpPr>
          <p:nvPr/>
        </p:nvSpPr>
        <p:spPr>
          <a:xfrm xmlns:a="http://schemas.openxmlformats.org/drawingml/2006/main">
            <a:off x="11049000" y="64198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DejaVu Sans"/>
                <a:ea typeface="DejaVu Sans"/>
                <a:cs typeface="DejaVu Sans"/>
              </a:defRPr>
            </a:defPPr>
            <a:lvl1pPr algn="l">
              <a:buNone/>
              <a:defRPr sz="1200" b="0">
                <a:solidFill>
                  <a:srgbClr val="64748B"/>
                </a:solidFill>
                <a:latin typeface="DejaVu Sans"/>
                <a:ea typeface="DejaVu Sans"/>
                <a:cs typeface="DejaVu Sans"/>
              </a:defRPr>
            </a:lvl1pPr>
            <a:lvl2pPr algn="l">
              <a:buNone/>
              <a:defRPr sz="1200" b="0">
                <a:solidFill>
                  <a:srgbClr val="64748B"/>
                </a:solidFill>
                <a:latin typeface="DejaVu Sans"/>
                <a:ea typeface="DejaVu Sans"/>
                <a:cs typeface="DejaVu Sans"/>
              </a:defRPr>
            </a:lvl2pPr>
            <a:lvl3pPr algn="l">
              <a:buNone/>
              <a:defRPr sz="1200" b="0">
                <a:solidFill>
                  <a:srgbClr val="64748B"/>
                </a:solidFill>
                <a:latin typeface="DejaVu Sans"/>
                <a:ea typeface="DejaVu Sans"/>
                <a:cs typeface="DejaVu Sans"/>
              </a:defRPr>
            </a:lvl3pPr>
            <a:lvl4pPr algn="l">
              <a:buNone/>
              <a:defRPr sz="1200" b="0">
                <a:solidFill>
                  <a:srgbClr val="64748B"/>
                </a:solidFill>
                <a:latin typeface="DejaVu Sans"/>
                <a:ea typeface="DejaVu Sans"/>
                <a:cs typeface="DejaVu Sans"/>
              </a:defRPr>
            </a:lvl4pPr>
            <a:lvl5pPr algn="l">
              <a:buNone/>
              <a:defRPr sz="1200" b="0">
                <a:solidFill>
                  <a:srgbClr val="64748B"/>
                </a:solidFill>
                <a:latin typeface="DejaVu Sans"/>
                <a:ea typeface="DejaVu Sans"/>
                <a:cs typeface="DejaVu Sans"/>
              </a:defRPr>
            </a:lvl5pPr>
            <a:lvl6pPr algn="l">
              <a:buNone/>
              <a:defRPr sz="1200" b="0">
                <a:solidFill>
                  <a:srgbClr val="64748B"/>
                </a:solidFill>
                <a:latin typeface="DejaVu Sans"/>
                <a:ea typeface="DejaVu Sans"/>
                <a:cs typeface="DejaVu Sans"/>
              </a:defRPr>
            </a:lvl6pPr>
            <a:lvl7pPr algn="l">
              <a:buNone/>
              <a:defRPr sz="1200" b="0">
                <a:solidFill>
                  <a:srgbClr val="64748B"/>
                </a:solidFill>
                <a:latin typeface="DejaVu Sans"/>
                <a:ea typeface="DejaVu Sans"/>
                <a:cs typeface="DejaVu Sans"/>
              </a:defRPr>
            </a:lvl7pPr>
            <a:lvl8pPr algn="l">
              <a:buNone/>
              <a:defRPr sz="1200" b="0">
                <a:solidFill>
                  <a:srgbClr val="64748B"/>
                </a:solidFill>
                <a:latin typeface="DejaVu Sans"/>
                <a:ea typeface="DejaVu Sans"/>
                <a:cs typeface="DejaVu Sans"/>
              </a:defRPr>
            </a:lvl8pPr>
            <a:lvl9pPr algn="l">
              <a:buNone/>
              <a:defRPr sz="1200" b="0">
                <a:solidFill>
                  <a:srgbClr val="64748B"/>
                </a:solidFill>
                <a:latin typeface="DejaVu Sans"/>
                <a:ea typeface="DejaVu Sans"/>
                <a:cs typeface="DejaVu Sans"/>
              </a:defRPr>
            </a:lvl9pPr>
          </a:lstStyle>
          <a:p xmlns:a="http://schemas.openxmlformats.org/drawingml/2006/main">
            <a:pPr algn="l">
              <a:buNone/>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04</a:t>
            </a:r>
          </a:p>
        </p:txBody>
      </p:sp>
      <p:graphicFrame>
        <p:nvGraphicFramePr>
          <p:cNvPr id="4" name="">
            <a:extLst xmlns:a="http://schemas.openxmlformats.org/drawingml/2006/main">
              <a:ext uri="{FF2B5EF4-FFF2-40B4-BE49-F238E27FC236}">
                <a16:creationId xmlns:a16="http://schemas.microsoft.com/office/drawing/2014/main" id="{A2297526-7369-4B0D-B4F9-42DA54A72D96}"/>
              </a:ext>
            </a:extLst>
          </p:cNvPr>
          <p:cNvGraphicFramePr/>
          <p:nvPr/>
        </p:nvGraphicFramePr>
        <p:xfrm>
          <a:off xmlns:a="http://schemas.openxmlformats.org/drawingml/2006/main" x="609600" y="1885950"/>
          <a:ext xmlns:a="http://schemas.openxmlformats.org/drawingml/2006/main" cx="10972800" cy="3238500"/>
        </p:xfrm>
        <a:graphic xmlns:a="http://schemas.openxmlformats.org/drawingml/2006/main">
          <a:graphicData uri="http://schemas.openxmlformats.org/drawingml/2006/table">
            <a:tbl>
              <a:tblPr/>
              <a:tblGrid>
                <a:gridCol w="3190875"/>
                <a:gridCol w="1714500"/>
                <a:gridCol w="1809750"/>
                <a:gridCol w="2143125"/>
                <a:gridCol w="2114550"/>
              </a:tblGrid>
              <a:tr h="809625">
                <a:tc>
                  <a:txBody>
                    <a:bodyPr/>
                    <a:lstStyle/>
                    <a:p>
                      <a:r>
                        <a:rPr sz="1725" b="1">
                          <a:solidFill>
                            <a:srgbClr val="FFFFFF"/>
                          </a:solidFill>
                          <a:latin typeface="DejaVu Sans"/>
                          <a:ea typeface="DejaVu Sans"/>
                          <a:cs typeface="DejaVu Sans"/>
                        </a:rPr>
                        <a:t>Shopper segment</a:t>
                      </a:r>
                    </a:p>
                  </a:txBody>
                  <a:tcPr marL="152400" marR="152400" marT="133350" marB="133350" anchor="ctr">
                    <a:lnL w="4763">
                      <a:solidFill>
                        <a:srgbClr val="DFE6EF"/>
                      </a:solidFill>
                      <a:prstDash val="solid"/>
                    </a:lnL>
                    <a:lnR w="4763">
                      <a:solidFill>
                        <a:srgbClr val="DFE6EF"/>
                      </a:solidFill>
                      <a:prstDash val="solid"/>
                    </a:lnR>
                    <a:lnT w="4763">
                      <a:solidFill>
                        <a:srgbClr val="DFE6EF"/>
                      </a:solidFill>
                      <a:prstDash val="solid"/>
                    </a:lnT>
                    <a:lnB w="4763">
                      <a:solidFill>
                        <a:srgbClr val="DFE6EF"/>
                      </a:solidFill>
                      <a:prstDash val="solid"/>
                    </a:lnB>
                    <a:solidFill>
                      <a:srgbClr val="17243B"/>
                    </a:solidFill>
                  </a:tcPr>
                </a:tc>
                <a:tc>
                  <a:txBody>
                    <a:bodyPr/>
                    <a:lstStyle/>
                    <a:p>
                      <a:r>
                        <a:rPr sz="1725" b="1">
                          <a:solidFill>
                            <a:srgbClr val="FFFFFF"/>
                          </a:solidFill>
                          <a:latin typeface="DejaVu Sans"/>
                          <a:ea typeface="DejaVu Sans"/>
                          <a:cs typeface="DejaVu Sans"/>
                        </a:rPr>
                        <a:t>Customers</a:t>
                      </a:r>
                    </a:p>
                  </a:txBody>
                  <a:tcPr marL="152400" marR="152400" marT="133350" marB="133350" anchor="ctr">
                    <a:lnR w="4763">
                      <a:solidFill>
                        <a:srgbClr val="DFE6EF"/>
                      </a:solidFill>
                      <a:prstDash val="solid"/>
                    </a:lnR>
                    <a:lnT w="4763">
                      <a:solidFill>
                        <a:srgbClr val="DFE6EF"/>
                      </a:solidFill>
                      <a:prstDash val="solid"/>
                    </a:lnT>
                    <a:lnB w="4763">
                      <a:solidFill>
                        <a:srgbClr val="DFE6EF"/>
                      </a:solidFill>
                      <a:prstDash val="solid"/>
                    </a:lnB>
                    <a:solidFill>
                      <a:srgbClr val="17243B"/>
                    </a:solidFill>
                  </a:tcPr>
                </a:tc>
                <a:tc>
                  <a:txBody>
                    <a:bodyPr/>
                    <a:lstStyle/>
                    <a:p>
                      <a:r>
                        <a:rPr sz="1725" b="1">
                          <a:solidFill>
                            <a:srgbClr val="FFFFFF"/>
                          </a:solidFill>
                          <a:latin typeface="DejaVu Sans"/>
                          <a:ea typeface="DejaVu Sans"/>
                          <a:cs typeface="DejaVu Sans"/>
                        </a:rPr>
                        <a:t>Sales share</a:t>
                      </a:r>
                    </a:p>
                  </a:txBody>
                  <a:tcPr marL="152400" marR="152400" marT="133350" marB="133350" anchor="ctr">
                    <a:lnR w="4763">
                      <a:solidFill>
                        <a:srgbClr val="DFE6EF"/>
                      </a:solidFill>
                      <a:prstDash val="solid"/>
                    </a:lnR>
                    <a:lnT w="4763">
                      <a:solidFill>
                        <a:srgbClr val="DFE6EF"/>
                      </a:solidFill>
                      <a:prstDash val="solid"/>
                    </a:lnT>
                    <a:lnB w="4763">
                      <a:solidFill>
                        <a:srgbClr val="DFE6EF"/>
                      </a:solidFill>
                      <a:prstDash val="solid"/>
                    </a:lnB>
                    <a:solidFill>
                      <a:srgbClr val="17243B"/>
                    </a:solidFill>
                  </a:tcPr>
                </a:tc>
                <a:tc>
                  <a:txBody>
                    <a:bodyPr/>
                    <a:lstStyle/>
                    <a:p>
                      <a:r>
                        <a:rPr sz="1725" b="1">
                          <a:solidFill>
                            <a:srgbClr val="FFFFFF"/>
                          </a:solidFill>
                          <a:latin typeface="DejaVu Sans"/>
                          <a:ea typeface="DejaVu Sans"/>
                          <a:cs typeface="DejaVu Sans"/>
                        </a:rPr>
                        <a:t>Visits / active</a:t>
                      </a:r>
                    </a:p>
                    <a:p>
                      <a:r>
                        <a:rPr sz="1725" b="1">
                          <a:solidFill>
                            <a:srgbClr val="FFFFFF"/>
                          </a:solidFill>
                          <a:latin typeface="DejaVu Sans"/>
                          <a:ea typeface="DejaVu Sans"/>
                          <a:cs typeface="DejaVu Sans"/>
                        </a:rPr>
                        <a:t>month</a:t>
                      </a:r>
                    </a:p>
                  </a:txBody>
                  <a:tcPr marL="152400" marR="152400" marT="133350" marB="133350" anchor="ctr">
                    <a:lnR w="4763">
                      <a:solidFill>
                        <a:srgbClr val="DFE6EF"/>
                      </a:solidFill>
                      <a:prstDash val="solid"/>
                    </a:lnR>
                    <a:lnT w="4763">
                      <a:solidFill>
                        <a:srgbClr val="DFE6EF"/>
                      </a:solidFill>
                      <a:prstDash val="solid"/>
                    </a:lnT>
                    <a:lnB w="4763">
                      <a:solidFill>
                        <a:srgbClr val="DFE6EF"/>
                      </a:solidFill>
                      <a:prstDash val="solid"/>
                    </a:lnB>
                    <a:solidFill>
                      <a:srgbClr val="17243B"/>
                    </a:solidFill>
                  </a:tcPr>
                </a:tc>
                <a:tc>
                  <a:txBody>
                    <a:bodyPr/>
                    <a:lstStyle/>
                    <a:p>
                      <a:r>
                        <a:rPr sz="1725" b="1">
                          <a:solidFill>
                            <a:srgbClr val="FFFFFF"/>
                          </a:solidFill>
                          <a:latin typeface="DejaVu Sans"/>
                          <a:ea typeface="DejaVu Sans"/>
                          <a:cs typeface="DejaVu Sans"/>
                        </a:rPr>
                        <a:t>Mean customer</a:t>
                      </a:r>
                    </a:p>
                    <a:p>
                      <a:r>
                        <a:rPr sz="1725" b="1">
                          <a:solidFill>
                            <a:srgbClr val="FFFFFF"/>
                          </a:solidFill>
                          <a:latin typeface="DejaVu Sans"/>
                          <a:ea typeface="DejaVu Sans"/>
                          <a:cs typeface="DejaVu Sans"/>
                        </a:rPr>
                        <a:t>basket</a:t>
                      </a:r>
                    </a:p>
                  </a:txBody>
                  <a:tcPr marL="152400" marR="152400" marT="133350" marB="133350" anchor="ctr">
                    <a:lnR w="4763">
                      <a:solidFill>
                        <a:srgbClr val="DFE6EF"/>
                      </a:solidFill>
                      <a:prstDash val="solid"/>
                    </a:lnR>
                    <a:lnT w="4763">
                      <a:solidFill>
                        <a:srgbClr val="DFE6EF"/>
                      </a:solidFill>
                      <a:prstDash val="solid"/>
                    </a:lnT>
                    <a:lnB w="4763">
                      <a:solidFill>
                        <a:srgbClr val="DFE6EF"/>
                      </a:solidFill>
                      <a:prstDash val="solid"/>
                    </a:lnB>
                    <a:solidFill>
                      <a:srgbClr val="17243B"/>
                    </a:solidFill>
                  </a:tcPr>
                </a:tc>
              </a:tr>
              <a:tr h="809625">
                <a:tc>
                  <a:txBody>
                    <a:bodyPr/>
                    <a:lstStyle/>
                    <a:p>
                      <a:r>
                        <a:rPr sz="1950" b="1">
                          <a:solidFill>
                            <a:srgbClr val="2563EB"/>
                          </a:solidFill>
                          <a:latin typeface="DejaVu Sans"/>
                          <a:ea typeface="DejaVu Sans"/>
                          <a:cs typeface="DejaVu Sans"/>
                        </a:rPr>
                        <a:t>High-Value</a:t>
                      </a:r>
                    </a:p>
                    <a:p>
                      <a:r>
                        <a:rPr sz="1950" b="1">
                          <a:solidFill>
                            <a:srgbClr val="2563EB"/>
                          </a:solidFill>
                          <a:latin typeface="DejaVu Sans"/>
                          <a:ea typeface="DejaVu Sans"/>
                          <a:cs typeface="DejaVu Sans"/>
                        </a:rPr>
                        <a:t>Frequent</a:t>
                      </a:r>
                    </a:p>
                  </a:txBody>
                  <a:tcPr marL="152400" marR="152400" marT="133350" marB="133350" anchor="ctr">
                    <a:lnL w="4763">
                      <a:solidFill>
                        <a:srgbClr val="DFE6EF"/>
                      </a:solidFill>
                      <a:prstDash val="solid"/>
                    </a:lnL>
                    <a:lnR w="4763">
                      <a:solidFill>
                        <a:srgbClr val="DFE6EF"/>
                      </a:solidFill>
                      <a:prstDash val="solid"/>
                    </a:lnR>
                    <a:lnB w="4763">
                      <a:solidFill>
                        <a:srgbClr val="DFE6EF"/>
                      </a:solidFill>
                      <a:prstDash val="solid"/>
                    </a:lnB>
                    <a:solidFill>
                      <a:srgbClr val="FFFFFF"/>
                    </a:solidFill>
                  </a:tcPr>
                </a:tc>
                <a:tc>
                  <a:txBody>
                    <a:bodyPr/>
                    <a:lstStyle/>
                    <a:p>
                      <a:r>
                        <a:rPr sz="1875">
                          <a:solidFill>
                            <a:srgbClr val="17243B"/>
                          </a:solidFill>
                          <a:latin typeface="DejaVu Sans"/>
                          <a:ea typeface="DejaVu Sans"/>
                          <a:cs typeface="DejaVu Sans"/>
                        </a:rPr>
                        <a:t>1,007</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c>
                  <a:txBody>
                    <a:bodyPr/>
                    <a:lstStyle/>
                    <a:p>
                      <a:r>
                        <a:rPr sz="1875">
                          <a:solidFill>
                            <a:srgbClr val="17243B"/>
                          </a:solidFill>
                          <a:latin typeface="DejaVu Sans"/>
                          <a:ea typeface="DejaVu Sans"/>
                          <a:cs typeface="DejaVu Sans"/>
                        </a:rPr>
                        <a:t>73.52%</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c>
                  <a:txBody>
                    <a:bodyPr/>
                    <a:lstStyle/>
                    <a:p>
                      <a:r>
                        <a:rPr sz="1875">
                          <a:solidFill>
                            <a:srgbClr val="17243B"/>
                          </a:solidFill>
                          <a:latin typeface="DejaVu Sans"/>
                          <a:ea typeface="DejaVu Sans"/>
                          <a:cs typeface="DejaVu Sans"/>
                        </a:rPr>
                        <a:t>9.17</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c>
                  <a:txBody>
                    <a:bodyPr/>
                    <a:lstStyle/>
                    <a:p>
                      <a:r>
                        <a:rPr sz="1875">
                          <a:solidFill>
                            <a:srgbClr val="17243B"/>
                          </a:solidFill>
                          <a:latin typeface="DejaVu Sans"/>
                          <a:ea typeface="DejaVu Sans"/>
                          <a:cs typeface="DejaVu Sans"/>
                        </a:rPr>
                        <a:t>$33.22</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r>
              <a:tr h="809625">
                <a:tc>
                  <a:txBody>
                    <a:bodyPr/>
                    <a:lstStyle/>
                    <a:p>
                      <a:r>
                        <a:rPr sz="1950" b="1">
                          <a:solidFill>
                            <a:srgbClr val="7C3AED"/>
                          </a:solidFill>
                          <a:latin typeface="DejaVu Sans"/>
                          <a:ea typeface="DejaVu Sans"/>
                          <a:cs typeface="DejaVu Sans"/>
                        </a:rPr>
                        <a:t>Large-Basket</a:t>
                      </a:r>
                    </a:p>
                    <a:p>
                      <a:r>
                        <a:rPr sz="1950" b="1">
                          <a:solidFill>
                            <a:srgbClr val="7C3AED"/>
                          </a:solidFill>
                          <a:latin typeface="DejaVu Sans"/>
                          <a:ea typeface="DejaVu Sans"/>
                          <a:cs typeface="DejaVu Sans"/>
                        </a:rPr>
                        <a:t>Occasional</a:t>
                      </a:r>
                    </a:p>
                  </a:txBody>
                  <a:tcPr marL="152400" marR="152400" marT="133350" marB="133350" anchor="ctr">
                    <a:lnL w="4763">
                      <a:solidFill>
                        <a:srgbClr val="DFE6EF"/>
                      </a:solidFill>
                      <a:prstDash val="solid"/>
                    </a:lnL>
                    <a:lnR w="4763">
                      <a:solidFill>
                        <a:srgbClr val="DFE6EF"/>
                      </a:solidFill>
                      <a:prstDash val="solid"/>
                    </a:lnR>
                    <a:lnB w="4763">
                      <a:solidFill>
                        <a:srgbClr val="DFE6EF"/>
                      </a:solidFill>
                      <a:prstDash val="solid"/>
                    </a:lnB>
                    <a:solidFill>
                      <a:srgbClr val="FFFFFF"/>
                    </a:solidFill>
                  </a:tcPr>
                </a:tc>
                <a:tc>
                  <a:txBody>
                    <a:bodyPr/>
                    <a:lstStyle/>
                    <a:p>
                      <a:r>
                        <a:rPr sz="1875">
                          <a:solidFill>
                            <a:srgbClr val="17243B"/>
                          </a:solidFill>
                          <a:latin typeface="DejaVu Sans"/>
                          <a:ea typeface="DejaVu Sans"/>
                          <a:cs typeface="DejaVu Sans"/>
                        </a:rPr>
                        <a:t>902</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c>
                  <a:txBody>
                    <a:bodyPr/>
                    <a:lstStyle/>
                    <a:p>
                      <a:r>
                        <a:rPr sz="1875">
                          <a:solidFill>
                            <a:srgbClr val="17243B"/>
                          </a:solidFill>
                          <a:latin typeface="DejaVu Sans"/>
                          <a:ea typeface="DejaVu Sans"/>
                          <a:cs typeface="DejaVu Sans"/>
                        </a:rPr>
                        <a:t>21.49%</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c>
                  <a:txBody>
                    <a:bodyPr/>
                    <a:lstStyle/>
                    <a:p>
                      <a:r>
                        <a:rPr sz="1875">
                          <a:solidFill>
                            <a:srgbClr val="17243B"/>
                          </a:solidFill>
                          <a:latin typeface="DejaVu Sans"/>
                          <a:ea typeface="DejaVu Sans"/>
                          <a:cs typeface="DejaVu Sans"/>
                        </a:rPr>
                        <a:t>2.94</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c>
                  <a:txBody>
                    <a:bodyPr/>
                    <a:lstStyle/>
                    <a:p>
                      <a:r>
                        <a:rPr sz="1875">
                          <a:solidFill>
                            <a:srgbClr val="17243B"/>
                          </a:solidFill>
                          <a:latin typeface="DejaVu Sans"/>
                          <a:ea typeface="DejaVu Sans"/>
                          <a:cs typeface="DejaVu Sans"/>
                        </a:rPr>
                        <a:t>$40.07</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r>
              <a:tr h="809625">
                <a:tc>
                  <a:txBody>
                    <a:bodyPr/>
                    <a:lstStyle/>
                    <a:p>
                      <a:r>
                        <a:rPr sz="1950" b="1">
                          <a:solidFill>
                            <a:srgbClr val="0F9488"/>
                          </a:solidFill>
                          <a:latin typeface="DejaVu Sans"/>
                          <a:ea typeface="DejaVu Sans"/>
                          <a:cs typeface="DejaVu Sans"/>
                        </a:rPr>
                        <a:t>Low-Value</a:t>
                      </a:r>
                    </a:p>
                    <a:p>
                      <a:r>
                        <a:rPr sz="1950" b="1">
                          <a:solidFill>
                            <a:srgbClr val="0F9488"/>
                          </a:solidFill>
                          <a:latin typeface="DejaVu Sans"/>
                          <a:ea typeface="DejaVu Sans"/>
                          <a:cs typeface="DejaVu Sans"/>
                        </a:rPr>
                        <a:t>Low-Engagement</a:t>
                      </a:r>
                    </a:p>
                  </a:txBody>
                  <a:tcPr marL="152400" marR="152400" marT="133350" marB="133350" anchor="ctr">
                    <a:lnL w="4763">
                      <a:solidFill>
                        <a:srgbClr val="DFE6EF"/>
                      </a:solidFill>
                      <a:prstDash val="solid"/>
                    </a:lnL>
                    <a:lnR w="4763">
                      <a:solidFill>
                        <a:srgbClr val="DFE6EF"/>
                      </a:solidFill>
                      <a:prstDash val="solid"/>
                    </a:lnR>
                    <a:lnB w="4763">
                      <a:solidFill>
                        <a:srgbClr val="DFE6EF"/>
                      </a:solidFill>
                      <a:prstDash val="solid"/>
                    </a:lnB>
                    <a:solidFill>
                      <a:srgbClr val="FFFFFF"/>
                    </a:solidFill>
                  </a:tcPr>
                </a:tc>
                <a:tc>
                  <a:txBody>
                    <a:bodyPr/>
                    <a:lstStyle/>
                    <a:p>
                      <a:r>
                        <a:rPr sz="1875">
                          <a:solidFill>
                            <a:srgbClr val="17243B"/>
                          </a:solidFill>
                          <a:latin typeface="DejaVu Sans"/>
                          <a:ea typeface="DejaVu Sans"/>
                          <a:cs typeface="DejaVu Sans"/>
                        </a:rPr>
                        <a:t>591</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c>
                  <a:txBody>
                    <a:bodyPr/>
                    <a:lstStyle/>
                    <a:p>
                      <a:r>
                        <a:rPr sz="1875">
                          <a:solidFill>
                            <a:srgbClr val="17243B"/>
                          </a:solidFill>
                          <a:latin typeface="DejaVu Sans"/>
                          <a:ea typeface="DejaVu Sans"/>
                          <a:cs typeface="DejaVu Sans"/>
                        </a:rPr>
                        <a:t>4.99%</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c>
                  <a:txBody>
                    <a:bodyPr/>
                    <a:lstStyle/>
                    <a:p>
                      <a:r>
                        <a:rPr sz="1875">
                          <a:solidFill>
                            <a:srgbClr val="17243B"/>
                          </a:solidFill>
                          <a:latin typeface="DejaVu Sans"/>
                          <a:ea typeface="DejaVu Sans"/>
                          <a:cs typeface="DejaVu Sans"/>
                        </a:rPr>
                        <a:t>3.14</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c>
                  <a:txBody>
                    <a:bodyPr/>
                    <a:lstStyle/>
                    <a:p>
                      <a:r>
                        <a:rPr sz="1875">
                          <a:solidFill>
                            <a:srgbClr val="17243B"/>
                          </a:solidFill>
                          <a:latin typeface="DejaVu Sans"/>
                          <a:ea typeface="DejaVu Sans"/>
                          <a:cs typeface="DejaVu Sans"/>
                        </a:rPr>
                        <a:t>$16.29</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6B0FADF-BD38-415E-840D-B78CDFB53FD3}"/>
              </a:ext>
            </a:extLst>
          </p:cNvPr>
          <p:cNvSpPr>
            <a:spLocks xmlns:a="http://schemas.openxmlformats.org/drawingml/2006/main" noGrp="1"/>
          </p:cNvSpPr>
          <p:nvPr/>
        </p:nvSpPr>
        <p:spPr>
          <a:xfrm xmlns:a="http://schemas.openxmlformats.org/drawingml/2006/main">
            <a:off x="647700" y="57531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7243B"/>
                </a:solidFill>
                <a:latin typeface="DejaVu Sans"/>
                <a:ea typeface="DejaVu Sans"/>
                <a:cs typeface="DejaVu Sans"/>
              </a:defRPr>
            </a:defPPr>
            <a:lvl1pPr algn="l">
              <a:buNone/>
              <a:defRPr sz="1725" b="0">
                <a:solidFill>
                  <a:srgbClr val="17243B"/>
                </a:solidFill>
                <a:latin typeface="DejaVu Sans"/>
                <a:ea typeface="DejaVu Sans"/>
                <a:cs typeface="DejaVu Sans"/>
              </a:defRPr>
            </a:lvl1pPr>
            <a:lvl2pPr algn="l">
              <a:buNone/>
              <a:defRPr sz="1725" b="0">
                <a:solidFill>
                  <a:srgbClr val="17243B"/>
                </a:solidFill>
                <a:latin typeface="DejaVu Sans"/>
                <a:ea typeface="DejaVu Sans"/>
                <a:cs typeface="DejaVu Sans"/>
              </a:defRPr>
            </a:lvl2pPr>
            <a:lvl3pPr algn="l">
              <a:buNone/>
              <a:defRPr sz="1725" b="0">
                <a:solidFill>
                  <a:srgbClr val="17243B"/>
                </a:solidFill>
                <a:latin typeface="DejaVu Sans"/>
                <a:ea typeface="DejaVu Sans"/>
                <a:cs typeface="DejaVu Sans"/>
              </a:defRPr>
            </a:lvl3pPr>
            <a:lvl4pPr algn="l">
              <a:buNone/>
              <a:defRPr sz="1725" b="0">
                <a:solidFill>
                  <a:srgbClr val="17243B"/>
                </a:solidFill>
                <a:latin typeface="DejaVu Sans"/>
                <a:ea typeface="DejaVu Sans"/>
                <a:cs typeface="DejaVu Sans"/>
              </a:defRPr>
            </a:lvl4pPr>
            <a:lvl5pPr algn="l">
              <a:buNone/>
              <a:defRPr sz="1725" b="0">
                <a:solidFill>
                  <a:srgbClr val="17243B"/>
                </a:solidFill>
                <a:latin typeface="DejaVu Sans"/>
                <a:ea typeface="DejaVu Sans"/>
                <a:cs typeface="DejaVu Sans"/>
              </a:defRPr>
            </a:lvl5pPr>
            <a:lvl6pPr algn="l">
              <a:buNone/>
              <a:defRPr sz="1725" b="0">
                <a:solidFill>
                  <a:srgbClr val="17243B"/>
                </a:solidFill>
                <a:latin typeface="DejaVu Sans"/>
                <a:ea typeface="DejaVu Sans"/>
                <a:cs typeface="DejaVu Sans"/>
              </a:defRPr>
            </a:lvl6pPr>
            <a:lvl7pPr algn="l">
              <a:buNone/>
              <a:defRPr sz="1725" b="0">
                <a:solidFill>
                  <a:srgbClr val="17243B"/>
                </a:solidFill>
                <a:latin typeface="DejaVu Sans"/>
                <a:ea typeface="DejaVu Sans"/>
                <a:cs typeface="DejaVu Sans"/>
              </a:defRPr>
            </a:lvl7pPr>
            <a:lvl8pPr algn="l">
              <a:buNone/>
              <a:defRPr sz="1725" b="0">
                <a:solidFill>
                  <a:srgbClr val="17243B"/>
                </a:solidFill>
                <a:latin typeface="DejaVu Sans"/>
                <a:ea typeface="DejaVu Sans"/>
                <a:cs typeface="DejaVu Sans"/>
              </a:defRPr>
            </a:lvl8pPr>
            <a:lvl9pPr algn="l">
              <a:buNone/>
              <a:defRPr sz="1725" b="0">
                <a:solidFill>
                  <a:srgbClr val="17243B"/>
                </a:solidFill>
                <a:latin typeface="DejaVu Sans"/>
                <a:ea typeface="DejaVu Sans"/>
                <a:cs typeface="DejaVu Sans"/>
              </a:defRPr>
            </a:lvl9pPr>
          </a:lstStyle>
          <a:p xmlns:a="http://schemas.openxmlformats.org/drawingml/2006/main">
            <a:pPr algn="l">
              <a:buNone/>
              <a:defRPr sz="1725" b="0">
                <a:solidFill>
                  <a:srgbClr val="17243B"/>
                </a:solidFill>
                <a:latin typeface="DejaVu Sans"/>
                <a:ea typeface="DejaVu Sans"/>
                <a:cs typeface="DejaVu Sans"/>
              </a:defRPr>
            </a:pPr>
            <a:r>
              <a:rPr sz="1725" b="0">
                <a:solidFill>
                  <a:srgbClr val="17243B"/>
                </a:solidFill>
                <a:latin typeface="DejaVu Sans"/>
                <a:ea typeface="DejaVu Sans"/>
                <a:cs typeface="DejaVu Sans"/>
              </a:rPr>
              <a:t>Frequent shoppers account for most sales. Occasional shoppers spend more per basket.</a:t>
            </a:r>
          </a:p>
          <a:p xmlns:a="http://schemas.openxmlformats.org/drawingml/2006/main">
            <a:pPr algn="l">
              <a:buNone/>
              <a:defRPr sz="1725" b="0">
                <a:solidFill>
                  <a:srgbClr val="17243B"/>
                </a:solidFill>
                <a:latin typeface="DejaVu Sans"/>
                <a:ea typeface="DejaVu Sans"/>
                <a:cs typeface="DejaVu Sans"/>
              </a:defRPr>
            </a:pPr>
            <a:r>
              <a:rPr sz="1725" b="0">
                <a:solidFill>
                  <a:srgbClr val="17243B"/>
                </a:solidFill>
                <a:latin typeface="DejaVu Sans"/>
                <a:ea typeface="DejaVu Sans"/>
                <a:cs typeface="DejaVu Sans"/>
              </a:rPr>
              <a:t>These patterns suggest different retention and repeat-visit tests.</a:t>
            </a:r>
          </a:p>
        </p:txBody>
      </p:sp>
    </p:spTree>
    <p:extLst>
      <p:ext uri="{BB962C8B-B14F-4D97-AF65-F5344CB8AC3E}">
        <p14:creationId xmlns:p14="http://schemas.microsoft.com/office/powerpoint/2010/main" val="6917700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D19191B-3112-4E14-8E58-130F52A130B4}"/>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243B"/>
                </a:solidFill>
                <a:latin typeface="DejaVu Sans"/>
                <a:ea typeface="DejaVu Sans"/>
                <a:cs typeface="DejaVu Sans"/>
              </a:defRPr>
            </a:defPPr>
            <a:lvl1pPr algn="l">
              <a:buNone/>
              <a:defRPr sz="3225" b="1">
                <a:solidFill>
                  <a:srgbClr val="17243B"/>
                </a:solidFill>
                <a:latin typeface="DejaVu Sans"/>
                <a:ea typeface="DejaVu Sans"/>
                <a:cs typeface="DejaVu Sans"/>
              </a:defRPr>
            </a:lvl1pPr>
            <a:lvl2pPr algn="l">
              <a:buNone/>
              <a:defRPr sz="3225" b="1">
                <a:solidFill>
                  <a:srgbClr val="17243B"/>
                </a:solidFill>
                <a:latin typeface="DejaVu Sans"/>
                <a:ea typeface="DejaVu Sans"/>
                <a:cs typeface="DejaVu Sans"/>
              </a:defRPr>
            </a:lvl2pPr>
            <a:lvl3pPr algn="l">
              <a:buNone/>
              <a:defRPr sz="3225" b="1">
                <a:solidFill>
                  <a:srgbClr val="17243B"/>
                </a:solidFill>
                <a:latin typeface="DejaVu Sans"/>
                <a:ea typeface="DejaVu Sans"/>
                <a:cs typeface="DejaVu Sans"/>
              </a:defRPr>
            </a:lvl3pPr>
            <a:lvl4pPr algn="l">
              <a:buNone/>
              <a:defRPr sz="3225" b="1">
                <a:solidFill>
                  <a:srgbClr val="17243B"/>
                </a:solidFill>
                <a:latin typeface="DejaVu Sans"/>
                <a:ea typeface="DejaVu Sans"/>
                <a:cs typeface="DejaVu Sans"/>
              </a:defRPr>
            </a:lvl4pPr>
            <a:lvl5pPr algn="l">
              <a:buNone/>
              <a:defRPr sz="3225" b="1">
                <a:solidFill>
                  <a:srgbClr val="17243B"/>
                </a:solidFill>
                <a:latin typeface="DejaVu Sans"/>
                <a:ea typeface="DejaVu Sans"/>
                <a:cs typeface="DejaVu Sans"/>
              </a:defRPr>
            </a:lvl5pPr>
            <a:lvl6pPr algn="l">
              <a:buNone/>
              <a:defRPr sz="3225" b="1">
                <a:solidFill>
                  <a:srgbClr val="17243B"/>
                </a:solidFill>
                <a:latin typeface="DejaVu Sans"/>
                <a:ea typeface="DejaVu Sans"/>
                <a:cs typeface="DejaVu Sans"/>
              </a:defRPr>
            </a:lvl6pPr>
            <a:lvl7pPr algn="l">
              <a:buNone/>
              <a:defRPr sz="3225" b="1">
                <a:solidFill>
                  <a:srgbClr val="17243B"/>
                </a:solidFill>
                <a:latin typeface="DejaVu Sans"/>
                <a:ea typeface="DejaVu Sans"/>
                <a:cs typeface="DejaVu Sans"/>
              </a:defRPr>
            </a:lvl7pPr>
            <a:lvl8pPr algn="l">
              <a:buNone/>
              <a:defRPr sz="3225" b="1">
                <a:solidFill>
                  <a:srgbClr val="17243B"/>
                </a:solidFill>
                <a:latin typeface="DejaVu Sans"/>
                <a:ea typeface="DejaVu Sans"/>
                <a:cs typeface="DejaVu Sans"/>
              </a:defRPr>
            </a:lvl8pPr>
            <a:lvl9pPr algn="l">
              <a:buNone/>
              <a:defRPr sz="3225" b="1">
                <a:solidFill>
                  <a:srgbClr val="17243B"/>
                </a:solidFill>
                <a:latin typeface="DejaVu Sans"/>
                <a:ea typeface="DejaVu Sans"/>
                <a:cs typeface="DejaVu Sans"/>
              </a:defRPr>
            </a:lvl9pPr>
          </a:lstStyle>
          <a:p xmlns:a="http://schemas.openxmlformats.org/drawingml/2006/main">
            <a:pPr algn="l">
              <a:buNone/>
              <a:defRPr sz="3225" b="1">
                <a:solidFill>
                  <a:srgbClr val="17243B"/>
                </a:solidFill>
                <a:latin typeface="DejaVu Sans"/>
                <a:ea typeface="DejaVu Sans"/>
                <a:cs typeface="DejaVu Sans"/>
              </a:defRPr>
            </a:pPr>
            <a:r>
              <a:rPr sz="3225" b="1">
                <a:solidFill>
                  <a:srgbClr val="17243B"/>
                </a:solidFill>
                <a:latin typeface="DejaVu Sans"/>
                <a:ea typeface="DejaVu Sans"/>
                <a:cs typeface="DejaVu Sans"/>
              </a:rPr>
              <a:t>Frequent shoppers spend more per customer</a:t>
            </a:r>
          </a:p>
        </p:txBody>
      </p:sp>
      <p:sp>
        <p:nvSpPr>
          <p:cNvPr id="2" name="">
            <a:extLst xmlns:a="http://schemas.openxmlformats.org/drawingml/2006/main">
              <a:ext uri="{FF2B5EF4-FFF2-40B4-BE49-F238E27FC236}">
                <a16:creationId xmlns:a16="http://schemas.microsoft.com/office/drawing/2014/main" id="{7FAD4009-F5E3-4DD9-B7F5-08CFBE46221B}"/>
              </a:ext>
            </a:extLst>
          </p:cNvPr>
          <p:cNvSpPr>
            <a:spLocks xmlns:a="http://schemas.openxmlformats.org/drawingml/2006/main" noGrp="1"/>
          </p:cNvSpPr>
          <p:nvPr/>
        </p:nvSpPr>
        <p:spPr>
          <a:xfrm xmlns:a="http://schemas.openxmlformats.org/drawingml/2006/main">
            <a:off x="609600" y="6429375"/>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050" b="0">
                <a:solidFill>
                  <a:srgbClr val="64748B"/>
                </a:solidFill>
                <a:latin typeface="DejaVu Sans"/>
                <a:ea typeface="DejaVu Sans"/>
                <a:cs typeface="DejaVu Sans"/>
              </a:defRPr>
            </a:defPPr>
            <a:lvl1pPr>
              <a:buNone/>
              <a:defRPr sz="1050" b="0">
                <a:solidFill>
                  <a:srgbClr val="64748B"/>
                </a:solidFill>
                <a:latin typeface="DejaVu Sans"/>
                <a:ea typeface="DejaVu Sans"/>
                <a:cs typeface="DejaVu Sans"/>
              </a:defRPr>
            </a:lvl1pPr>
            <a:lvl2pPr>
              <a:buNone/>
              <a:defRPr sz="1050" b="0">
                <a:solidFill>
                  <a:srgbClr val="64748B"/>
                </a:solidFill>
                <a:latin typeface="DejaVu Sans"/>
                <a:ea typeface="DejaVu Sans"/>
                <a:cs typeface="DejaVu Sans"/>
              </a:defRPr>
            </a:lvl2pPr>
            <a:lvl3pPr>
              <a:buNone/>
              <a:defRPr sz="1050" b="0">
                <a:solidFill>
                  <a:srgbClr val="64748B"/>
                </a:solidFill>
                <a:latin typeface="DejaVu Sans"/>
                <a:ea typeface="DejaVu Sans"/>
                <a:cs typeface="DejaVu Sans"/>
              </a:defRPr>
            </a:lvl3pPr>
            <a:lvl4pPr>
              <a:buNone/>
              <a:defRPr sz="1050" b="0">
                <a:solidFill>
                  <a:srgbClr val="64748B"/>
                </a:solidFill>
                <a:latin typeface="DejaVu Sans"/>
                <a:ea typeface="DejaVu Sans"/>
                <a:cs typeface="DejaVu Sans"/>
              </a:defRPr>
            </a:lvl4pPr>
            <a:lvl5pPr>
              <a:buNone/>
              <a:defRPr sz="1050" b="0">
                <a:solidFill>
                  <a:srgbClr val="64748B"/>
                </a:solidFill>
                <a:latin typeface="DejaVu Sans"/>
                <a:ea typeface="DejaVu Sans"/>
                <a:cs typeface="DejaVu Sans"/>
              </a:defRPr>
            </a:lvl5pPr>
            <a:lvl6pPr>
              <a:buNone/>
              <a:defRPr sz="1050" b="0">
                <a:solidFill>
                  <a:srgbClr val="64748B"/>
                </a:solidFill>
                <a:latin typeface="DejaVu Sans"/>
                <a:ea typeface="DejaVu Sans"/>
                <a:cs typeface="DejaVu Sans"/>
              </a:defRPr>
            </a:lvl6pPr>
            <a:lvl7pPr>
              <a:buNone/>
              <a:defRPr sz="1050" b="0">
                <a:solidFill>
                  <a:srgbClr val="64748B"/>
                </a:solidFill>
                <a:latin typeface="DejaVu Sans"/>
                <a:ea typeface="DejaVu Sans"/>
                <a:cs typeface="DejaVu Sans"/>
              </a:defRPr>
            </a:lvl7pPr>
            <a:lvl8pPr>
              <a:buNone/>
              <a:defRPr sz="1050" b="0">
                <a:solidFill>
                  <a:srgbClr val="64748B"/>
                </a:solidFill>
                <a:latin typeface="DejaVu Sans"/>
                <a:ea typeface="DejaVu Sans"/>
                <a:cs typeface="DejaVu Sans"/>
              </a:defRPr>
            </a:lvl8pPr>
            <a:lvl9pPr>
              <a:buNone/>
              <a:defRPr sz="1050" b="0">
                <a:solidFill>
                  <a:srgbClr val="64748B"/>
                </a:solidFill>
                <a:latin typeface="DejaVu Sans"/>
                <a:ea typeface="DejaVu Sans"/>
                <a:cs typeface="DejaVu Sans"/>
              </a:defRPr>
            </a:lvl9pPr>
          </a:lstStyle>
          <a:p xmlns:a="http://schemas.openxmlformats.org/drawingml/2006/main">
            <a:pPr>
              <a:buNone/>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FMCG Consumer Growth &amp; Promotion Insights</a:t>
            </a:r>
          </a:p>
        </p:txBody>
      </p:sp>
      <p:sp>
        <p:nvSpPr>
          <p:cNvPr id="3" name="">
            <a:extLst xmlns:a="http://schemas.openxmlformats.org/drawingml/2006/main">
              <a:ext uri="{FF2B5EF4-FFF2-40B4-BE49-F238E27FC236}">
                <a16:creationId xmlns:a16="http://schemas.microsoft.com/office/drawing/2014/main" id="{5DE697B5-6D4E-421B-A372-8CE6E25AEECC}"/>
              </a:ext>
            </a:extLst>
          </p:cNvPr>
          <p:cNvSpPr>
            <a:spLocks xmlns:a="http://schemas.openxmlformats.org/drawingml/2006/main" noGrp="1"/>
          </p:cNvSpPr>
          <p:nvPr/>
        </p:nvSpPr>
        <p:spPr>
          <a:xfrm xmlns:a="http://schemas.openxmlformats.org/drawingml/2006/main">
            <a:off x="11049000" y="64198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DejaVu Sans"/>
                <a:ea typeface="DejaVu Sans"/>
                <a:cs typeface="DejaVu Sans"/>
              </a:defRPr>
            </a:defPPr>
            <a:lvl1pPr algn="l">
              <a:buNone/>
              <a:defRPr sz="1200" b="0">
                <a:solidFill>
                  <a:srgbClr val="64748B"/>
                </a:solidFill>
                <a:latin typeface="DejaVu Sans"/>
                <a:ea typeface="DejaVu Sans"/>
                <a:cs typeface="DejaVu Sans"/>
              </a:defRPr>
            </a:lvl1pPr>
            <a:lvl2pPr algn="l">
              <a:buNone/>
              <a:defRPr sz="1200" b="0">
                <a:solidFill>
                  <a:srgbClr val="64748B"/>
                </a:solidFill>
                <a:latin typeface="DejaVu Sans"/>
                <a:ea typeface="DejaVu Sans"/>
                <a:cs typeface="DejaVu Sans"/>
              </a:defRPr>
            </a:lvl2pPr>
            <a:lvl3pPr algn="l">
              <a:buNone/>
              <a:defRPr sz="1200" b="0">
                <a:solidFill>
                  <a:srgbClr val="64748B"/>
                </a:solidFill>
                <a:latin typeface="DejaVu Sans"/>
                <a:ea typeface="DejaVu Sans"/>
                <a:cs typeface="DejaVu Sans"/>
              </a:defRPr>
            </a:lvl3pPr>
            <a:lvl4pPr algn="l">
              <a:buNone/>
              <a:defRPr sz="1200" b="0">
                <a:solidFill>
                  <a:srgbClr val="64748B"/>
                </a:solidFill>
                <a:latin typeface="DejaVu Sans"/>
                <a:ea typeface="DejaVu Sans"/>
                <a:cs typeface="DejaVu Sans"/>
              </a:defRPr>
            </a:lvl4pPr>
            <a:lvl5pPr algn="l">
              <a:buNone/>
              <a:defRPr sz="1200" b="0">
                <a:solidFill>
                  <a:srgbClr val="64748B"/>
                </a:solidFill>
                <a:latin typeface="DejaVu Sans"/>
                <a:ea typeface="DejaVu Sans"/>
                <a:cs typeface="DejaVu Sans"/>
              </a:defRPr>
            </a:lvl5pPr>
            <a:lvl6pPr algn="l">
              <a:buNone/>
              <a:defRPr sz="1200" b="0">
                <a:solidFill>
                  <a:srgbClr val="64748B"/>
                </a:solidFill>
                <a:latin typeface="DejaVu Sans"/>
                <a:ea typeface="DejaVu Sans"/>
                <a:cs typeface="DejaVu Sans"/>
              </a:defRPr>
            </a:lvl6pPr>
            <a:lvl7pPr algn="l">
              <a:buNone/>
              <a:defRPr sz="1200" b="0">
                <a:solidFill>
                  <a:srgbClr val="64748B"/>
                </a:solidFill>
                <a:latin typeface="DejaVu Sans"/>
                <a:ea typeface="DejaVu Sans"/>
                <a:cs typeface="DejaVu Sans"/>
              </a:defRPr>
            </a:lvl7pPr>
            <a:lvl8pPr algn="l">
              <a:buNone/>
              <a:defRPr sz="1200" b="0">
                <a:solidFill>
                  <a:srgbClr val="64748B"/>
                </a:solidFill>
                <a:latin typeface="DejaVu Sans"/>
                <a:ea typeface="DejaVu Sans"/>
                <a:cs typeface="DejaVu Sans"/>
              </a:defRPr>
            </a:lvl8pPr>
            <a:lvl9pPr algn="l">
              <a:buNone/>
              <a:defRPr sz="1200" b="0">
                <a:solidFill>
                  <a:srgbClr val="64748B"/>
                </a:solidFill>
                <a:latin typeface="DejaVu Sans"/>
                <a:ea typeface="DejaVu Sans"/>
                <a:cs typeface="DejaVu Sans"/>
              </a:defRPr>
            </a:lvl9pPr>
          </a:lstStyle>
          <a:p xmlns:a="http://schemas.openxmlformats.org/drawingml/2006/main">
            <a:pPr algn="l">
              <a:buNone/>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05</a:t>
            </a:r>
          </a:p>
        </p:txBody>
      </p:sp>
      <p:sp>
        <p:nvSpPr>
          <p:cNvPr id="5" name="">
            <a:extLst xmlns:a="http://schemas.openxmlformats.org/drawingml/2006/main">
              <a:ext uri="{FF2B5EF4-FFF2-40B4-BE49-F238E27FC236}">
                <a16:creationId xmlns:a16="http://schemas.microsoft.com/office/drawing/2014/main" id="{D93B59C0-3224-4FD6-947B-59EF942A2BE7}"/>
              </a:ext>
            </a:extLst>
          </p:cNvPr>
          <p:cNvSpPr>
            <a:spLocks xmlns:a="http://schemas.openxmlformats.org/drawingml/2006/main" noGrp="1"/>
          </p:cNvSpPr>
          <p:nvPr/>
        </p:nvSpPr>
        <p:spPr>
          <a:xfrm xmlns:a="http://schemas.openxmlformats.org/drawingml/2006/main">
            <a:off x="8782050" y="209550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75" b="1">
                <a:solidFill>
                  <a:srgbClr val="2563EB"/>
                </a:solidFill>
                <a:latin typeface="DejaVu Sans"/>
                <a:ea typeface="DejaVu Sans"/>
                <a:cs typeface="DejaVu Sans"/>
              </a:defRPr>
            </a:defPPr>
            <a:lvl1pPr algn="l">
              <a:buNone/>
              <a:defRPr sz="4275" b="1">
                <a:solidFill>
                  <a:srgbClr val="2563EB"/>
                </a:solidFill>
                <a:latin typeface="DejaVu Sans"/>
                <a:ea typeface="DejaVu Sans"/>
                <a:cs typeface="DejaVu Sans"/>
              </a:defRPr>
            </a:lvl1pPr>
            <a:lvl2pPr algn="l">
              <a:buNone/>
              <a:defRPr sz="4275" b="1">
                <a:solidFill>
                  <a:srgbClr val="2563EB"/>
                </a:solidFill>
                <a:latin typeface="DejaVu Sans"/>
                <a:ea typeface="DejaVu Sans"/>
                <a:cs typeface="DejaVu Sans"/>
              </a:defRPr>
            </a:lvl2pPr>
            <a:lvl3pPr algn="l">
              <a:buNone/>
              <a:defRPr sz="4275" b="1">
                <a:solidFill>
                  <a:srgbClr val="2563EB"/>
                </a:solidFill>
                <a:latin typeface="DejaVu Sans"/>
                <a:ea typeface="DejaVu Sans"/>
                <a:cs typeface="DejaVu Sans"/>
              </a:defRPr>
            </a:lvl3pPr>
            <a:lvl4pPr algn="l">
              <a:buNone/>
              <a:defRPr sz="4275" b="1">
                <a:solidFill>
                  <a:srgbClr val="2563EB"/>
                </a:solidFill>
                <a:latin typeface="DejaVu Sans"/>
                <a:ea typeface="DejaVu Sans"/>
                <a:cs typeface="DejaVu Sans"/>
              </a:defRPr>
            </a:lvl4pPr>
            <a:lvl5pPr algn="l">
              <a:buNone/>
              <a:defRPr sz="4275" b="1">
                <a:solidFill>
                  <a:srgbClr val="2563EB"/>
                </a:solidFill>
                <a:latin typeface="DejaVu Sans"/>
                <a:ea typeface="DejaVu Sans"/>
                <a:cs typeface="DejaVu Sans"/>
              </a:defRPr>
            </a:lvl5pPr>
            <a:lvl6pPr algn="l">
              <a:buNone/>
              <a:defRPr sz="4275" b="1">
                <a:solidFill>
                  <a:srgbClr val="2563EB"/>
                </a:solidFill>
                <a:latin typeface="DejaVu Sans"/>
                <a:ea typeface="DejaVu Sans"/>
                <a:cs typeface="DejaVu Sans"/>
              </a:defRPr>
            </a:lvl6pPr>
            <a:lvl7pPr algn="l">
              <a:buNone/>
              <a:defRPr sz="4275" b="1">
                <a:solidFill>
                  <a:srgbClr val="2563EB"/>
                </a:solidFill>
                <a:latin typeface="DejaVu Sans"/>
                <a:ea typeface="DejaVu Sans"/>
                <a:cs typeface="DejaVu Sans"/>
              </a:defRPr>
            </a:lvl7pPr>
            <a:lvl8pPr algn="l">
              <a:buNone/>
              <a:defRPr sz="4275" b="1">
                <a:solidFill>
                  <a:srgbClr val="2563EB"/>
                </a:solidFill>
                <a:latin typeface="DejaVu Sans"/>
                <a:ea typeface="DejaVu Sans"/>
                <a:cs typeface="DejaVu Sans"/>
              </a:defRPr>
            </a:lvl8pPr>
            <a:lvl9pPr algn="l">
              <a:buNone/>
              <a:defRPr sz="4275" b="1">
                <a:solidFill>
                  <a:srgbClr val="2563EB"/>
                </a:solidFill>
                <a:latin typeface="DejaVu Sans"/>
                <a:ea typeface="DejaVu Sans"/>
                <a:cs typeface="DejaVu Sans"/>
              </a:defRPr>
            </a:lvl9pPr>
          </a:lstStyle>
          <a:p xmlns:a="http://schemas.openxmlformats.org/drawingml/2006/main">
            <a:pPr algn="l">
              <a:buNone/>
              <a:defRPr sz="4275" b="1">
                <a:solidFill>
                  <a:srgbClr val="2563EB"/>
                </a:solidFill>
                <a:latin typeface="DejaVu Sans"/>
                <a:ea typeface="DejaVu Sans"/>
                <a:cs typeface="DejaVu Sans"/>
              </a:defRPr>
            </a:pPr>
            <a:r>
              <a:rPr sz="4275" b="1">
                <a:solidFill>
                  <a:srgbClr val="2563EB"/>
                </a:solidFill>
                <a:latin typeface="DejaVu Sans"/>
                <a:ea typeface="DejaVu Sans"/>
                <a:cs typeface="DejaVu Sans"/>
              </a:rPr>
              <a:t>3.1×</a:t>
            </a:r>
          </a:p>
        </p:txBody>
      </p:sp>
      <p:sp>
        <p:nvSpPr>
          <p:cNvPr id="6" name="">
            <a:extLst xmlns:a="http://schemas.openxmlformats.org/drawingml/2006/main">
              <a:ext uri="{FF2B5EF4-FFF2-40B4-BE49-F238E27FC236}">
                <a16:creationId xmlns:a16="http://schemas.microsoft.com/office/drawing/2014/main" id="{8682280D-BE18-4077-AD16-DC77506D3C19}"/>
              </a:ext>
            </a:extLst>
          </p:cNvPr>
          <p:cNvSpPr>
            <a:spLocks xmlns:a="http://schemas.openxmlformats.org/drawingml/2006/main" noGrp="1"/>
          </p:cNvSpPr>
          <p:nvPr/>
        </p:nvSpPr>
        <p:spPr>
          <a:xfrm xmlns:a="http://schemas.openxmlformats.org/drawingml/2006/main">
            <a:off x="8820150" y="2914650"/>
            <a:ext cx="266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4748B"/>
                </a:solidFill>
                <a:latin typeface="DejaVu Sans"/>
                <a:ea typeface="DejaVu Sans"/>
                <a:cs typeface="DejaVu Sans"/>
              </a:defRPr>
            </a:defPPr>
            <a:lvl1pPr algn="l">
              <a:buNone/>
              <a:defRPr sz="1650" b="0">
                <a:solidFill>
                  <a:srgbClr val="64748B"/>
                </a:solidFill>
                <a:latin typeface="DejaVu Sans"/>
                <a:ea typeface="DejaVu Sans"/>
                <a:cs typeface="DejaVu Sans"/>
              </a:defRPr>
            </a:lvl1pPr>
            <a:lvl2pPr algn="l">
              <a:buNone/>
              <a:defRPr sz="1650" b="0">
                <a:solidFill>
                  <a:srgbClr val="64748B"/>
                </a:solidFill>
                <a:latin typeface="DejaVu Sans"/>
                <a:ea typeface="DejaVu Sans"/>
                <a:cs typeface="DejaVu Sans"/>
              </a:defRPr>
            </a:lvl2pPr>
            <a:lvl3pPr algn="l">
              <a:buNone/>
              <a:defRPr sz="1650" b="0">
                <a:solidFill>
                  <a:srgbClr val="64748B"/>
                </a:solidFill>
                <a:latin typeface="DejaVu Sans"/>
                <a:ea typeface="DejaVu Sans"/>
                <a:cs typeface="DejaVu Sans"/>
              </a:defRPr>
            </a:lvl3pPr>
            <a:lvl4pPr algn="l">
              <a:buNone/>
              <a:defRPr sz="1650" b="0">
                <a:solidFill>
                  <a:srgbClr val="64748B"/>
                </a:solidFill>
                <a:latin typeface="DejaVu Sans"/>
                <a:ea typeface="DejaVu Sans"/>
                <a:cs typeface="DejaVu Sans"/>
              </a:defRPr>
            </a:lvl4pPr>
            <a:lvl5pPr algn="l">
              <a:buNone/>
              <a:defRPr sz="1650" b="0">
                <a:solidFill>
                  <a:srgbClr val="64748B"/>
                </a:solidFill>
                <a:latin typeface="DejaVu Sans"/>
                <a:ea typeface="DejaVu Sans"/>
                <a:cs typeface="DejaVu Sans"/>
              </a:defRPr>
            </a:lvl5pPr>
            <a:lvl6pPr algn="l">
              <a:buNone/>
              <a:defRPr sz="1650" b="0">
                <a:solidFill>
                  <a:srgbClr val="64748B"/>
                </a:solidFill>
                <a:latin typeface="DejaVu Sans"/>
                <a:ea typeface="DejaVu Sans"/>
                <a:cs typeface="DejaVu Sans"/>
              </a:defRPr>
            </a:lvl6pPr>
            <a:lvl7pPr algn="l">
              <a:buNone/>
              <a:defRPr sz="1650" b="0">
                <a:solidFill>
                  <a:srgbClr val="64748B"/>
                </a:solidFill>
                <a:latin typeface="DejaVu Sans"/>
                <a:ea typeface="DejaVu Sans"/>
                <a:cs typeface="DejaVu Sans"/>
              </a:defRPr>
            </a:lvl7pPr>
            <a:lvl8pPr algn="l">
              <a:buNone/>
              <a:defRPr sz="1650" b="0">
                <a:solidFill>
                  <a:srgbClr val="64748B"/>
                </a:solidFill>
                <a:latin typeface="DejaVu Sans"/>
                <a:ea typeface="DejaVu Sans"/>
                <a:cs typeface="DejaVu Sans"/>
              </a:defRPr>
            </a:lvl8pPr>
            <a:lvl9pPr algn="l">
              <a:buNone/>
              <a:defRPr sz="1650" b="0">
                <a:solidFill>
                  <a:srgbClr val="64748B"/>
                </a:solidFill>
                <a:latin typeface="DejaVu Sans"/>
                <a:ea typeface="DejaVu Sans"/>
                <a:cs typeface="DejaVu Sans"/>
              </a:defRPr>
            </a:lvl9pPr>
          </a:lstStyle>
          <a:p xmlns:a="http://schemas.openxmlformats.org/drawingml/2006/main">
            <a:pPr algn="l">
              <a:buNone/>
              <a:defRPr sz="1650" b="0">
                <a:solidFill>
                  <a:srgbClr val="64748B"/>
                </a:solidFill>
                <a:latin typeface="DejaVu Sans"/>
                <a:ea typeface="DejaVu Sans"/>
                <a:cs typeface="DejaVu Sans"/>
              </a:defRPr>
            </a:pPr>
            <a:r>
              <a:rPr sz="1650" b="0">
                <a:solidFill>
                  <a:srgbClr val="64748B"/>
                </a:solidFill>
                <a:latin typeface="DejaVu Sans"/>
                <a:ea typeface="DejaVu Sans"/>
                <a:cs typeface="DejaVu Sans"/>
              </a:rPr>
              <a:t>as many visits</a:t>
            </a:r>
          </a:p>
          <a:p xmlns:a="http://schemas.openxmlformats.org/drawingml/2006/main">
            <a:pPr algn="l">
              <a:buNone/>
              <a:defRPr sz="1650" b="0">
                <a:solidFill>
                  <a:srgbClr val="64748B"/>
                </a:solidFill>
                <a:latin typeface="DejaVu Sans"/>
                <a:ea typeface="DejaVu Sans"/>
                <a:cs typeface="DejaVu Sans"/>
              </a:defRPr>
            </a:pPr>
            <a:r>
              <a:rPr sz="1650" b="0">
                <a:solidFill>
                  <a:srgbClr val="64748B"/>
                </a:solidFill>
                <a:latin typeface="DejaVu Sans"/>
                <a:ea typeface="DejaVu Sans"/>
                <a:cs typeface="DejaVu Sans"/>
              </a:rPr>
              <a:t>Frequent vs Occasional</a:t>
            </a:r>
          </a:p>
        </p:txBody>
      </p:sp>
      <p:sp>
        <p:nvSpPr>
          <p:cNvPr id="7" name="">
            <a:extLst xmlns:a="http://schemas.openxmlformats.org/drawingml/2006/main">
              <a:ext uri="{FF2B5EF4-FFF2-40B4-BE49-F238E27FC236}">
                <a16:creationId xmlns:a16="http://schemas.microsoft.com/office/drawing/2014/main" id="{A44A1E63-8068-4B94-9DC5-8F6389E2F138}"/>
              </a:ext>
            </a:extLst>
          </p:cNvPr>
          <p:cNvSpPr>
            <a:spLocks xmlns:a="http://schemas.openxmlformats.org/drawingml/2006/main" noGrp="1"/>
          </p:cNvSpPr>
          <p:nvPr/>
        </p:nvSpPr>
        <p:spPr>
          <a:xfrm xmlns:a="http://schemas.openxmlformats.org/drawingml/2006/main">
            <a:off x="8782050" y="3752850"/>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75" b="1">
                <a:solidFill>
                  <a:srgbClr val="7C3AED"/>
                </a:solidFill>
                <a:latin typeface="DejaVu Sans"/>
                <a:ea typeface="DejaVu Sans"/>
                <a:cs typeface="DejaVu Sans"/>
              </a:defRPr>
            </a:defPPr>
            <a:lvl1pPr algn="l">
              <a:buNone/>
              <a:defRPr sz="4275" b="1">
                <a:solidFill>
                  <a:srgbClr val="17243B"/>
                </a:solidFill>
                <a:latin typeface="DejaVu Sans"/>
                <a:ea typeface="DejaVu Sans"/>
                <a:cs typeface="DejaVu Sans"/>
              </a:defRPr>
            </a:lvl1pPr>
            <a:lvl2pPr algn="l">
              <a:buNone/>
              <a:defRPr sz="4275" b="1">
                <a:solidFill>
                  <a:srgbClr val="17243B"/>
                </a:solidFill>
                <a:latin typeface="DejaVu Sans"/>
                <a:ea typeface="DejaVu Sans"/>
                <a:cs typeface="DejaVu Sans"/>
              </a:defRPr>
            </a:lvl2pPr>
            <a:lvl3pPr algn="l">
              <a:buNone/>
              <a:defRPr sz="4275" b="1">
                <a:solidFill>
                  <a:srgbClr val="17243B"/>
                </a:solidFill>
                <a:latin typeface="DejaVu Sans"/>
                <a:ea typeface="DejaVu Sans"/>
                <a:cs typeface="DejaVu Sans"/>
              </a:defRPr>
            </a:lvl3pPr>
            <a:lvl4pPr algn="l">
              <a:buNone/>
              <a:defRPr sz="4275" b="1">
                <a:solidFill>
                  <a:srgbClr val="17243B"/>
                </a:solidFill>
                <a:latin typeface="DejaVu Sans"/>
                <a:ea typeface="DejaVu Sans"/>
                <a:cs typeface="DejaVu Sans"/>
              </a:defRPr>
            </a:lvl4pPr>
            <a:lvl5pPr algn="l">
              <a:buNone/>
              <a:defRPr sz="4275" b="1">
                <a:solidFill>
                  <a:srgbClr val="17243B"/>
                </a:solidFill>
                <a:latin typeface="DejaVu Sans"/>
                <a:ea typeface="DejaVu Sans"/>
                <a:cs typeface="DejaVu Sans"/>
              </a:defRPr>
            </a:lvl5pPr>
            <a:lvl6pPr algn="l">
              <a:buNone/>
              <a:defRPr sz="4275" b="1">
                <a:solidFill>
                  <a:srgbClr val="17243B"/>
                </a:solidFill>
                <a:latin typeface="DejaVu Sans"/>
                <a:ea typeface="DejaVu Sans"/>
                <a:cs typeface="DejaVu Sans"/>
              </a:defRPr>
            </a:lvl6pPr>
            <a:lvl7pPr algn="l">
              <a:buNone/>
              <a:defRPr sz="4275" b="1">
                <a:solidFill>
                  <a:srgbClr val="17243B"/>
                </a:solidFill>
                <a:latin typeface="DejaVu Sans"/>
                <a:ea typeface="DejaVu Sans"/>
                <a:cs typeface="DejaVu Sans"/>
              </a:defRPr>
            </a:lvl7pPr>
            <a:lvl8pPr algn="l">
              <a:buNone/>
              <a:defRPr sz="4275" b="1">
                <a:solidFill>
                  <a:srgbClr val="17243B"/>
                </a:solidFill>
                <a:latin typeface="DejaVu Sans"/>
                <a:ea typeface="DejaVu Sans"/>
                <a:cs typeface="DejaVu Sans"/>
              </a:defRPr>
            </a:lvl8pPr>
            <a:lvl9pPr algn="l">
              <a:buNone/>
              <a:defRPr sz="4275" b="1">
                <a:solidFill>
                  <a:srgbClr val="17243B"/>
                </a:solidFill>
                <a:latin typeface="DejaVu Sans"/>
                <a:ea typeface="DejaVu Sans"/>
                <a:cs typeface="DejaVu Sans"/>
              </a:defRPr>
            </a:lvl9pPr>
          </a:lstStyle>
          <a:p xmlns:a="http://schemas.openxmlformats.org/drawingml/2006/main">
            <a:pPr algn="l">
              <a:buNone/>
              <a:defRPr sz="4275" b="1">
                <a:solidFill>
                  <a:srgbClr val="7C3AED"/>
                </a:solidFill>
                <a:latin typeface="DejaVu Sans"/>
                <a:ea typeface="DejaVu Sans"/>
                <a:cs typeface="DejaVu Sans"/>
              </a:defRPr>
            </a:pPr>
            <a:r>
              <a:rPr sz="4275" b="1">
                <a:solidFill>
                  <a:srgbClr val="7C3AED"/>
                </a:solidFill>
                <a:latin typeface="DejaVu Sans"/>
                <a:ea typeface="DejaVu Sans"/>
                <a:cs typeface="DejaVu Sans"/>
              </a:rPr>
              <a:t>21%</a:t>
            </a:r>
          </a:p>
        </p:txBody>
      </p:sp>
      <p:sp>
        <p:nvSpPr>
          <p:cNvPr id="8" name="">
            <a:extLst xmlns:a="http://schemas.openxmlformats.org/drawingml/2006/main">
              <a:ext uri="{FF2B5EF4-FFF2-40B4-BE49-F238E27FC236}">
                <a16:creationId xmlns:a16="http://schemas.microsoft.com/office/drawing/2014/main" id="{0669451C-82EE-468F-B78A-BD352DE7AA4C}"/>
              </a:ext>
            </a:extLst>
          </p:cNvPr>
          <p:cNvSpPr>
            <a:spLocks xmlns:a="http://schemas.openxmlformats.org/drawingml/2006/main" noGrp="1"/>
          </p:cNvSpPr>
          <p:nvPr/>
        </p:nvSpPr>
        <p:spPr>
          <a:xfrm xmlns:a="http://schemas.openxmlformats.org/drawingml/2006/main">
            <a:off x="8820150" y="4552950"/>
            <a:ext cx="266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4748B"/>
                </a:solidFill>
                <a:latin typeface="DejaVu Sans"/>
                <a:ea typeface="DejaVu Sans"/>
                <a:cs typeface="DejaVu Sans"/>
              </a:defRPr>
            </a:defPPr>
            <a:lvl1pPr algn="l">
              <a:buNone/>
              <a:defRPr sz="1650" b="0">
                <a:solidFill>
                  <a:srgbClr val="64748B"/>
                </a:solidFill>
                <a:latin typeface="DejaVu Sans"/>
                <a:ea typeface="DejaVu Sans"/>
                <a:cs typeface="DejaVu Sans"/>
              </a:defRPr>
            </a:lvl1pPr>
            <a:lvl2pPr algn="l">
              <a:buNone/>
              <a:defRPr sz="1650" b="0">
                <a:solidFill>
                  <a:srgbClr val="64748B"/>
                </a:solidFill>
                <a:latin typeface="DejaVu Sans"/>
                <a:ea typeface="DejaVu Sans"/>
                <a:cs typeface="DejaVu Sans"/>
              </a:defRPr>
            </a:lvl2pPr>
            <a:lvl3pPr algn="l">
              <a:buNone/>
              <a:defRPr sz="1650" b="0">
                <a:solidFill>
                  <a:srgbClr val="64748B"/>
                </a:solidFill>
                <a:latin typeface="DejaVu Sans"/>
                <a:ea typeface="DejaVu Sans"/>
                <a:cs typeface="DejaVu Sans"/>
              </a:defRPr>
            </a:lvl3pPr>
            <a:lvl4pPr algn="l">
              <a:buNone/>
              <a:defRPr sz="1650" b="0">
                <a:solidFill>
                  <a:srgbClr val="64748B"/>
                </a:solidFill>
                <a:latin typeface="DejaVu Sans"/>
                <a:ea typeface="DejaVu Sans"/>
                <a:cs typeface="DejaVu Sans"/>
              </a:defRPr>
            </a:lvl4pPr>
            <a:lvl5pPr algn="l">
              <a:buNone/>
              <a:defRPr sz="1650" b="0">
                <a:solidFill>
                  <a:srgbClr val="64748B"/>
                </a:solidFill>
                <a:latin typeface="DejaVu Sans"/>
                <a:ea typeface="DejaVu Sans"/>
                <a:cs typeface="DejaVu Sans"/>
              </a:defRPr>
            </a:lvl5pPr>
            <a:lvl6pPr algn="l">
              <a:buNone/>
              <a:defRPr sz="1650" b="0">
                <a:solidFill>
                  <a:srgbClr val="64748B"/>
                </a:solidFill>
                <a:latin typeface="DejaVu Sans"/>
                <a:ea typeface="DejaVu Sans"/>
                <a:cs typeface="DejaVu Sans"/>
              </a:defRPr>
            </a:lvl6pPr>
            <a:lvl7pPr algn="l">
              <a:buNone/>
              <a:defRPr sz="1650" b="0">
                <a:solidFill>
                  <a:srgbClr val="64748B"/>
                </a:solidFill>
                <a:latin typeface="DejaVu Sans"/>
                <a:ea typeface="DejaVu Sans"/>
                <a:cs typeface="DejaVu Sans"/>
              </a:defRPr>
            </a:lvl7pPr>
            <a:lvl8pPr algn="l">
              <a:buNone/>
              <a:defRPr sz="1650" b="0">
                <a:solidFill>
                  <a:srgbClr val="64748B"/>
                </a:solidFill>
                <a:latin typeface="DejaVu Sans"/>
                <a:ea typeface="DejaVu Sans"/>
                <a:cs typeface="DejaVu Sans"/>
              </a:defRPr>
            </a:lvl8pPr>
            <a:lvl9pPr algn="l">
              <a:buNone/>
              <a:defRPr sz="1650" b="0">
                <a:solidFill>
                  <a:srgbClr val="64748B"/>
                </a:solidFill>
                <a:latin typeface="DejaVu Sans"/>
                <a:ea typeface="DejaVu Sans"/>
                <a:cs typeface="DejaVu Sans"/>
              </a:defRPr>
            </a:lvl9pPr>
          </a:lstStyle>
          <a:p xmlns:a="http://schemas.openxmlformats.org/drawingml/2006/main">
            <a:pPr algn="l">
              <a:buNone/>
              <a:defRPr sz="1650" b="0">
                <a:solidFill>
                  <a:srgbClr val="64748B"/>
                </a:solidFill>
                <a:latin typeface="DejaVu Sans"/>
                <a:ea typeface="DejaVu Sans"/>
                <a:cs typeface="DejaVu Sans"/>
              </a:defRPr>
            </a:pPr>
            <a:r>
              <a:rPr sz="1650" b="0">
                <a:solidFill>
                  <a:srgbClr val="64748B"/>
                </a:solidFill>
                <a:latin typeface="DejaVu Sans"/>
                <a:ea typeface="DejaVu Sans"/>
                <a:cs typeface="DejaVu Sans"/>
              </a:rPr>
              <a:t>larger mean basket</a:t>
            </a:r>
          </a:p>
          <a:p xmlns:a="http://schemas.openxmlformats.org/drawingml/2006/main">
            <a:pPr algn="l">
              <a:buNone/>
              <a:defRPr sz="1650" b="0">
                <a:solidFill>
                  <a:srgbClr val="64748B"/>
                </a:solidFill>
                <a:latin typeface="DejaVu Sans"/>
                <a:ea typeface="DejaVu Sans"/>
                <a:cs typeface="DejaVu Sans"/>
              </a:defRPr>
            </a:pPr>
            <a:r>
              <a:rPr sz="1650" b="0">
                <a:solidFill>
                  <a:srgbClr val="64748B"/>
                </a:solidFill>
                <a:latin typeface="DejaVu Sans"/>
                <a:ea typeface="DejaVu Sans"/>
                <a:cs typeface="DejaVu Sans"/>
              </a:rPr>
              <a:t>Occasional vs Frequent</a:t>
            </a:r>
          </a:p>
        </p:txBody>
      </p:sp>
      <p:sp>
        <p:nvSpPr>
          <p:cNvPr id="9" name="">
            <a:extLst xmlns:a="http://schemas.openxmlformats.org/drawingml/2006/main">
              <a:ext uri="{FF2B5EF4-FFF2-40B4-BE49-F238E27FC236}">
                <a16:creationId xmlns:a16="http://schemas.microsoft.com/office/drawing/2014/main" id="{639D1F67-C32A-44A1-B30C-65EF42B95BE7}"/>
              </a:ext>
            </a:extLst>
          </p:cNvPr>
          <p:cNvSpPr>
            <a:spLocks xmlns:a="http://schemas.openxmlformats.org/drawingml/2006/main" noGrp="1"/>
          </p:cNvSpPr>
          <p:nvPr/>
        </p:nvSpPr>
        <p:spPr>
          <a:xfrm xmlns:a="http://schemas.openxmlformats.org/drawingml/2006/main">
            <a:off x="666750" y="5753100"/>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7243B"/>
                </a:solidFill>
                <a:latin typeface="DejaVu Sans"/>
                <a:ea typeface="DejaVu Sans"/>
                <a:cs typeface="DejaVu Sans"/>
              </a:defRPr>
            </a:defPPr>
            <a:lvl1pPr algn="l">
              <a:buNone/>
              <a:defRPr sz="1575" b="0">
                <a:solidFill>
                  <a:srgbClr val="64748B"/>
                </a:solidFill>
                <a:latin typeface="DejaVu Sans"/>
                <a:ea typeface="DejaVu Sans"/>
                <a:cs typeface="DejaVu Sans"/>
              </a:defRPr>
            </a:lvl1pPr>
            <a:lvl2pPr algn="l">
              <a:buNone/>
              <a:defRPr sz="1575" b="0">
                <a:solidFill>
                  <a:srgbClr val="64748B"/>
                </a:solidFill>
                <a:latin typeface="DejaVu Sans"/>
                <a:ea typeface="DejaVu Sans"/>
                <a:cs typeface="DejaVu Sans"/>
              </a:defRPr>
            </a:lvl2pPr>
            <a:lvl3pPr algn="l">
              <a:buNone/>
              <a:defRPr sz="1575" b="0">
                <a:solidFill>
                  <a:srgbClr val="64748B"/>
                </a:solidFill>
                <a:latin typeface="DejaVu Sans"/>
                <a:ea typeface="DejaVu Sans"/>
                <a:cs typeface="DejaVu Sans"/>
              </a:defRPr>
            </a:lvl3pPr>
            <a:lvl4pPr algn="l">
              <a:buNone/>
              <a:defRPr sz="1575" b="0">
                <a:solidFill>
                  <a:srgbClr val="64748B"/>
                </a:solidFill>
                <a:latin typeface="DejaVu Sans"/>
                <a:ea typeface="DejaVu Sans"/>
                <a:cs typeface="DejaVu Sans"/>
              </a:defRPr>
            </a:lvl4pPr>
            <a:lvl5pPr algn="l">
              <a:buNone/>
              <a:defRPr sz="1575" b="0">
                <a:solidFill>
                  <a:srgbClr val="64748B"/>
                </a:solidFill>
                <a:latin typeface="DejaVu Sans"/>
                <a:ea typeface="DejaVu Sans"/>
                <a:cs typeface="DejaVu Sans"/>
              </a:defRPr>
            </a:lvl5pPr>
            <a:lvl6pPr algn="l">
              <a:buNone/>
              <a:defRPr sz="1575" b="0">
                <a:solidFill>
                  <a:srgbClr val="64748B"/>
                </a:solidFill>
                <a:latin typeface="DejaVu Sans"/>
                <a:ea typeface="DejaVu Sans"/>
                <a:cs typeface="DejaVu Sans"/>
              </a:defRPr>
            </a:lvl6pPr>
            <a:lvl7pPr algn="l">
              <a:buNone/>
              <a:defRPr sz="1575" b="0">
                <a:solidFill>
                  <a:srgbClr val="64748B"/>
                </a:solidFill>
                <a:latin typeface="DejaVu Sans"/>
                <a:ea typeface="DejaVu Sans"/>
                <a:cs typeface="DejaVu Sans"/>
              </a:defRPr>
            </a:lvl7pPr>
            <a:lvl8pPr algn="l">
              <a:buNone/>
              <a:defRPr sz="1575" b="0">
                <a:solidFill>
                  <a:srgbClr val="64748B"/>
                </a:solidFill>
                <a:latin typeface="DejaVu Sans"/>
                <a:ea typeface="DejaVu Sans"/>
                <a:cs typeface="DejaVu Sans"/>
              </a:defRPr>
            </a:lvl8pPr>
            <a:lvl9pPr algn="l">
              <a:buNone/>
              <a:defRPr sz="1575" b="0">
                <a:solidFill>
                  <a:srgbClr val="64748B"/>
                </a:solidFill>
                <a:latin typeface="DejaVu Sans"/>
                <a:ea typeface="DejaVu Sans"/>
                <a:cs typeface="DejaVu Sans"/>
              </a:defRPr>
            </a:lvl9pPr>
          </a:lstStyle>
          <a:p xmlns:a="http://schemas.openxmlformats.org/drawingml/2006/main">
            <a:pPr algn="l">
              <a:buNone/>
              <a:defRPr sz="1575" b="0">
                <a:solidFill>
                  <a:srgbClr val="17243B"/>
                </a:solidFill>
                <a:latin typeface="DejaVu Sans"/>
                <a:ea typeface="DejaVu Sans"/>
                <a:cs typeface="DejaVu Sans"/>
              </a:defRPr>
            </a:pPr>
            <a:r>
              <a:rPr sz="1575" b="0">
                <a:solidFill>
                  <a:srgbClr val="17243B"/>
                </a:solidFill>
                <a:latin typeface="DejaVu Sans"/>
                <a:ea typeface="DejaVu Sans"/>
                <a:cs typeface="DejaVu Sans"/>
              </a:rPr>
              <a:t>Frequent shoppers visit over three times as often. Occasional shoppers have</a:t>
            </a:r>
          </a:p>
          <a:p xmlns:a="http://schemas.openxmlformats.org/drawingml/2006/main">
            <a:pPr algn="l">
              <a:buNone/>
              <a:defRPr sz="1575" b="0">
                <a:solidFill>
                  <a:srgbClr val="17243B"/>
                </a:solidFill>
                <a:latin typeface="DejaVu Sans"/>
                <a:ea typeface="DejaVu Sans"/>
                <a:cs typeface="DejaVu Sans"/>
              </a:defRPr>
            </a:pPr>
            <a:r>
              <a:rPr sz="1575" b="0">
                <a:solidFill>
                  <a:srgbClr val="17243B"/>
                </a:solidFill>
                <a:latin typeface="DejaVu Sans"/>
                <a:ea typeface="DejaVu Sans"/>
                <a:cs typeface="DejaVu Sans"/>
              </a:rPr>
              <a:t>larger baskets, but lower spending per customer.</a:t>
            </a:r>
          </a:p>
        </p:txBody>
      </p:sp>
      <p:graphicFrame>
        <p:nvGraphicFramePr>
          <p:cNvPr id="4" name="Chart">
            <a:extLst xmlns:a="http://schemas.openxmlformats.org/drawingml/2006/main">
              <a:ext uri="{FF2B5EF4-FFF2-40B4-BE49-F238E27FC236}">
                <a16:creationId xmlns:a16="http://schemas.microsoft.com/office/drawing/2014/main" id="{F4B19AA0-6AC4-4C80-B631-193073954077}"/>
              </a:ext>
            </a:extLst>
          </p:cNvPr>
          <p:cNvGraphicFramePr/>
          <p:nvPr/>
        </p:nvGraphicFramePr>
        <p:xfrm>
          <a:off xmlns:a="http://schemas.openxmlformats.org/drawingml/2006/main" x="628650" y="1781175"/>
          <a:ext xmlns:a="http://schemas.openxmlformats.org/drawingml/2006/main" cx="7715250" cy="3905250"/>
        </p:xfrm>
        <a:graphic xmlns:a="http://schemas.openxmlformats.org/drawingml/2006/main">
          <a:graphicData uri="http://schemas.openxmlformats.org/drawingml/2006/chart">
            <c:chart xmlns:r="http://schemas.openxmlformats.org/officeDocument/2006/relationships" xmlns:c="http://schemas.openxmlformats.org/drawingml/2006/chart" r:id="R758f3af3fc7a441b"/>
          </a:graphicData>
        </a:graphic>
      </p:graphicFrame>
    </p:spTree>
    <p:extLst>
      <p:ext uri="{BB962C8B-B14F-4D97-AF65-F5344CB8AC3E}">
        <p14:creationId xmlns:p14="http://schemas.microsoft.com/office/powerpoint/2010/main" val="15451969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D19191B-3112-4E14-8E58-130F52A130B4}"/>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243B"/>
                </a:solidFill>
                <a:latin typeface="DejaVu Sans"/>
                <a:ea typeface="DejaVu Sans"/>
                <a:cs typeface="DejaVu Sans"/>
              </a:defRPr>
            </a:defPPr>
            <a:lvl1pPr algn="l">
              <a:buNone/>
              <a:defRPr sz="3225" b="1">
                <a:solidFill>
                  <a:srgbClr val="17243B"/>
                </a:solidFill>
                <a:latin typeface="DejaVu Sans"/>
                <a:ea typeface="DejaVu Sans"/>
                <a:cs typeface="DejaVu Sans"/>
              </a:defRPr>
            </a:lvl1pPr>
            <a:lvl2pPr algn="l">
              <a:buNone/>
              <a:defRPr sz="3225" b="1">
                <a:solidFill>
                  <a:srgbClr val="17243B"/>
                </a:solidFill>
                <a:latin typeface="DejaVu Sans"/>
                <a:ea typeface="DejaVu Sans"/>
                <a:cs typeface="DejaVu Sans"/>
              </a:defRPr>
            </a:lvl2pPr>
            <a:lvl3pPr algn="l">
              <a:buNone/>
              <a:defRPr sz="3225" b="1">
                <a:solidFill>
                  <a:srgbClr val="17243B"/>
                </a:solidFill>
                <a:latin typeface="DejaVu Sans"/>
                <a:ea typeface="DejaVu Sans"/>
                <a:cs typeface="DejaVu Sans"/>
              </a:defRPr>
            </a:lvl3pPr>
            <a:lvl4pPr algn="l">
              <a:buNone/>
              <a:defRPr sz="3225" b="1">
                <a:solidFill>
                  <a:srgbClr val="17243B"/>
                </a:solidFill>
                <a:latin typeface="DejaVu Sans"/>
                <a:ea typeface="DejaVu Sans"/>
                <a:cs typeface="DejaVu Sans"/>
              </a:defRPr>
            </a:lvl4pPr>
            <a:lvl5pPr algn="l">
              <a:buNone/>
              <a:defRPr sz="3225" b="1">
                <a:solidFill>
                  <a:srgbClr val="17243B"/>
                </a:solidFill>
                <a:latin typeface="DejaVu Sans"/>
                <a:ea typeface="DejaVu Sans"/>
                <a:cs typeface="DejaVu Sans"/>
              </a:defRPr>
            </a:lvl5pPr>
            <a:lvl6pPr algn="l">
              <a:buNone/>
              <a:defRPr sz="3225" b="1">
                <a:solidFill>
                  <a:srgbClr val="17243B"/>
                </a:solidFill>
                <a:latin typeface="DejaVu Sans"/>
                <a:ea typeface="DejaVu Sans"/>
                <a:cs typeface="DejaVu Sans"/>
              </a:defRPr>
            </a:lvl6pPr>
            <a:lvl7pPr algn="l">
              <a:buNone/>
              <a:defRPr sz="3225" b="1">
                <a:solidFill>
                  <a:srgbClr val="17243B"/>
                </a:solidFill>
                <a:latin typeface="DejaVu Sans"/>
                <a:ea typeface="DejaVu Sans"/>
                <a:cs typeface="DejaVu Sans"/>
              </a:defRPr>
            </a:lvl7pPr>
            <a:lvl8pPr algn="l">
              <a:buNone/>
              <a:defRPr sz="3225" b="1">
                <a:solidFill>
                  <a:srgbClr val="17243B"/>
                </a:solidFill>
                <a:latin typeface="DejaVu Sans"/>
                <a:ea typeface="DejaVu Sans"/>
                <a:cs typeface="DejaVu Sans"/>
              </a:defRPr>
            </a:lvl8pPr>
            <a:lvl9pPr algn="l">
              <a:buNone/>
              <a:defRPr sz="3225" b="1">
                <a:solidFill>
                  <a:srgbClr val="17243B"/>
                </a:solidFill>
                <a:latin typeface="DejaVu Sans"/>
                <a:ea typeface="DejaVu Sans"/>
                <a:cs typeface="DejaVu Sans"/>
              </a:defRPr>
            </a:lvl9pPr>
          </a:lstStyle>
          <a:p xmlns:a="http://schemas.openxmlformats.org/drawingml/2006/main">
            <a:pPr algn="l">
              <a:buNone/>
              <a:defRPr sz="3225" b="1">
                <a:solidFill>
                  <a:srgbClr val="17243B"/>
                </a:solidFill>
                <a:latin typeface="DejaVu Sans"/>
                <a:ea typeface="DejaVu Sans"/>
                <a:cs typeface="DejaVu Sans"/>
              </a:defRPr>
            </a:pPr>
            <a:r>
              <a:rPr sz="3225" b="1">
                <a:solidFill>
                  <a:srgbClr val="17243B"/>
                </a:solidFill>
                <a:latin typeface="DejaVu Sans"/>
                <a:ea typeface="DejaVu Sans"/>
                <a:cs typeface="DejaVu Sans"/>
              </a:rPr>
              <a:t>Time since the last purchase differs sharply</a:t>
            </a:r>
          </a:p>
        </p:txBody>
      </p:sp>
      <p:sp>
        <p:nvSpPr>
          <p:cNvPr id="2" name="">
            <a:extLst xmlns:a="http://schemas.openxmlformats.org/drawingml/2006/main">
              <a:ext uri="{FF2B5EF4-FFF2-40B4-BE49-F238E27FC236}">
                <a16:creationId xmlns:a16="http://schemas.microsoft.com/office/drawing/2014/main" id="{7FAD4009-F5E3-4DD9-B7F5-08CFBE46221B}"/>
              </a:ext>
            </a:extLst>
          </p:cNvPr>
          <p:cNvSpPr>
            <a:spLocks xmlns:a="http://schemas.openxmlformats.org/drawingml/2006/main" noGrp="1"/>
          </p:cNvSpPr>
          <p:nvPr/>
        </p:nvSpPr>
        <p:spPr>
          <a:xfrm xmlns:a="http://schemas.openxmlformats.org/drawingml/2006/main">
            <a:off x="609600" y="6429375"/>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050" b="0">
                <a:solidFill>
                  <a:srgbClr val="64748B"/>
                </a:solidFill>
                <a:latin typeface="DejaVu Sans"/>
                <a:ea typeface="DejaVu Sans"/>
                <a:cs typeface="DejaVu Sans"/>
              </a:defRPr>
            </a:defPPr>
            <a:lvl1pPr>
              <a:buNone/>
              <a:defRPr sz="1050" b="0">
                <a:solidFill>
                  <a:srgbClr val="64748B"/>
                </a:solidFill>
                <a:latin typeface="DejaVu Sans"/>
                <a:ea typeface="DejaVu Sans"/>
                <a:cs typeface="DejaVu Sans"/>
              </a:defRPr>
            </a:lvl1pPr>
            <a:lvl2pPr>
              <a:buNone/>
              <a:defRPr sz="1050" b="0">
                <a:solidFill>
                  <a:srgbClr val="64748B"/>
                </a:solidFill>
                <a:latin typeface="DejaVu Sans"/>
                <a:ea typeface="DejaVu Sans"/>
                <a:cs typeface="DejaVu Sans"/>
              </a:defRPr>
            </a:lvl2pPr>
            <a:lvl3pPr>
              <a:buNone/>
              <a:defRPr sz="1050" b="0">
                <a:solidFill>
                  <a:srgbClr val="64748B"/>
                </a:solidFill>
                <a:latin typeface="DejaVu Sans"/>
                <a:ea typeface="DejaVu Sans"/>
                <a:cs typeface="DejaVu Sans"/>
              </a:defRPr>
            </a:lvl3pPr>
            <a:lvl4pPr>
              <a:buNone/>
              <a:defRPr sz="1050" b="0">
                <a:solidFill>
                  <a:srgbClr val="64748B"/>
                </a:solidFill>
                <a:latin typeface="DejaVu Sans"/>
                <a:ea typeface="DejaVu Sans"/>
                <a:cs typeface="DejaVu Sans"/>
              </a:defRPr>
            </a:lvl4pPr>
            <a:lvl5pPr>
              <a:buNone/>
              <a:defRPr sz="1050" b="0">
                <a:solidFill>
                  <a:srgbClr val="64748B"/>
                </a:solidFill>
                <a:latin typeface="DejaVu Sans"/>
                <a:ea typeface="DejaVu Sans"/>
                <a:cs typeface="DejaVu Sans"/>
              </a:defRPr>
            </a:lvl5pPr>
            <a:lvl6pPr>
              <a:buNone/>
              <a:defRPr sz="1050" b="0">
                <a:solidFill>
                  <a:srgbClr val="64748B"/>
                </a:solidFill>
                <a:latin typeface="DejaVu Sans"/>
                <a:ea typeface="DejaVu Sans"/>
                <a:cs typeface="DejaVu Sans"/>
              </a:defRPr>
            </a:lvl6pPr>
            <a:lvl7pPr>
              <a:buNone/>
              <a:defRPr sz="1050" b="0">
                <a:solidFill>
                  <a:srgbClr val="64748B"/>
                </a:solidFill>
                <a:latin typeface="DejaVu Sans"/>
                <a:ea typeface="DejaVu Sans"/>
                <a:cs typeface="DejaVu Sans"/>
              </a:defRPr>
            </a:lvl7pPr>
            <a:lvl8pPr>
              <a:buNone/>
              <a:defRPr sz="1050" b="0">
                <a:solidFill>
                  <a:srgbClr val="64748B"/>
                </a:solidFill>
                <a:latin typeface="DejaVu Sans"/>
                <a:ea typeface="DejaVu Sans"/>
                <a:cs typeface="DejaVu Sans"/>
              </a:defRPr>
            </a:lvl8pPr>
            <a:lvl9pPr>
              <a:buNone/>
              <a:defRPr sz="1050" b="0">
                <a:solidFill>
                  <a:srgbClr val="64748B"/>
                </a:solidFill>
                <a:latin typeface="DejaVu Sans"/>
                <a:ea typeface="DejaVu Sans"/>
                <a:cs typeface="DejaVu Sans"/>
              </a:defRPr>
            </a:lvl9pPr>
          </a:lstStyle>
          <a:p xmlns:a="http://schemas.openxmlformats.org/drawingml/2006/main">
            <a:pPr>
              <a:buNone/>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FMCG Consumer Growth &amp; Promotion Insights</a:t>
            </a:r>
          </a:p>
        </p:txBody>
      </p:sp>
      <p:sp>
        <p:nvSpPr>
          <p:cNvPr id="3" name="">
            <a:extLst xmlns:a="http://schemas.openxmlformats.org/drawingml/2006/main">
              <a:ext uri="{FF2B5EF4-FFF2-40B4-BE49-F238E27FC236}">
                <a16:creationId xmlns:a16="http://schemas.microsoft.com/office/drawing/2014/main" id="{5DE697B5-6D4E-421B-A372-8CE6E25AEECC}"/>
              </a:ext>
            </a:extLst>
          </p:cNvPr>
          <p:cNvSpPr>
            <a:spLocks xmlns:a="http://schemas.openxmlformats.org/drawingml/2006/main" noGrp="1"/>
          </p:cNvSpPr>
          <p:nvPr/>
        </p:nvSpPr>
        <p:spPr>
          <a:xfrm xmlns:a="http://schemas.openxmlformats.org/drawingml/2006/main">
            <a:off x="11049000" y="64198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DejaVu Sans"/>
                <a:ea typeface="DejaVu Sans"/>
                <a:cs typeface="DejaVu Sans"/>
              </a:defRPr>
            </a:defPPr>
            <a:lvl1pPr algn="l">
              <a:buNone/>
              <a:defRPr sz="1200" b="0">
                <a:solidFill>
                  <a:srgbClr val="64748B"/>
                </a:solidFill>
                <a:latin typeface="DejaVu Sans"/>
                <a:ea typeface="DejaVu Sans"/>
                <a:cs typeface="DejaVu Sans"/>
              </a:defRPr>
            </a:lvl1pPr>
            <a:lvl2pPr algn="l">
              <a:buNone/>
              <a:defRPr sz="1200" b="0">
                <a:solidFill>
                  <a:srgbClr val="64748B"/>
                </a:solidFill>
                <a:latin typeface="DejaVu Sans"/>
                <a:ea typeface="DejaVu Sans"/>
                <a:cs typeface="DejaVu Sans"/>
              </a:defRPr>
            </a:lvl2pPr>
            <a:lvl3pPr algn="l">
              <a:buNone/>
              <a:defRPr sz="1200" b="0">
                <a:solidFill>
                  <a:srgbClr val="64748B"/>
                </a:solidFill>
                <a:latin typeface="DejaVu Sans"/>
                <a:ea typeface="DejaVu Sans"/>
                <a:cs typeface="DejaVu Sans"/>
              </a:defRPr>
            </a:lvl3pPr>
            <a:lvl4pPr algn="l">
              <a:buNone/>
              <a:defRPr sz="1200" b="0">
                <a:solidFill>
                  <a:srgbClr val="64748B"/>
                </a:solidFill>
                <a:latin typeface="DejaVu Sans"/>
                <a:ea typeface="DejaVu Sans"/>
                <a:cs typeface="DejaVu Sans"/>
              </a:defRPr>
            </a:lvl4pPr>
            <a:lvl5pPr algn="l">
              <a:buNone/>
              <a:defRPr sz="1200" b="0">
                <a:solidFill>
                  <a:srgbClr val="64748B"/>
                </a:solidFill>
                <a:latin typeface="DejaVu Sans"/>
                <a:ea typeface="DejaVu Sans"/>
                <a:cs typeface="DejaVu Sans"/>
              </a:defRPr>
            </a:lvl5pPr>
            <a:lvl6pPr algn="l">
              <a:buNone/>
              <a:defRPr sz="1200" b="0">
                <a:solidFill>
                  <a:srgbClr val="64748B"/>
                </a:solidFill>
                <a:latin typeface="DejaVu Sans"/>
                <a:ea typeface="DejaVu Sans"/>
                <a:cs typeface="DejaVu Sans"/>
              </a:defRPr>
            </a:lvl6pPr>
            <a:lvl7pPr algn="l">
              <a:buNone/>
              <a:defRPr sz="1200" b="0">
                <a:solidFill>
                  <a:srgbClr val="64748B"/>
                </a:solidFill>
                <a:latin typeface="DejaVu Sans"/>
                <a:ea typeface="DejaVu Sans"/>
                <a:cs typeface="DejaVu Sans"/>
              </a:defRPr>
            </a:lvl7pPr>
            <a:lvl8pPr algn="l">
              <a:buNone/>
              <a:defRPr sz="1200" b="0">
                <a:solidFill>
                  <a:srgbClr val="64748B"/>
                </a:solidFill>
                <a:latin typeface="DejaVu Sans"/>
                <a:ea typeface="DejaVu Sans"/>
                <a:cs typeface="DejaVu Sans"/>
              </a:defRPr>
            </a:lvl8pPr>
            <a:lvl9pPr algn="l">
              <a:buNone/>
              <a:defRPr sz="1200" b="0">
                <a:solidFill>
                  <a:srgbClr val="64748B"/>
                </a:solidFill>
                <a:latin typeface="DejaVu Sans"/>
                <a:ea typeface="DejaVu Sans"/>
                <a:cs typeface="DejaVu Sans"/>
              </a:defRPr>
            </a:lvl9pPr>
          </a:lstStyle>
          <a:p xmlns:a="http://schemas.openxmlformats.org/drawingml/2006/main">
            <a:pPr algn="l">
              <a:buNone/>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06</a:t>
            </a:r>
          </a:p>
        </p:txBody>
      </p:sp>
      <p:sp>
        <p:nvSpPr>
          <p:cNvPr id="5" name="">
            <a:extLst xmlns:a="http://schemas.openxmlformats.org/drawingml/2006/main">
              <a:ext uri="{FF2B5EF4-FFF2-40B4-BE49-F238E27FC236}">
                <a16:creationId xmlns:a16="http://schemas.microsoft.com/office/drawing/2014/main" id="{D93B59C0-3224-4FD6-947B-59EF942A2BE7}"/>
              </a:ext>
            </a:extLst>
          </p:cNvPr>
          <p:cNvSpPr>
            <a:spLocks xmlns:a="http://schemas.openxmlformats.org/drawingml/2006/main" noGrp="1"/>
          </p:cNvSpPr>
          <p:nvPr/>
        </p:nvSpPr>
        <p:spPr>
          <a:xfrm xmlns:a="http://schemas.openxmlformats.org/drawingml/2006/main">
            <a:off x="8782050" y="2095500"/>
            <a:ext cx="276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75" b="1">
                <a:solidFill>
                  <a:srgbClr val="0F9488"/>
                </a:solidFill>
                <a:latin typeface="DejaVu Sans"/>
                <a:ea typeface="DejaVu Sans"/>
                <a:cs typeface="DejaVu Sans"/>
              </a:defRPr>
            </a:defPPr>
            <a:lvl1pPr algn="l">
              <a:buNone/>
              <a:defRPr sz="4275" b="1">
                <a:solidFill>
                  <a:srgbClr val="2563EB"/>
                </a:solidFill>
                <a:latin typeface="DejaVu Sans"/>
                <a:ea typeface="DejaVu Sans"/>
                <a:cs typeface="DejaVu Sans"/>
              </a:defRPr>
            </a:lvl1pPr>
            <a:lvl2pPr algn="l">
              <a:buNone/>
              <a:defRPr sz="4275" b="1">
                <a:solidFill>
                  <a:srgbClr val="2563EB"/>
                </a:solidFill>
                <a:latin typeface="DejaVu Sans"/>
                <a:ea typeface="DejaVu Sans"/>
                <a:cs typeface="DejaVu Sans"/>
              </a:defRPr>
            </a:lvl2pPr>
            <a:lvl3pPr algn="l">
              <a:buNone/>
              <a:defRPr sz="4275" b="1">
                <a:solidFill>
                  <a:srgbClr val="2563EB"/>
                </a:solidFill>
                <a:latin typeface="DejaVu Sans"/>
                <a:ea typeface="DejaVu Sans"/>
                <a:cs typeface="DejaVu Sans"/>
              </a:defRPr>
            </a:lvl3pPr>
            <a:lvl4pPr algn="l">
              <a:buNone/>
              <a:defRPr sz="4275" b="1">
                <a:solidFill>
                  <a:srgbClr val="2563EB"/>
                </a:solidFill>
                <a:latin typeface="DejaVu Sans"/>
                <a:ea typeface="DejaVu Sans"/>
                <a:cs typeface="DejaVu Sans"/>
              </a:defRPr>
            </a:lvl4pPr>
            <a:lvl5pPr algn="l">
              <a:buNone/>
              <a:defRPr sz="4275" b="1">
                <a:solidFill>
                  <a:srgbClr val="2563EB"/>
                </a:solidFill>
                <a:latin typeface="DejaVu Sans"/>
                <a:ea typeface="DejaVu Sans"/>
                <a:cs typeface="DejaVu Sans"/>
              </a:defRPr>
            </a:lvl5pPr>
            <a:lvl6pPr algn="l">
              <a:buNone/>
              <a:defRPr sz="4275" b="1">
                <a:solidFill>
                  <a:srgbClr val="2563EB"/>
                </a:solidFill>
                <a:latin typeface="DejaVu Sans"/>
                <a:ea typeface="DejaVu Sans"/>
                <a:cs typeface="DejaVu Sans"/>
              </a:defRPr>
            </a:lvl6pPr>
            <a:lvl7pPr algn="l">
              <a:buNone/>
              <a:defRPr sz="4275" b="1">
                <a:solidFill>
                  <a:srgbClr val="2563EB"/>
                </a:solidFill>
                <a:latin typeface="DejaVu Sans"/>
                <a:ea typeface="DejaVu Sans"/>
                <a:cs typeface="DejaVu Sans"/>
              </a:defRPr>
            </a:lvl7pPr>
            <a:lvl8pPr algn="l">
              <a:buNone/>
              <a:defRPr sz="4275" b="1">
                <a:solidFill>
                  <a:srgbClr val="2563EB"/>
                </a:solidFill>
                <a:latin typeface="DejaVu Sans"/>
                <a:ea typeface="DejaVu Sans"/>
                <a:cs typeface="DejaVu Sans"/>
              </a:defRPr>
            </a:lvl8pPr>
            <a:lvl9pPr algn="l">
              <a:buNone/>
              <a:defRPr sz="4275" b="1">
                <a:solidFill>
                  <a:srgbClr val="2563EB"/>
                </a:solidFill>
                <a:latin typeface="DejaVu Sans"/>
                <a:ea typeface="DejaVu Sans"/>
                <a:cs typeface="DejaVu Sans"/>
              </a:defRPr>
            </a:lvl9pPr>
          </a:lstStyle>
          <a:p xmlns:a="http://schemas.openxmlformats.org/drawingml/2006/main">
            <a:pPr algn="l">
              <a:buNone/>
              <a:defRPr sz="4275" b="1">
                <a:solidFill>
                  <a:srgbClr val="0F9488"/>
                </a:solidFill>
                <a:latin typeface="DejaVu Sans"/>
                <a:ea typeface="DejaVu Sans"/>
                <a:cs typeface="DejaVu Sans"/>
              </a:defRPr>
            </a:pPr>
            <a:r>
              <a:rPr sz="4275" b="1">
                <a:solidFill>
                  <a:srgbClr val="0F9488"/>
                </a:solidFill>
                <a:latin typeface="DejaVu Sans"/>
                <a:ea typeface="DejaVu Sans"/>
                <a:cs typeface="DejaVu Sans"/>
              </a:rPr>
              <a:t>53 days</a:t>
            </a:r>
          </a:p>
        </p:txBody>
      </p:sp>
      <p:sp>
        <p:nvSpPr>
          <p:cNvPr id="6" name="">
            <a:extLst xmlns:a="http://schemas.openxmlformats.org/drawingml/2006/main">
              <a:ext uri="{FF2B5EF4-FFF2-40B4-BE49-F238E27FC236}">
                <a16:creationId xmlns:a16="http://schemas.microsoft.com/office/drawing/2014/main" id="{8682280D-BE18-4077-AD16-DC77506D3C19}"/>
              </a:ext>
            </a:extLst>
          </p:cNvPr>
          <p:cNvSpPr>
            <a:spLocks xmlns:a="http://schemas.openxmlformats.org/drawingml/2006/main" noGrp="1"/>
          </p:cNvSpPr>
          <p:nvPr/>
        </p:nvSpPr>
        <p:spPr>
          <a:xfrm xmlns:a="http://schemas.openxmlformats.org/drawingml/2006/main">
            <a:off x="8820150" y="2914650"/>
            <a:ext cx="266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4748B"/>
                </a:solidFill>
                <a:latin typeface="DejaVu Sans"/>
                <a:ea typeface="DejaVu Sans"/>
                <a:cs typeface="DejaVu Sans"/>
              </a:defRPr>
            </a:defPPr>
            <a:lvl1pPr algn="l">
              <a:buNone/>
              <a:defRPr sz="1650" b="0">
                <a:solidFill>
                  <a:srgbClr val="64748B"/>
                </a:solidFill>
                <a:latin typeface="DejaVu Sans"/>
                <a:ea typeface="DejaVu Sans"/>
                <a:cs typeface="DejaVu Sans"/>
              </a:defRPr>
            </a:lvl1pPr>
            <a:lvl2pPr algn="l">
              <a:buNone/>
              <a:defRPr sz="1650" b="0">
                <a:solidFill>
                  <a:srgbClr val="64748B"/>
                </a:solidFill>
                <a:latin typeface="DejaVu Sans"/>
                <a:ea typeface="DejaVu Sans"/>
                <a:cs typeface="DejaVu Sans"/>
              </a:defRPr>
            </a:lvl2pPr>
            <a:lvl3pPr algn="l">
              <a:buNone/>
              <a:defRPr sz="1650" b="0">
                <a:solidFill>
                  <a:srgbClr val="64748B"/>
                </a:solidFill>
                <a:latin typeface="DejaVu Sans"/>
                <a:ea typeface="DejaVu Sans"/>
                <a:cs typeface="DejaVu Sans"/>
              </a:defRPr>
            </a:lvl3pPr>
            <a:lvl4pPr algn="l">
              <a:buNone/>
              <a:defRPr sz="1650" b="0">
                <a:solidFill>
                  <a:srgbClr val="64748B"/>
                </a:solidFill>
                <a:latin typeface="DejaVu Sans"/>
                <a:ea typeface="DejaVu Sans"/>
                <a:cs typeface="DejaVu Sans"/>
              </a:defRPr>
            </a:lvl4pPr>
            <a:lvl5pPr algn="l">
              <a:buNone/>
              <a:defRPr sz="1650" b="0">
                <a:solidFill>
                  <a:srgbClr val="64748B"/>
                </a:solidFill>
                <a:latin typeface="DejaVu Sans"/>
                <a:ea typeface="DejaVu Sans"/>
                <a:cs typeface="DejaVu Sans"/>
              </a:defRPr>
            </a:lvl5pPr>
            <a:lvl6pPr algn="l">
              <a:buNone/>
              <a:defRPr sz="1650" b="0">
                <a:solidFill>
                  <a:srgbClr val="64748B"/>
                </a:solidFill>
                <a:latin typeface="DejaVu Sans"/>
                <a:ea typeface="DejaVu Sans"/>
                <a:cs typeface="DejaVu Sans"/>
              </a:defRPr>
            </a:lvl6pPr>
            <a:lvl7pPr algn="l">
              <a:buNone/>
              <a:defRPr sz="1650" b="0">
                <a:solidFill>
                  <a:srgbClr val="64748B"/>
                </a:solidFill>
                <a:latin typeface="DejaVu Sans"/>
                <a:ea typeface="DejaVu Sans"/>
                <a:cs typeface="DejaVu Sans"/>
              </a:defRPr>
            </a:lvl7pPr>
            <a:lvl8pPr algn="l">
              <a:buNone/>
              <a:defRPr sz="1650" b="0">
                <a:solidFill>
                  <a:srgbClr val="64748B"/>
                </a:solidFill>
                <a:latin typeface="DejaVu Sans"/>
                <a:ea typeface="DejaVu Sans"/>
                <a:cs typeface="DejaVu Sans"/>
              </a:defRPr>
            </a:lvl8pPr>
            <a:lvl9pPr algn="l">
              <a:buNone/>
              <a:defRPr sz="1650" b="0">
                <a:solidFill>
                  <a:srgbClr val="64748B"/>
                </a:solidFill>
                <a:latin typeface="DejaVu Sans"/>
                <a:ea typeface="DejaVu Sans"/>
                <a:cs typeface="DejaVu Sans"/>
              </a:defRPr>
            </a:lvl9pPr>
          </a:lstStyle>
          <a:p xmlns:a="http://schemas.openxmlformats.org/drawingml/2006/main">
            <a:pPr algn="l">
              <a:buNone/>
              <a:defRPr sz="1650" b="0">
                <a:solidFill>
                  <a:srgbClr val="64748B"/>
                </a:solidFill>
                <a:latin typeface="DejaVu Sans"/>
                <a:ea typeface="DejaVu Sans"/>
                <a:cs typeface="DejaVu Sans"/>
              </a:defRPr>
            </a:pPr>
            <a:r>
              <a:rPr sz="1650" b="0">
                <a:solidFill>
                  <a:srgbClr val="64748B"/>
                </a:solidFill>
                <a:latin typeface="DejaVu Sans"/>
                <a:ea typeface="DejaVu Sans"/>
                <a:cs typeface="DejaVu Sans"/>
              </a:rPr>
              <a:t>average for the</a:t>
            </a:r>
          </a:p>
          <a:p xmlns:a="http://schemas.openxmlformats.org/drawingml/2006/main">
            <a:pPr algn="l">
              <a:buNone/>
              <a:defRPr sz="1650" b="0">
                <a:solidFill>
                  <a:srgbClr val="64748B"/>
                </a:solidFill>
                <a:latin typeface="DejaVu Sans"/>
                <a:ea typeface="DejaVu Sans"/>
                <a:cs typeface="DejaVu Sans"/>
              </a:defRPr>
            </a:pPr>
            <a:r>
              <a:rPr sz="1650" b="0">
                <a:solidFill>
                  <a:srgbClr val="64748B"/>
                </a:solidFill>
                <a:latin typeface="DejaVu Sans"/>
                <a:ea typeface="DejaVu Sans"/>
                <a:cs typeface="DejaVu Sans"/>
              </a:rPr>
              <a:t>Low-Engagement group</a:t>
            </a:r>
          </a:p>
        </p:txBody>
      </p:sp>
      <p:sp>
        <p:nvSpPr>
          <p:cNvPr id="7" name="">
            <a:extLst xmlns:a="http://schemas.openxmlformats.org/drawingml/2006/main">
              <a:ext uri="{FF2B5EF4-FFF2-40B4-BE49-F238E27FC236}">
                <a16:creationId xmlns:a16="http://schemas.microsoft.com/office/drawing/2014/main" id="{A44A1E63-8068-4B94-9DC5-8F6389E2F138}"/>
              </a:ext>
            </a:extLst>
          </p:cNvPr>
          <p:cNvSpPr>
            <a:spLocks xmlns:a="http://schemas.openxmlformats.org/drawingml/2006/main" noGrp="1"/>
          </p:cNvSpPr>
          <p:nvPr/>
        </p:nvSpPr>
        <p:spPr>
          <a:xfrm xmlns:a="http://schemas.openxmlformats.org/drawingml/2006/main">
            <a:off x="8782050" y="3752850"/>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75" b="1">
                <a:solidFill>
                  <a:srgbClr val="17243B"/>
                </a:solidFill>
                <a:latin typeface="DejaVu Sans"/>
                <a:ea typeface="DejaVu Sans"/>
                <a:cs typeface="DejaVu Sans"/>
              </a:defRPr>
            </a:defPPr>
            <a:lvl1pPr algn="l">
              <a:buNone/>
              <a:defRPr sz="4275" b="1">
                <a:solidFill>
                  <a:srgbClr val="17243B"/>
                </a:solidFill>
                <a:latin typeface="DejaVu Sans"/>
                <a:ea typeface="DejaVu Sans"/>
                <a:cs typeface="DejaVu Sans"/>
              </a:defRPr>
            </a:lvl1pPr>
            <a:lvl2pPr algn="l">
              <a:buNone/>
              <a:defRPr sz="4275" b="1">
                <a:solidFill>
                  <a:srgbClr val="17243B"/>
                </a:solidFill>
                <a:latin typeface="DejaVu Sans"/>
                <a:ea typeface="DejaVu Sans"/>
                <a:cs typeface="DejaVu Sans"/>
              </a:defRPr>
            </a:lvl2pPr>
            <a:lvl3pPr algn="l">
              <a:buNone/>
              <a:defRPr sz="4275" b="1">
                <a:solidFill>
                  <a:srgbClr val="17243B"/>
                </a:solidFill>
                <a:latin typeface="DejaVu Sans"/>
                <a:ea typeface="DejaVu Sans"/>
                <a:cs typeface="DejaVu Sans"/>
              </a:defRPr>
            </a:lvl3pPr>
            <a:lvl4pPr algn="l">
              <a:buNone/>
              <a:defRPr sz="4275" b="1">
                <a:solidFill>
                  <a:srgbClr val="17243B"/>
                </a:solidFill>
                <a:latin typeface="DejaVu Sans"/>
                <a:ea typeface="DejaVu Sans"/>
                <a:cs typeface="DejaVu Sans"/>
              </a:defRPr>
            </a:lvl4pPr>
            <a:lvl5pPr algn="l">
              <a:buNone/>
              <a:defRPr sz="4275" b="1">
                <a:solidFill>
                  <a:srgbClr val="17243B"/>
                </a:solidFill>
                <a:latin typeface="DejaVu Sans"/>
                <a:ea typeface="DejaVu Sans"/>
                <a:cs typeface="DejaVu Sans"/>
              </a:defRPr>
            </a:lvl5pPr>
            <a:lvl6pPr algn="l">
              <a:buNone/>
              <a:defRPr sz="4275" b="1">
                <a:solidFill>
                  <a:srgbClr val="17243B"/>
                </a:solidFill>
                <a:latin typeface="DejaVu Sans"/>
                <a:ea typeface="DejaVu Sans"/>
                <a:cs typeface="DejaVu Sans"/>
              </a:defRPr>
            </a:lvl6pPr>
            <a:lvl7pPr algn="l">
              <a:buNone/>
              <a:defRPr sz="4275" b="1">
                <a:solidFill>
                  <a:srgbClr val="17243B"/>
                </a:solidFill>
                <a:latin typeface="DejaVu Sans"/>
                <a:ea typeface="DejaVu Sans"/>
                <a:cs typeface="DejaVu Sans"/>
              </a:defRPr>
            </a:lvl7pPr>
            <a:lvl8pPr algn="l">
              <a:buNone/>
              <a:defRPr sz="4275" b="1">
                <a:solidFill>
                  <a:srgbClr val="17243B"/>
                </a:solidFill>
                <a:latin typeface="DejaVu Sans"/>
                <a:ea typeface="DejaVu Sans"/>
                <a:cs typeface="DejaVu Sans"/>
              </a:defRPr>
            </a:lvl8pPr>
            <a:lvl9pPr algn="l">
              <a:buNone/>
              <a:defRPr sz="4275" b="1">
                <a:solidFill>
                  <a:srgbClr val="17243B"/>
                </a:solidFill>
                <a:latin typeface="DejaVu Sans"/>
                <a:ea typeface="DejaVu Sans"/>
                <a:cs typeface="DejaVu Sans"/>
              </a:defRPr>
            </a:lvl9pPr>
          </a:lstStyle>
          <a:p xmlns:a="http://schemas.openxmlformats.org/drawingml/2006/main">
            <a:pPr algn="l">
              <a:buNone/>
              <a:defRPr sz="4275" b="1">
                <a:solidFill>
                  <a:srgbClr val="17243B"/>
                </a:solidFill>
                <a:latin typeface="DejaVu Sans"/>
                <a:ea typeface="DejaVu Sans"/>
                <a:cs typeface="DejaVu Sans"/>
              </a:defRPr>
            </a:pPr>
            <a:r>
              <a:rPr sz="4275" b="1">
                <a:solidFill>
                  <a:srgbClr val="17243B"/>
                </a:solidFill>
                <a:latin typeface="DejaVu Sans"/>
                <a:ea typeface="DejaVu Sans"/>
                <a:cs typeface="DejaVu Sans"/>
              </a:rPr>
              <a:t>$681</a:t>
            </a:r>
          </a:p>
        </p:txBody>
      </p:sp>
      <p:sp>
        <p:nvSpPr>
          <p:cNvPr id="8" name="">
            <a:extLst xmlns:a="http://schemas.openxmlformats.org/drawingml/2006/main">
              <a:ext uri="{FF2B5EF4-FFF2-40B4-BE49-F238E27FC236}">
                <a16:creationId xmlns:a16="http://schemas.microsoft.com/office/drawing/2014/main" id="{0669451C-82EE-468F-B78A-BD352DE7AA4C}"/>
              </a:ext>
            </a:extLst>
          </p:cNvPr>
          <p:cNvSpPr>
            <a:spLocks xmlns:a="http://schemas.openxmlformats.org/drawingml/2006/main" noGrp="1"/>
          </p:cNvSpPr>
          <p:nvPr/>
        </p:nvSpPr>
        <p:spPr>
          <a:xfrm xmlns:a="http://schemas.openxmlformats.org/drawingml/2006/main">
            <a:off x="8820150" y="4552950"/>
            <a:ext cx="266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4748B"/>
                </a:solidFill>
                <a:latin typeface="DejaVu Sans"/>
                <a:ea typeface="DejaVu Sans"/>
                <a:cs typeface="DejaVu Sans"/>
              </a:defRPr>
            </a:defPPr>
            <a:lvl1pPr algn="l">
              <a:buNone/>
              <a:defRPr sz="1650" b="0">
                <a:solidFill>
                  <a:srgbClr val="64748B"/>
                </a:solidFill>
                <a:latin typeface="DejaVu Sans"/>
                <a:ea typeface="DejaVu Sans"/>
                <a:cs typeface="DejaVu Sans"/>
              </a:defRPr>
            </a:lvl1pPr>
            <a:lvl2pPr algn="l">
              <a:buNone/>
              <a:defRPr sz="1650" b="0">
                <a:solidFill>
                  <a:srgbClr val="64748B"/>
                </a:solidFill>
                <a:latin typeface="DejaVu Sans"/>
                <a:ea typeface="DejaVu Sans"/>
                <a:cs typeface="DejaVu Sans"/>
              </a:defRPr>
            </a:lvl2pPr>
            <a:lvl3pPr algn="l">
              <a:buNone/>
              <a:defRPr sz="1650" b="0">
                <a:solidFill>
                  <a:srgbClr val="64748B"/>
                </a:solidFill>
                <a:latin typeface="DejaVu Sans"/>
                <a:ea typeface="DejaVu Sans"/>
                <a:cs typeface="DejaVu Sans"/>
              </a:defRPr>
            </a:lvl3pPr>
            <a:lvl4pPr algn="l">
              <a:buNone/>
              <a:defRPr sz="1650" b="0">
                <a:solidFill>
                  <a:srgbClr val="64748B"/>
                </a:solidFill>
                <a:latin typeface="DejaVu Sans"/>
                <a:ea typeface="DejaVu Sans"/>
                <a:cs typeface="DejaVu Sans"/>
              </a:defRPr>
            </a:lvl4pPr>
            <a:lvl5pPr algn="l">
              <a:buNone/>
              <a:defRPr sz="1650" b="0">
                <a:solidFill>
                  <a:srgbClr val="64748B"/>
                </a:solidFill>
                <a:latin typeface="DejaVu Sans"/>
                <a:ea typeface="DejaVu Sans"/>
                <a:cs typeface="DejaVu Sans"/>
              </a:defRPr>
            </a:lvl5pPr>
            <a:lvl6pPr algn="l">
              <a:buNone/>
              <a:defRPr sz="1650" b="0">
                <a:solidFill>
                  <a:srgbClr val="64748B"/>
                </a:solidFill>
                <a:latin typeface="DejaVu Sans"/>
                <a:ea typeface="DejaVu Sans"/>
                <a:cs typeface="DejaVu Sans"/>
              </a:defRPr>
            </a:lvl6pPr>
            <a:lvl7pPr algn="l">
              <a:buNone/>
              <a:defRPr sz="1650" b="0">
                <a:solidFill>
                  <a:srgbClr val="64748B"/>
                </a:solidFill>
                <a:latin typeface="DejaVu Sans"/>
                <a:ea typeface="DejaVu Sans"/>
                <a:cs typeface="DejaVu Sans"/>
              </a:defRPr>
            </a:lvl7pPr>
            <a:lvl8pPr algn="l">
              <a:buNone/>
              <a:defRPr sz="1650" b="0">
                <a:solidFill>
                  <a:srgbClr val="64748B"/>
                </a:solidFill>
                <a:latin typeface="DejaVu Sans"/>
                <a:ea typeface="DejaVu Sans"/>
                <a:cs typeface="DejaVu Sans"/>
              </a:defRPr>
            </a:lvl8pPr>
            <a:lvl9pPr algn="l">
              <a:buNone/>
              <a:defRPr sz="1650" b="0">
                <a:solidFill>
                  <a:srgbClr val="64748B"/>
                </a:solidFill>
                <a:latin typeface="DejaVu Sans"/>
                <a:ea typeface="DejaVu Sans"/>
                <a:cs typeface="DejaVu Sans"/>
              </a:defRPr>
            </a:lvl9pPr>
          </a:lstStyle>
          <a:p xmlns:a="http://schemas.openxmlformats.org/drawingml/2006/main">
            <a:pPr algn="l">
              <a:buNone/>
              <a:defRPr sz="1650" b="0">
                <a:solidFill>
                  <a:srgbClr val="64748B"/>
                </a:solidFill>
                <a:latin typeface="DejaVu Sans"/>
                <a:ea typeface="DejaVu Sans"/>
                <a:cs typeface="DejaVu Sans"/>
              </a:defRPr>
            </a:pPr>
            <a:r>
              <a:rPr sz="1650" b="0">
                <a:solidFill>
                  <a:srgbClr val="64748B"/>
                </a:solidFill>
                <a:latin typeface="DejaVu Sans"/>
                <a:ea typeface="DejaVu Sans"/>
                <a:cs typeface="DejaVu Sans"/>
              </a:rPr>
              <a:t>sales per customer</a:t>
            </a:r>
          </a:p>
          <a:p xmlns:a="http://schemas.openxmlformats.org/drawingml/2006/main">
            <a:pPr algn="l">
              <a:buNone/>
              <a:defRPr sz="1650" b="0">
                <a:solidFill>
                  <a:srgbClr val="64748B"/>
                </a:solidFill>
                <a:latin typeface="DejaVu Sans"/>
                <a:ea typeface="DejaVu Sans"/>
                <a:cs typeface="DejaVu Sans"/>
              </a:defRPr>
            </a:pPr>
            <a:r>
              <a:rPr sz="1650" b="0">
                <a:solidFill>
                  <a:srgbClr val="64748B"/>
                </a:solidFill>
                <a:latin typeface="DejaVu Sans"/>
                <a:ea typeface="DejaVu Sans"/>
                <a:cs typeface="DejaVu Sans"/>
              </a:rPr>
              <a:t>Low-Engagement group</a:t>
            </a:r>
          </a:p>
        </p:txBody>
      </p:sp>
      <p:sp>
        <p:nvSpPr>
          <p:cNvPr id="9" name="">
            <a:extLst xmlns:a="http://schemas.openxmlformats.org/drawingml/2006/main">
              <a:ext uri="{FF2B5EF4-FFF2-40B4-BE49-F238E27FC236}">
                <a16:creationId xmlns:a16="http://schemas.microsoft.com/office/drawing/2014/main" id="{639D1F67-C32A-44A1-B30C-65EF42B95BE7}"/>
              </a:ext>
            </a:extLst>
          </p:cNvPr>
          <p:cNvSpPr>
            <a:spLocks xmlns:a="http://schemas.openxmlformats.org/drawingml/2006/main" noGrp="1"/>
          </p:cNvSpPr>
          <p:nvPr/>
        </p:nvSpPr>
        <p:spPr>
          <a:xfrm xmlns:a="http://schemas.openxmlformats.org/drawingml/2006/main">
            <a:off x="666750" y="5753100"/>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7243B"/>
                </a:solidFill>
                <a:latin typeface="DejaVu Sans"/>
                <a:ea typeface="DejaVu Sans"/>
                <a:cs typeface="DejaVu Sans"/>
              </a:defRPr>
            </a:defPPr>
            <a:lvl1pPr algn="l">
              <a:buNone/>
              <a:defRPr sz="1575" b="0">
                <a:solidFill>
                  <a:srgbClr val="64748B"/>
                </a:solidFill>
                <a:latin typeface="DejaVu Sans"/>
                <a:ea typeface="DejaVu Sans"/>
                <a:cs typeface="DejaVu Sans"/>
              </a:defRPr>
            </a:lvl1pPr>
            <a:lvl2pPr algn="l">
              <a:buNone/>
              <a:defRPr sz="1575" b="0">
                <a:solidFill>
                  <a:srgbClr val="64748B"/>
                </a:solidFill>
                <a:latin typeface="DejaVu Sans"/>
                <a:ea typeface="DejaVu Sans"/>
                <a:cs typeface="DejaVu Sans"/>
              </a:defRPr>
            </a:lvl2pPr>
            <a:lvl3pPr algn="l">
              <a:buNone/>
              <a:defRPr sz="1575" b="0">
                <a:solidFill>
                  <a:srgbClr val="64748B"/>
                </a:solidFill>
                <a:latin typeface="DejaVu Sans"/>
                <a:ea typeface="DejaVu Sans"/>
                <a:cs typeface="DejaVu Sans"/>
              </a:defRPr>
            </a:lvl3pPr>
            <a:lvl4pPr algn="l">
              <a:buNone/>
              <a:defRPr sz="1575" b="0">
                <a:solidFill>
                  <a:srgbClr val="64748B"/>
                </a:solidFill>
                <a:latin typeface="DejaVu Sans"/>
                <a:ea typeface="DejaVu Sans"/>
                <a:cs typeface="DejaVu Sans"/>
              </a:defRPr>
            </a:lvl4pPr>
            <a:lvl5pPr algn="l">
              <a:buNone/>
              <a:defRPr sz="1575" b="0">
                <a:solidFill>
                  <a:srgbClr val="64748B"/>
                </a:solidFill>
                <a:latin typeface="DejaVu Sans"/>
                <a:ea typeface="DejaVu Sans"/>
                <a:cs typeface="DejaVu Sans"/>
              </a:defRPr>
            </a:lvl5pPr>
            <a:lvl6pPr algn="l">
              <a:buNone/>
              <a:defRPr sz="1575" b="0">
                <a:solidFill>
                  <a:srgbClr val="64748B"/>
                </a:solidFill>
                <a:latin typeface="DejaVu Sans"/>
                <a:ea typeface="DejaVu Sans"/>
                <a:cs typeface="DejaVu Sans"/>
              </a:defRPr>
            </a:lvl6pPr>
            <a:lvl7pPr algn="l">
              <a:buNone/>
              <a:defRPr sz="1575" b="0">
                <a:solidFill>
                  <a:srgbClr val="64748B"/>
                </a:solidFill>
                <a:latin typeface="DejaVu Sans"/>
                <a:ea typeface="DejaVu Sans"/>
                <a:cs typeface="DejaVu Sans"/>
              </a:defRPr>
            </a:lvl7pPr>
            <a:lvl8pPr algn="l">
              <a:buNone/>
              <a:defRPr sz="1575" b="0">
                <a:solidFill>
                  <a:srgbClr val="64748B"/>
                </a:solidFill>
                <a:latin typeface="DejaVu Sans"/>
                <a:ea typeface="DejaVu Sans"/>
                <a:cs typeface="DejaVu Sans"/>
              </a:defRPr>
            </a:lvl8pPr>
            <a:lvl9pPr algn="l">
              <a:buNone/>
              <a:defRPr sz="1575" b="0">
                <a:solidFill>
                  <a:srgbClr val="64748B"/>
                </a:solidFill>
                <a:latin typeface="DejaVu Sans"/>
                <a:ea typeface="DejaVu Sans"/>
                <a:cs typeface="DejaVu Sans"/>
              </a:defRPr>
            </a:lvl9pPr>
          </a:lstStyle>
          <a:p xmlns:a="http://schemas.openxmlformats.org/drawingml/2006/main">
            <a:pPr algn="l">
              <a:buNone/>
              <a:defRPr sz="1575" b="0">
                <a:solidFill>
                  <a:srgbClr val="17243B"/>
                </a:solidFill>
                <a:latin typeface="DejaVu Sans"/>
                <a:ea typeface="DejaVu Sans"/>
                <a:cs typeface="DejaVu Sans"/>
              </a:defRPr>
            </a:pPr>
            <a:r>
              <a:rPr sz="1575" b="0">
                <a:solidFill>
                  <a:srgbClr val="17243B"/>
                </a:solidFill>
                <a:latin typeface="DejaVu Sans"/>
                <a:ea typeface="DejaVu Sans"/>
                <a:cs typeface="DejaVu Sans"/>
              </a:rPr>
              <a:t>Lower spending coincides with less recent activity in the Low-Engagement group.</a:t>
            </a:r>
          </a:p>
          <a:p xmlns:a="http://schemas.openxmlformats.org/drawingml/2006/main">
            <a:pPr algn="l">
              <a:buNone/>
              <a:defRPr sz="1575" b="0">
                <a:solidFill>
                  <a:srgbClr val="17243B"/>
                </a:solidFill>
                <a:latin typeface="DejaVu Sans"/>
                <a:ea typeface="DejaVu Sans"/>
                <a:cs typeface="DejaVu Sans"/>
              </a:defRPr>
            </a:pPr>
            <a:r>
              <a:rPr sz="1575" b="0">
                <a:solidFill>
                  <a:srgbClr val="17243B"/>
                </a:solidFill>
                <a:latin typeface="DejaVu Sans"/>
                <a:ea typeface="DejaVu Sans"/>
                <a:cs typeface="DejaVu Sans"/>
              </a:rPr>
              <a:t>The gap describes behavior observed at the end of the study.</a:t>
            </a:r>
          </a:p>
        </p:txBody>
      </p:sp>
      <p:graphicFrame>
        <p:nvGraphicFramePr>
          <p:cNvPr id="4" name="Chart">
            <a:extLst xmlns:a="http://schemas.openxmlformats.org/drawingml/2006/main">
              <a:ext uri="{FF2B5EF4-FFF2-40B4-BE49-F238E27FC236}">
                <a16:creationId xmlns:a16="http://schemas.microsoft.com/office/drawing/2014/main" id="{30F53006-114F-414B-84E0-31BC692CF674}"/>
              </a:ext>
            </a:extLst>
          </p:cNvPr>
          <p:cNvGraphicFramePr/>
          <p:nvPr/>
        </p:nvGraphicFramePr>
        <p:xfrm>
          <a:off xmlns:a="http://schemas.openxmlformats.org/drawingml/2006/main" x="628650" y="1781175"/>
          <a:ext xmlns:a="http://schemas.openxmlformats.org/drawingml/2006/main" cx="7715250" cy="3905250"/>
        </p:xfrm>
        <a:graphic xmlns:a="http://schemas.openxmlformats.org/drawingml/2006/main">
          <a:graphicData uri="http://schemas.openxmlformats.org/drawingml/2006/chart">
            <c:chart xmlns:r="http://schemas.openxmlformats.org/officeDocument/2006/relationships" xmlns:c="http://schemas.openxmlformats.org/drawingml/2006/chart" r:id="R391bcd9c5df94172"/>
          </a:graphicData>
        </a:graphic>
      </p:graphicFrame>
    </p:spTree>
    <p:extLst>
      <p:ext uri="{BB962C8B-B14F-4D97-AF65-F5344CB8AC3E}">
        <p14:creationId xmlns:p14="http://schemas.microsoft.com/office/powerpoint/2010/main" val="5112482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ECFADA-8B67-4880-B236-E9F71A0EFDD9}"/>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243B"/>
                </a:solidFill>
                <a:latin typeface="DejaVu Sans"/>
                <a:ea typeface="DejaVu Sans"/>
                <a:cs typeface="DejaVu Sans"/>
              </a:defRPr>
            </a:defPPr>
            <a:lvl1pPr algn="l">
              <a:buNone/>
              <a:defRPr sz="3225" b="1">
                <a:solidFill>
                  <a:srgbClr val="17243B"/>
                </a:solidFill>
                <a:latin typeface="DejaVu Sans"/>
                <a:ea typeface="DejaVu Sans"/>
                <a:cs typeface="DejaVu Sans"/>
              </a:defRPr>
            </a:lvl1pPr>
            <a:lvl2pPr algn="l">
              <a:buNone/>
              <a:defRPr sz="3225" b="1">
                <a:solidFill>
                  <a:srgbClr val="17243B"/>
                </a:solidFill>
                <a:latin typeface="DejaVu Sans"/>
                <a:ea typeface="DejaVu Sans"/>
                <a:cs typeface="DejaVu Sans"/>
              </a:defRPr>
            </a:lvl2pPr>
            <a:lvl3pPr algn="l">
              <a:buNone/>
              <a:defRPr sz="3225" b="1">
                <a:solidFill>
                  <a:srgbClr val="17243B"/>
                </a:solidFill>
                <a:latin typeface="DejaVu Sans"/>
                <a:ea typeface="DejaVu Sans"/>
                <a:cs typeface="DejaVu Sans"/>
              </a:defRPr>
            </a:lvl3pPr>
            <a:lvl4pPr algn="l">
              <a:buNone/>
              <a:defRPr sz="3225" b="1">
                <a:solidFill>
                  <a:srgbClr val="17243B"/>
                </a:solidFill>
                <a:latin typeface="DejaVu Sans"/>
                <a:ea typeface="DejaVu Sans"/>
                <a:cs typeface="DejaVu Sans"/>
              </a:defRPr>
            </a:lvl4pPr>
            <a:lvl5pPr algn="l">
              <a:buNone/>
              <a:defRPr sz="3225" b="1">
                <a:solidFill>
                  <a:srgbClr val="17243B"/>
                </a:solidFill>
                <a:latin typeface="DejaVu Sans"/>
                <a:ea typeface="DejaVu Sans"/>
                <a:cs typeface="DejaVu Sans"/>
              </a:defRPr>
            </a:lvl5pPr>
            <a:lvl6pPr algn="l">
              <a:buNone/>
              <a:defRPr sz="3225" b="1">
                <a:solidFill>
                  <a:srgbClr val="17243B"/>
                </a:solidFill>
                <a:latin typeface="DejaVu Sans"/>
                <a:ea typeface="DejaVu Sans"/>
                <a:cs typeface="DejaVu Sans"/>
              </a:defRPr>
            </a:lvl6pPr>
            <a:lvl7pPr algn="l">
              <a:buNone/>
              <a:defRPr sz="3225" b="1">
                <a:solidFill>
                  <a:srgbClr val="17243B"/>
                </a:solidFill>
                <a:latin typeface="DejaVu Sans"/>
                <a:ea typeface="DejaVu Sans"/>
                <a:cs typeface="DejaVu Sans"/>
              </a:defRPr>
            </a:lvl7pPr>
            <a:lvl8pPr algn="l">
              <a:buNone/>
              <a:defRPr sz="3225" b="1">
                <a:solidFill>
                  <a:srgbClr val="17243B"/>
                </a:solidFill>
                <a:latin typeface="DejaVu Sans"/>
                <a:ea typeface="DejaVu Sans"/>
                <a:cs typeface="DejaVu Sans"/>
              </a:defRPr>
            </a:lvl8pPr>
            <a:lvl9pPr algn="l">
              <a:buNone/>
              <a:defRPr sz="3225" b="1">
                <a:solidFill>
                  <a:srgbClr val="17243B"/>
                </a:solidFill>
                <a:latin typeface="DejaVu Sans"/>
                <a:ea typeface="DejaVu Sans"/>
                <a:cs typeface="DejaVu Sans"/>
              </a:defRPr>
            </a:lvl9pPr>
          </a:lstStyle>
          <a:p xmlns:a="http://schemas.openxmlformats.org/drawingml/2006/main">
            <a:pPr algn="l">
              <a:buNone/>
              <a:defRPr sz="3225" b="1">
                <a:solidFill>
                  <a:srgbClr val="17243B"/>
                </a:solidFill>
                <a:latin typeface="DejaVu Sans"/>
                <a:ea typeface="DejaVu Sans"/>
                <a:cs typeface="DejaVu Sans"/>
              </a:defRPr>
            </a:pPr>
            <a:r>
              <a:rPr sz="3225" b="1">
                <a:solidFill>
                  <a:srgbClr val="17243B"/>
                </a:solidFill>
                <a:latin typeface="DejaVu Sans"/>
                <a:ea typeface="DejaVu Sans"/>
                <a:cs typeface="DejaVu Sans"/>
              </a:rPr>
              <a:t>Soft drinks and beef lead across segments</a:t>
            </a:r>
          </a:p>
        </p:txBody>
      </p:sp>
      <p:sp>
        <p:nvSpPr>
          <p:cNvPr id="2" name="">
            <a:extLst xmlns:a="http://schemas.openxmlformats.org/drawingml/2006/main">
              <a:ext uri="{FF2B5EF4-FFF2-40B4-BE49-F238E27FC236}">
                <a16:creationId xmlns:a16="http://schemas.microsoft.com/office/drawing/2014/main" id="{50E5AE14-2371-4567-8784-453646B2A5F1}"/>
              </a:ext>
            </a:extLst>
          </p:cNvPr>
          <p:cNvSpPr>
            <a:spLocks xmlns:a="http://schemas.openxmlformats.org/drawingml/2006/main" noGrp="1"/>
          </p:cNvSpPr>
          <p:nvPr/>
        </p:nvSpPr>
        <p:spPr>
          <a:xfrm xmlns:a="http://schemas.openxmlformats.org/drawingml/2006/main">
            <a:off x="609600" y="6429375"/>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050" b="0">
                <a:solidFill>
                  <a:srgbClr val="64748B"/>
                </a:solidFill>
                <a:latin typeface="DejaVu Sans"/>
                <a:ea typeface="DejaVu Sans"/>
                <a:cs typeface="DejaVu Sans"/>
              </a:defRPr>
            </a:defPPr>
            <a:lvl1pPr>
              <a:buNone/>
              <a:defRPr sz="1050" b="0">
                <a:solidFill>
                  <a:srgbClr val="64748B"/>
                </a:solidFill>
                <a:latin typeface="DejaVu Sans"/>
                <a:ea typeface="DejaVu Sans"/>
                <a:cs typeface="DejaVu Sans"/>
              </a:defRPr>
            </a:lvl1pPr>
            <a:lvl2pPr>
              <a:buNone/>
              <a:defRPr sz="1050" b="0">
                <a:solidFill>
                  <a:srgbClr val="64748B"/>
                </a:solidFill>
                <a:latin typeface="DejaVu Sans"/>
                <a:ea typeface="DejaVu Sans"/>
                <a:cs typeface="DejaVu Sans"/>
              </a:defRPr>
            </a:lvl2pPr>
            <a:lvl3pPr>
              <a:buNone/>
              <a:defRPr sz="1050" b="0">
                <a:solidFill>
                  <a:srgbClr val="64748B"/>
                </a:solidFill>
                <a:latin typeface="DejaVu Sans"/>
                <a:ea typeface="DejaVu Sans"/>
                <a:cs typeface="DejaVu Sans"/>
              </a:defRPr>
            </a:lvl3pPr>
            <a:lvl4pPr>
              <a:buNone/>
              <a:defRPr sz="1050" b="0">
                <a:solidFill>
                  <a:srgbClr val="64748B"/>
                </a:solidFill>
                <a:latin typeface="DejaVu Sans"/>
                <a:ea typeface="DejaVu Sans"/>
                <a:cs typeface="DejaVu Sans"/>
              </a:defRPr>
            </a:lvl4pPr>
            <a:lvl5pPr>
              <a:buNone/>
              <a:defRPr sz="1050" b="0">
                <a:solidFill>
                  <a:srgbClr val="64748B"/>
                </a:solidFill>
                <a:latin typeface="DejaVu Sans"/>
                <a:ea typeface="DejaVu Sans"/>
                <a:cs typeface="DejaVu Sans"/>
              </a:defRPr>
            </a:lvl5pPr>
            <a:lvl6pPr>
              <a:buNone/>
              <a:defRPr sz="1050" b="0">
                <a:solidFill>
                  <a:srgbClr val="64748B"/>
                </a:solidFill>
                <a:latin typeface="DejaVu Sans"/>
                <a:ea typeface="DejaVu Sans"/>
                <a:cs typeface="DejaVu Sans"/>
              </a:defRPr>
            </a:lvl6pPr>
            <a:lvl7pPr>
              <a:buNone/>
              <a:defRPr sz="1050" b="0">
                <a:solidFill>
                  <a:srgbClr val="64748B"/>
                </a:solidFill>
                <a:latin typeface="DejaVu Sans"/>
                <a:ea typeface="DejaVu Sans"/>
                <a:cs typeface="DejaVu Sans"/>
              </a:defRPr>
            </a:lvl7pPr>
            <a:lvl8pPr>
              <a:buNone/>
              <a:defRPr sz="1050" b="0">
                <a:solidFill>
                  <a:srgbClr val="64748B"/>
                </a:solidFill>
                <a:latin typeface="DejaVu Sans"/>
                <a:ea typeface="DejaVu Sans"/>
                <a:cs typeface="DejaVu Sans"/>
              </a:defRPr>
            </a:lvl8pPr>
            <a:lvl9pPr>
              <a:buNone/>
              <a:defRPr sz="1050" b="0">
                <a:solidFill>
                  <a:srgbClr val="64748B"/>
                </a:solidFill>
                <a:latin typeface="DejaVu Sans"/>
                <a:ea typeface="DejaVu Sans"/>
                <a:cs typeface="DejaVu Sans"/>
              </a:defRPr>
            </a:lvl9pPr>
          </a:lstStyle>
          <a:p xmlns:a="http://schemas.openxmlformats.org/drawingml/2006/main">
            <a:pPr>
              <a:buNone/>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FMCG Consumer Growth &amp; Promotion Insights</a:t>
            </a:r>
          </a:p>
        </p:txBody>
      </p:sp>
      <p:sp>
        <p:nvSpPr>
          <p:cNvPr id="3" name="">
            <a:extLst xmlns:a="http://schemas.openxmlformats.org/drawingml/2006/main">
              <a:ext uri="{FF2B5EF4-FFF2-40B4-BE49-F238E27FC236}">
                <a16:creationId xmlns:a16="http://schemas.microsoft.com/office/drawing/2014/main" id="{37131E6D-B065-4D0A-9515-2272E7328A30}"/>
              </a:ext>
            </a:extLst>
          </p:cNvPr>
          <p:cNvSpPr>
            <a:spLocks xmlns:a="http://schemas.openxmlformats.org/drawingml/2006/main" noGrp="1"/>
          </p:cNvSpPr>
          <p:nvPr/>
        </p:nvSpPr>
        <p:spPr>
          <a:xfrm xmlns:a="http://schemas.openxmlformats.org/drawingml/2006/main">
            <a:off x="11049000" y="64198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DejaVu Sans"/>
                <a:ea typeface="DejaVu Sans"/>
                <a:cs typeface="DejaVu Sans"/>
              </a:defRPr>
            </a:defPPr>
            <a:lvl1pPr algn="l">
              <a:buNone/>
              <a:defRPr sz="1200" b="0">
                <a:solidFill>
                  <a:srgbClr val="64748B"/>
                </a:solidFill>
                <a:latin typeface="DejaVu Sans"/>
                <a:ea typeface="DejaVu Sans"/>
                <a:cs typeface="DejaVu Sans"/>
              </a:defRPr>
            </a:lvl1pPr>
            <a:lvl2pPr algn="l">
              <a:buNone/>
              <a:defRPr sz="1200" b="0">
                <a:solidFill>
                  <a:srgbClr val="64748B"/>
                </a:solidFill>
                <a:latin typeface="DejaVu Sans"/>
                <a:ea typeface="DejaVu Sans"/>
                <a:cs typeface="DejaVu Sans"/>
              </a:defRPr>
            </a:lvl2pPr>
            <a:lvl3pPr algn="l">
              <a:buNone/>
              <a:defRPr sz="1200" b="0">
                <a:solidFill>
                  <a:srgbClr val="64748B"/>
                </a:solidFill>
                <a:latin typeface="DejaVu Sans"/>
                <a:ea typeface="DejaVu Sans"/>
                <a:cs typeface="DejaVu Sans"/>
              </a:defRPr>
            </a:lvl3pPr>
            <a:lvl4pPr algn="l">
              <a:buNone/>
              <a:defRPr sz="1200" b="0">
                <a:solidFill>
                  <a:srgbClr val="64748B"/>
                </a:solidFill>
                <a:latin typeface="DejaVu Sans"/>
                <a:ea typeface="DejaVu Sans"/>
                <a:cs typeface="DejaVu Sans"/>
              </a:defRPr>
            </a:lvl4pPr>
            <a:lvl5pPr algn="l">
              <a:buNone/>
              <a:defRPr sz="1200" b="0">
                <a:solidFill>
                  <a:srgbClr val="64748B"/>
                </a:solidFill>
                <a:latin typeface="DejaVu Sans"/>
                <a:ea typeface="DejaVu Sans"/>
                <a:cs typeface="DejaVu Sans"/>
              </a:defRPr>
            </a:lvl5pPr>
            <a:lvl6pPr algn="l">
              <a:buNone/>
              <a:defRPr sz="1200" b="0">
                <a:solidFill>
                  <a:srgbClr val="64748B"/>
                </a:solidFill>
                <a:latin typeface="DejaVu Sans"/>
                <a:ea typeface="DejaVu Sans"/>
                <a:cs typeface="DejaVu Sans"/>
              </a:defRPr>
            </a:lvl6pPr>
            <a:lvl7pPr algn="l">
              <a:buNone/>
              <a:defRPr sz="1200" b="0">
                <a:solidFill>
                  <a:srgbClr val="64748B"/>
                </a:solidFill>
                <a:latin typeface="DejaVu Sans"/>
                <a:ea typeface="DejaVu Sans"/>
                <a:cs typeface="DejaVu Sans"/>
              </a:defRPr>
            </a:lvl7pPr>
            <a:lvl8pPr algn="l">
              <a:buNone/>
              <a:defRPr sz="1200" b="0">
                <a:solidFill>
                  <a:srgbClr val="64748B"/>
                </a:solidFill>
                <a:latin typeface="DejaVu Sans"/>
                <a:ea typeface="DejaVu Sans"/>
                <a:cs typeface="DejaVu Sans"/>
              </a:defRPr>
            </a:lvl8pPr>
            <a:lvl9pPr algn="l">
              <a:buNone/>
              <a:defRPr sz="1200" b="0">
                <a:solidFill>
                  <a:srgbClr val="64748B"/>
                </a:solidFill>
                <a:latin typeface="DejaVu Sans"/>
                <a:ea typeface="DejaVu Sans"/>
                <a:cs typeface="DejaVu Sans"/>
              </a:defRPr>
            </a:lvl9pPr>
          </a:lstStyle>
          <a:p xmlns:a="http://schemas.openxmlformats.org/drawingml/2006/main">
            <a:pPr algn="l">
              <a:buNone/>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07</a:t>
            </a:r>
          </a:p>
        </p:txBody>
      </p:sp>
      <p:sp>
        <p:nvSpPr>
          <p:cNvPr id="5" name="">
            <a:extLst xmlns:a="http://schemas.openxmlformats.org/drawingml/2006/main">
              <a:ext uri="{FF2B5EF4-FFF2-40B4-BE49-F238E27FC236}">
                <a16:creationId xmlns:a16="http://schemas.microsoft.com/office/drawing/2014/main" id="{A6B0FADF-BD38-415E-840D-B78CDFB53FD3}"/>
              </a:ext>
            </a:extLst>
          </p:cNvPr>
          <p:cNvSpPr>
            <a:spLocks xmlns:a="http://schemas.openxmlformats.org/drawingml/2006/main" noGrp="1"/>
          </p:cNvSpPr>
          <p:nvPr/>
        </p:nvSpPr>
        <p:spPr>
          <a:xfrm xmlns:a="http://schemas.openxmlformats.org/drawingml/2006/main">
            <a:off x="647700" y="57531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7243B"/>
                </a:solidFill>
                <a:latin typeface="DejaVu Sans"/>
                <a:ea typeface="DejaVu Sans"/>
                <a:cs typeface="DejaVu Sans"/>
              </a:defRPr>
            </a:defPPr>
            <a:lvl1pPr algn="l">
              <a:buNone/>
              <a:defRPr sz="1725" b="0">
                <a:solidFill>
                  <a:srgbClr val="17243B"/>
                </a:solidFill>
                <a:latin typeface="DejaVu Sans"/>
                <a:ea typeface="DejaVu Sans"/>
                <a:cs typeface="DejaVu Sans"/>
              </a:defRPr>
            </a:lvl1pPr>
            <a:lvl2pPr algn="l">
              <a:buNone/>
              <a:defRPr sz="1725" b="0">
                <a:solidFill>
                  <a:srgbClr val="17243B"/>
                </a:solidFill>
                <a:latin typeface="DejaVu Sans"/>
                <a:ea typeface="DejaVu Sans"/>
                <a:cs typeface="DejaVu Sans"/>
              </a:defRPr>
            </a:lvl2pPr>
            <a:lvl3pPr algn="l">
              <a:buNone/>
              <a:defRPr sz="1725" b="0">
                <a:solidFill>
                  <a:srgbClr val="17243B"/>
                </a:solidFill>
                <a:latin typeface="DejaVu Sans"/>
                <a:ea typeface="DejaVu Sans"/>
                <a:cs typeface="DejaVu Sans"/>
              </a:defRPr>
            </a:lvl3pPr>
            <a:lvl4pPr algn="l">
              <a:buNone/>
              <a:defRPr sz="1725" b="0">
                <a:solidFill>
                  <a:srgbClr val="17243B"/>
                </a:solidFill>
                <a:latin typeface="DejaVu Sans"/>
                <a:ea typeface="DejaVu Sans"/>
                <a:cs typeface="DejaVu Sans"/>
              </a:defRPr>
            </a:lvl4pPr>
            <a:lvl5pPr algn="l">
              <a:buNone/>
              <a:defRPr sz="1725" b="0">
                <a:solidFill>
                  <a:srgbClr val="17243B"/>
                </a:solidFill>
                <a:latin typeface="DejaVu Sans"/>
                <a:ea typeface="DejaVu Sans"/>
                <a:cs typeface="DejaVu Sans"/>
              </a:defRPr>
            </a:lvl5pPr>
            <a:lvl6pPr algn="l">
              <a:buNone/>
              <a:defRPr sz="1725" b="0">
                <a:solidFill>
                  <a:srgbClr val="17243B"/>
                </a:solidFill>
                <a:latin typeface="DejaVu Sans"/>
                <a:ea typeface="DejaVu Sans"/>
                <a:cs typeface="DejaVu Sans"/>
              </a:defRPr>
            </a:lvl6pPr>
            <a:lvl7pPr algn="l">
              <a:buNone/>
              <a:defRPr sz="1725" b="0">
                <a:solidFill>
                  <a:srgbClr val="17243B"/>
                </a:solidFill>
                <a:latin typeface="DejaVu Sans"/>
                <a:ea typeface="DejaVu Sans"/>
                <a:cs typeface="DejaVu Sans"/>
              </a:defRPr>
            </a:lvl7pPr>
            <a:lvl8pPr algn="l">
              <a:buNone/>
              <a:defRPr sz="1725" b="0">
                <a:solidFill>
                  <a:srgbClr val="17243B"/>
                </a:solidFill>
                <a:latin typeface="DejaVu Sans"/>
                <a:ea typeface="DejaVu Sans"/>
                <a:cs typeface="DejaVu Sans"/>
              </a:defRPr>
            </a:lvl8pPr>
            <a:lvl9pPr algn="l">
              <a:buNone/>
              <a:defRPr sz="1725" b="0">
                <a:solidFill>
                  <a:srgbClr val="17243B"/>
                </a:solidFill>
                <a:latin typeface="DejaVu Sans"/>
                <a:ea typeface="DejaVu Sans"/>
                <a:cs typeface="DejaVu Sans"/>
              </a:defRPr>
            </a:lvl9pPr>
          </a:lstStyle>
          <a:p xmlns:a="http://schemas.openxmlformats.org/drawingml/2006/main">
            <a:pPr algn="l">
              <a:buNone/>
              <a:defRPr sz="1725" b="0">
                <a:solidFill>
                  <a:srgbClr val="17243B"/>
                </a:solidFill>
                <a:latin typeface="DejaVu Sans"/>
                <a:ea typeface="DejaVu Sans"/>
                <a:cs typeface="DejaVu Sans"/>
              </a:defRPr>
            </a:pPr>
            <a:r>
              <a:rPr sz="1725" b="0">
                <a:solidFill>
                  <a:srgbClr val="17243B"/>
                </a:solidFill>
                <a:latin typeface="DejaVu Sans"/>
                <a:ea typeface="DejaVu Sans"/>
                <a:cs typeface="DejaVu Sans"/>
              </a:rPr>
              <a:t>Soft drinks and beef lead across the groups. Differences in the next categories</a:t>
            </a:r>
          </a:p>
          <a:p xmlns:a="http://schemas.openxmlformats.org/drawingml/2006/main">
            <a:pPr algn="l">
              <a:buNone/>
              <a:defRPr sz="1725" b="0">
                <a:solidFill>
                  <a:srgbClr val="17243B"/>
                </a:solidFill>
                <a:latin typeface="DejaVu Sans"/>
                <a:ea typeface="DejaVu Sans"/>
                <a:cs typeface="DejaVu Sans"/>
              </a:defRPr>
            </a:pPr>
            <a:r>
              <a:rPr sz="1725" b="0">
                <a:solidFill>
                  <a:srgbClr val="17243B"/>
                </a:solidFill>
                <a:latin typeface="DejaVu Sans"/>
                <a:ea typeface="DejaVu Sans"/>
                <a:cs typeface="DejaVu Sans"/>
              </a:rPr>
              <a:t>provide a basis for tailoring product reminders.</a:t>
            </a:r>
          </a:p>
        </p:txBody>
      </p:sp>
      <p:graphicFrame>
        <p:nvGraphicFramePr>
          <p:cNvPr id="4" name="">
            <a:extLst xmlns:a="http://schemas.openxmlformats.org/drawingml/2006/main">
              <a:ext uri="{FF2B5EF4-FFF2-40B4-BE49-F238E27FC236}">
                <a16:creationId xmlns:a16="http://schemas.microsoft.com/office/drawing/2014/main" id="{05EDBCA7-29D7-4AC1-9667-156B9DF01716}"/>
              </a:ext>
            </a:extLst>
          </p:cNvPr>
          <p:cNvGraphicFramePr/>
          <p:nvPr/>
        </p:nvGraphicFramePr>
        <p:xfrm>
          <a:off xmlns:a="http://schemas.openxmlformats.org/drawingml/2006/main" x="609600" y="1885950"/>
          <a:ext xmlns:a="http://schemas.openxmlformats.org/drawingml/2006/main" cx="10972800" cy="3429000"/>
        </p:xfrm>
        <a:graphic xmlns:a="http://schemas.openxmlformats.org/drawingml/2006/main">
          <a:graphicData uri="http://schemas.openxmlformats.org/drawingml/2006/table">
            <a:tbl>
              <a:tblPr firstRow="1" bandRow="0"/>
              <a:tblGrid>
                <a:gridCol w="3190875"/>
                <a:gridCol w="2381250"/>
                <a:gridCol w="2428875"/>
                <a:gridCol w="2971800"/>
              </a:tblGrid>
              <a:tr h="857250">
                <a:tc>
                  <a:txBody>
                    <a:bodyPr wrap="square" lIns="152400" tIns="114300" rIns="152400" bIns="114300">
                      <a:noAutofit/>
                    </a:bodyPr>
                    <a:lstStyle/>
                    <a:p>
                      <a:r>
                        <a:rPr sz="1725" b="1">
                          <a:solidFill>
                            <a:srgbClr val="FFFFFF"/>
                          </a:solidFill>
                          <a:latin typeface="DejaVu Sans"/>
                          <a:ea typeface="DejaVu Sans"/>
                          <a:cs typeface="DejaVu Sans"/>
                        </a:rPr>
                        <a:t>Shopper segment</a:t>
                      </a:r>
                    </a:p>
                  </a:txBody>
                  <a:tcPr marL="91440" marR="91440" marT="45720" marB="45720" anchor="ctr">
                    <a:lnL w="9525">
                      <a:solidFill>
                        <a:srgbClr val="E6EDF5"/>
                      </a:solidFill>
                      <a:prstDash val="solid"/>
                    </a:lnL>
                    <a:lnR w="9525">
                      <a:solidFill>
                        <a:srgbClr val="E6EDF5"/>
                      </a:solidFill>
                      <a:prstDash val="solid"/>
                    </a:lnR>
                    <a:lnT w="9525">
                      <a:solidFill>
                        <a:srgbClr val="E6EDF5"/>
                      </a:solidFill>
                      <a:prstDash val="solid"/>
                    </a:lnT>
                    <a:lnB w="9525">
                      <a:solidFill>
                        <a:srgbClr val="E6EDF5"/>
                      </a:solidFill>
                      <a:prstDash val="solid"/>
                    </a:lnB>
                    <a:solidFill>
                      <a:srgbClr val="17243B"/>
                    </a:solidFill>
                  </a:tcPr>
                </a:tc>
                <a:tc>
                  <a:txBody>
                    <a:bodyPr wrap="square" lIns="152400" tIns="114300" rIns="152400" bIns="114300">
                      <a:noAutofit/>
                    </a:bodyPr>
                    <a:lstStyle/>
                    <a:p>
                      <a:r>
                        <a:rPr sz="1725" b="1">
                          <a:solidFill>
                            <a:srgbClr val="FFFFFF"/>
                          </a:solidFill>
                          <a:latin typeface="DejaVu Sans"/>
                          <a:ea typeface="DejaVu Sans"/>
                          <a:cs typeface="DejaVu Sans"/>
                        </a:rPr>
                        <a:t>Leading category</a:t>
                      </a:r>
                    </a:p>
                  </a:txBody>
                  <a:tcPr marL="91440" marR="91440" marT="45720" marB="45720" anchor="ctr">
                    <a:lnR w="9525">
                      <a:solidFill>
                        <a:srgbClr val="E6EDF5"/>
                      </a:solidFill>
                      <a:prstDash val="solid"/>
                    </a:lnR>
                    <a:lnT w="9525">
                      <a:solidFill>
                        <a:srgbClr val="E6EDF5"/>
                      </a:solidFill>
                      <a:prstDash val="solid"/>
                    </a:lnT>
                    <a:lnB w="9525">
                      <a:solidFill>
                        <a:srgbClr val="E6EDF5"/>
                      </a:solidFill>
                      <a:prstDash val="solid"/>
                    </a:lnB>
                    <a:solidFill>
                      <a:srgbClr val="17243B"/>
                    </a:solidFill>
                  </a:tcPr>
                </a:tc>
                <a:tc>
                  <a:txBody>
                    <a:bodyPr wrap="square" lIns="152400" tIns="114300" rIns="152400" bIns="114300">
                      <a:noAutofit/>
                    </a:bodyPr>
                    <a:lstStyle/>
                    <a:p>
                      <a:r>
                        <a:rPr sz="1725" b="1">
                          <a:solidFill>
                            <a:srgbClr val="FFFFFF"/>
                          </a:solidFill>
                          <a:latin typeface="DejaVu Sans"/>
                          <a:ea typeface="DejaVu Sans"/>
                          <a:cs typeface="DejaVu Sans"/>
                        </a:rPr>
                        <a:t>Share of</a:t>
                      </a:r>
                    </a:p>
                    <a:p>
                      <a:r>
                        <a:rPr sz="1725" b="1">
                          <a:solidFill>
                            <a:srgbClr val="FFFFFF"/>
                          </a:solidFill>
                          <a:latin typeface="DejaVu Sans"/>
                          <a:ea typeface="DejaVu Sans"/>
                          <a:cs typeface="DejaVu Sans"/>
                        </a:rPr>
                        <a:t>segment sales</a:t>
                      </a:r>
                    </a:p>
                  </a:txBody>
                  <a:tcPr marL="91440" marR="91440" marT="45720" marB="45720" anchor="ctr">
                    <a:lnR w="9525">
                      <a:solidFill>
                        <a:srgbClr val="E6EDF5"/>
                      </a:solidFill>
                      <a:prstDash val="solid"/>
                    </a:lnR>
                    <a:lnT w="9525">
                      <a:solidFill>
                        <a:srgbClr val="E6EDF5"/>
                      </a:solidFill>
                      <a:prstDash val="solid"/>
                    </a:lnT>
                    <a:lnB w="9525">
                      <a:solidFill>
                        <a:srgbClr val="E6EDF5"/>
                      </a:solidFill>
                      <a:prstDash val="solid"/>
                    </a:lnB>
                    <a:solidFill>
                      <a:srgbClr val="17243B"/>
                    </a:solidFill>
                  </a:tcPr>
                </a:tc>
                <a:tc>
                  <a:txBody>
                    <a:bodyPr wrap="square" lIns="152400" tIns="114300" rIns="152400" bIns="114300">
                      <a:noAutofit/>
                    </a:bodyPr>
                    <a:lstStyle/>
                    <a:p>
                      <a:r>
                        <a:rPr sz="1725" b="1">
                          <a:solidFill>
                            <a:srgbClr val="FFFFFF"/>
                          </a:solidFill>
                          <a:latin typeface="DejaVu Sans"/>
                          <a:ea typeface="DejaVu Sans"/>
                          <a:cs typeface="DejaVu Sans"/>
                        </a:rPr>
                        <a:t>Next categories</a:t>
                      </a:r>
                    </a:p>
                  </a:txBody>
                  <a:tcPr marL="91440" marR="91440" marT="45720" marB="45720" anchor="ctr">
                    <a:lnR w="9525">
                      <a:solidFill>
                        <a:srgbClr val="E6EDF5"/>
                      </a:solidFill>
                      <a:prstDash val="solid"/>
                    </a:lnR>
                    <a:lnT w="9525">
                      <a:solidFill>
                        <a:srgbClr val="E6EDF5"/>
                      </a:solidFill>
                      <a:prstDash val="solid"/>
                    </a:lnT>
                    <a:lnB w="9525">
                      <a:solidFill>
                        <a:srgbClr val="E6EDF5"/>
                      </a:solidFill>
                      <a:prstDash val="solid"/>
                    </a:lnB>
                    <a:solidFill>
                      <a:srgbClr val="17243B"/>
                    </a:solidFill>
                  </a:tcPr>
                </a:tc>
              </a:tr>
              <a:tr h="857250">
                <a:tc>
                  <a:txBody>
                    <a:bodyPr wrap="square" lIns="152400" tIns="114300" rIns="152400" bIns="114300">
                      <a:noAutofit/>
                    </a:bodyPr>
                    <a:lstStyle/>
                    <a:p>
                      <a:r>
                        <a:rPr sz="1875" b="1">
                          <a:solidFill>
                            <a:srgbClr val="2563EB"/>
                          </a:solidFill>
                          <a:latin typeface="DejaVu Sans"/>
                          <a:ea typeface="DejaVu Sans"/>
                          <a:cs typeface="DejaVu Sans"/>
                        </a:rPr>
                        <a:t>High-Value</a:t>
                      </a:r>
                    </a:p>
                    <a:p>
                      <a:r>
                        <a:rPr sz="1875" b="1">
                          <a:solidFill>
                            <a:srgbClr val="2563EB"/>
                          </a:solidFill>
                          <a:latin typeface="DejaVu Sans"/>
                          <a:ea typeface="DejaVu Sans"/>
                          <a:cs typeface="DejaVu Sans"/>
                        </a:rPr>
                        <a:t>Frequent</a:t>
                      </a:r>
                    </a:p>
                  </a:txBody>
                  <a:tcPr marL="91440" marR="91440" marT="45720" marB="45720" anchor="ctr">
                    <a:lnL w="9525">
                      <a:solidFill>
                        <a:srgbClr val="E6EDF5"/>
                      </a:solidFill>
                      <a:prstDash val="solid"/>
                    </a:lnL>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Soft drinks</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4.00%</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Beef</a:t>
                      </a:r>
                    </a:p>
                    <a:p>
                      <a:r>
                        <a:rPr sz="1875" b="0">
                          <a:solidFill>
                            <a:srgbClr val="17243B"/>
                          </a:solidFill>
                          <a:latin typeface="DejaVu Sans"/>
                          <a:ea typeface="DejaVu Sans"/>
                          <a:cs typeface="DejaVu Sans"/>
                        </a:rPr>
                        <a:t>Milk</a:t>
                      </a:r>
                    </a:p>
                  </a:txBody>
                  <a:tcPr marL="91440" marR="91440" marT="45720" marB="45720" anchor="ctr">
                    <a:lnR w="9525">
                      <a:solidFill>
                        <a:srgbClr val="E6EDF5"/>
                      </a:solidFill>
                      <a:prstDash val="solid"/>
                    </a:lnR>
                    <a:lnB w="9525">
                      <a:solidFill>
                        <a:srgbClr val="E6EDF5"/>
                      </a:solidFill>
                      <a:prstDash val="solid"/>
                    </a:lnB>
                    <a:solidFill>
                      <a:srgbClr val="FFFFFF"/>
                    </a:solidFill>
                  </a:tcPr>
                </a:tc>
              </a:tr>
              <a:tr h="857250">
                <a:tc>
                  <a:txBody>
                    <a:bodyPr wrap="square" lIns="152400" tIns="114300" rIns="152400" bIns="114300">
                      <a:noAutofit/>
                    </a:bodyPr>
                    <a:lstStyle/>
                    <a:p>
                      <a:r>
                        <a:rPr sz="1875" b="1">
                          <a:solidFill>
                            <a:srgbClr val="7C3AED"/>
                          </a:solidFill>
                          <a:latin typeface="DejaVu Sans"/>
                          <a:ea typeface="DejaVu Sans"/>
                          <a:cs typeface="DejaVu Sans"/>
                        </a:rPr>
                        <a:t>Large-Basket</a:t>
                      </a:r>
                    </a:p>
                    <a:p>
                      <a:r>
                        <a:rPr sz="1875" b="1">
                          <a:solidFill>
                            <a:srgbClr val="7C3AED"/>
                          </a:solidFill>
                          <a:latin typeface="DejaVu Sans"/>
                          <a:ea typeface="DejaVu Sans"/>
                          <a:cs typeface="DejaVu Sans"/>
                        </a:rPr>
                        <a:t>Occasional</a:t>
                      </a:r>
                    </a:p>
                  </a:txBody>
                  <a:tcPr marL="91440" marR="91440" marT="45720" marB="45720" anchor="ctr">
                    <a:lnL w="9525">
                      <a:solidFill>
                        <a:srgbClr val="E6EDF5"/>
                      </a:solidFill>
                      <a:prstDash val="solid"/>
                    </a:lnL>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Beef</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4.43%</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Soft drinks</a:t>
                      </a:r>
                    </a:p>
                    <a:p>
                      <a:r>
                        <a:rPr sz="1875" b="0">
                          <a:solidFill>
                            <a:srgbClr val="17243B"/>
                          </a:solidFill>
                          <a:latin typeface="DejaVu Sans"/>
                          <a:ea typeface="DejaVu Sans"/>
                          <a:cs typeface="DejaVu Sans"/>
                        </a:rPr>
                        <a:t>Cheese</a:t>
                      </a:r>
                    </a:p>
                  </a:txBody>
                  <a:tcPr marL="91440" marR="91440" marT="45720" marB="45720" anchor="ctr">
                    <a:lnR w="9525">
                      <a:solidFill>
                        <a:srgbClr val="E6EDF5"/>
                      </a:solidFill>
                      <a:prstDash val="solid"/>
                    </a:lnR>
                    <a:lnB w="9525">
                      <a:solidFill>
                        <a:srgbClr val="E6EDF5"/>
                      </a:solidFill>
                      <a:prstDash val="solid"/>
                    </a:lnB>
                    <a:solidFill>
                      <a:srgbClr val="FFFFFF"/>
                    </a:solidFill>
                  </a:tcPr>
                </a:tc>
              </a:tr>
              <a:tr h="857250">
                <a:tc>
                  <a:txBody>
                    <a:bodyPr wrap="square" lIns="152400" tIns="114300" rIns="152400" bIns="114300">
                      <a:noAutofit/>
                    </a:bodyPr>
                    <a:lstStyle/>
                    <a:p>
                      <a:r>
                        <a:rPr sz="1875" b="1">
                          <a:solidFill>
                            <a:srgbClr val="0F9488"/>
                          </a:solidFill>
                          <a:latin typeface="DejaVu Sans"/>
                          <a:ea typeface="DejaVu Sans"/>
                          <a:cs typeface="DejaVu Sans"/>
                        </a:rPr>
                        <a:t>Low-Value</a:t>
                      </a:r>
                    </a:p>
                    <a:p>
                      <a:r>
                        <a:rPr sz="1875" b="1">
                          <a:solidFill>
                            <a:srgbClr val="0F9488"/>
                          </a:solidFill>
                          <a:latin typeface="DejaVu Sans"/>
                          <a:ea typeface="DejaVu Sans"/>
                          <a:cs typeface="DejaVu Sans"/>
                        </a:rPr>
                        <a:t>Low-Engagement</a:t>
                      </a:r>
                    </a:p>
                  </a:txBody>
                  <a:tcPr marL="91440" marR="91440" marT="45720" marB="45720" anchor="ctr">
                    <a:lnL w="9525">
                      <a:solidFill>
                        <a:srgbClr val="E6EDF5"/>
                      </a:solidFill>
                      <a:prstDash val="solid"/>
                    </a:lnL>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Soft drinks</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5.08%</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Beef</a:t>
                      </a:r>
                    </a:p>
                    <a:p>
                      <a:r>
                        <a:rPr sz="1875" b="0">
                          <a:solidFill>
                            <a:srgbClr val="17243B"/>
                          </a:solidFill>
                          <a:latin typeface="DejaVu Sans"/>
                          <a:ea typeface="DejaVu Sans"/>
                          <a:cs typeface="DejaVu Sans"/>
                        </a:rPr>
                        <a:t>Beer and ale</a:t>
                      </a:r>
                    </a:p>
                  </a:txBody>
                  <a:tcPr marL="91440" marR="91440" marT="45720" marB="45720" anchor="ctr">
                    <a:lnR w="9525">
                      <a:solidFill>
                        <a:srgbClr val="E6EDF5"/>
                      </a:solidFill>
                      <a:prstDash val="solid"/>
                    </a:lnR>
                    <a:lnB w="9525">
                      <a:solidFill>
                        <a:srgbClr val="E6EDF5"/>
                      </a:solidFill>
                      <a:prstDash val="solid"/>
                    </a:lnB>
                    <a:solidFill>
                      <a:srgbClr val="FFFFFF"/>
                    </a:solidFill>
                  </a:tcPr>
                </a:tc>
              </a:tr>
            </a:tbl>
          </a:graphicData>
        </a:graphic>
      </p:graphicFrame>
    </p:spTree>
    <p:extLst>
      <p:ext uri="{BB962C8B-B14F-4D97-AF65-F5344CB8AC3E}">
        <p14:creationId xmlns:p14="http://schemas.microsoft.com/office/powerpoint/2010/main" val="7916026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FF6C2F-500B-4355-A9CE-399DC22A2258}"/>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243B"/>
                </a:solidFill>
                <a:latin typeface="DejaVu Sans"/>
                <a:ea typeface="DejaVu Sans"/>
                <a:cs typeface="DejaVu Sans"/>
              </a:defRPr>
            </a:defPPr>
            <a:lvl1pPr algn="l">
              <a:buNone/>
              <a:defRPr sz="3225" b="1">
                <a:solidFill>
                  <a:srgbClr val="17243B"/>
                </a:solidFill>
                <a:latin typeface="DejaVu Sans"/>
                <a:ea typeface="DejaVu Sans"/>
                <a:cs typeface="DejaVu Sans"/>
              </a:defRPr>
            </a:lvl1pPr>
            <a:lvl2pPr algn="l">
              <a:buNone/>
              <a:defRPr sz="3225" b="1">
                <a:solidFill>
                  <a:srgbClr val="17243B"/>
                </a:solidFill>
                <a:latin typeface="DejaVu Sans"/>
                <a:ea typeface="DejaVu Sans"/>
                <a:cs typeface="DejaVu Sans"/>
              </a:defRPr>
            </a:lvl2pPr>
            <a:lvl3pPr algn="l">
              <a:buNone/>
              <a:defRPr sz="3225" b="1">
                <a:solidFill>
                  <a:srgbClr val="17243B"/>
                </a:solidFill>
                <a:latin typeface="DejaVu Sans"/>
                <a:ea typeface="DejaVu Sans"/>
                <a:cs typeface="DejaVu Sans"/>
              </a:defRPr>
            </a:lvl3pPr>
            <a:lvl4pPr algn="l">
              <a:buNone/>
              <a:defRPr sz="3225" b="1">
                <a:solidFill>
                  <a:srgbClr val="17243B"/>
                </a:solidFill>
                <a:latin typeface="DejaVu Sans"/>
                <a:ea typeface="DejaVu Sans"/>
                <a:cs typeface="DejaVu Sans"/>
              </a:defRPr>
            </a:lvl4pPr>
            <a:lvl5pPr algn="l">
              <a:buNone/>
              <a:defRPr sz="3225" b="1">
                <a:solidFill>
                  <a:srgbClr val="17243B"/>
                </a:solidFill>
                <a:latin typeface="DejaVu Sans"/>
                <a:ea typeface="DejaVu Sans"/>
                <a:cs typeface="DejaVu Sans"/>
              </a:defRPr>
            </a:lvl5pPr>
            <a:lvl6pPr algn="l">
              <a:buNone/>
              <a:defRPr sz="3225" b="1">
                <a:solidFill>
                  <a:srgbClr val="17243B"/>
                </a:solidFill>
                <a:latin typeface="DejaVu Sans"/>
                <a:ea typeface="DejaVu Sans"/>
                <a:cs typeface="DejaVu Sans"/>
              </a:defRPr>
            </a:lvl6pPr>
            <a:lvl7pPr algn="l">
              <a:buNone/>
              <a:defRPr sz="3225" b="1">
                <a:solidFill>
                  <a:srgbClr val="17243B"/>
                </a:solidFill>
                <a:latin typeface="DejaVu Sans"/>
                <a:ea typeface="DejaVu Sans"/>
                <a:cs typeface="DejaVu Sans"/>
              </a:defRPr>
            </a:lvl7pPr>
            <a:lvl8pPr algn="l">
              <a:buNone/>
              <a:defRPr sz="3225" b="1">
                <a:solidFill>
                  <a:srgbClr val="17243B"/>
                </a:solidFill>
                <a:latin typeface="DejaVu Sans"/>
                <a:ea typeface="DejaVu Sans"/>
                <a:cs typeface="DejaVu Sans"/>
              </a:defRPr>
            </a:lvl8pPr>
            <a:lvl9pPr algn="l">
              <a:buNone/>
              <a:defRPr sz="3225" b="1">
                <a:solidFill>
                  <a:srgbClr val="17243B"/>
                </a:solidFill>
                <a:latin typeface="DejaVu Sans"/>
                <a:ea typeface="DejaVu Sans"/>
                <a:cs typeface="DejaVu Sans"/>
              </a:defRPr>
            </a:lvl9pPr>
          </a:lstStyle>
          <a:p xmlns:a="http://schemas.openxmlformats.org/drawingml/2006/main">
            <a:pPr algn="l">
              <a:buNone/>
              <a:defRPr sz="3225" b="1">
                <a:solidFill>
                  <a:srgbClr val="17243B"/>
                </a:solidFill>
                <a:latin typeface="DejaVu Sans"/>
                <a:ea typeface="DejaVu Sans"/>
                <a:cs typeface="DejaVu Sans"/>
              </a:defRPr>
            </a:pPr>
            <a:r>
              <a:rPr sz="3225" b="1">
                <a:solidFill>
                  <a:srgbClr val="17243B"/>
                </a:solidFill>
                <a:latin typeface="DejaVu Sans"/>
                <a:ea typeface="DejaVu Sans"/>
                <a:cs typeface="DejaVu Sans"/>
              </a:rPr>
              <a:t>Promotions reach most baskets</a:t>
            </a:r>
          </a:p>
        </p:txBody>
      </p:sp>
      <p:sp>
        <p:nvSpPr>
          <p:cNvPr id="2" name="">
            <a:extLst xmlns:a="http://schemas.openxmlformats.org/drawingml/2006/main">
              <a:ext uri="{FF2B5EF4-FFF2-40B4-BE49-F238E27FC236}">
                <a16:creationId xmlns:a16="http://schemas.microsoft.com/office/drawing/2014/main" id="{C4DFA7E7-25F3-4F86-B057-1DCB32A65A9D}"/>
              </a:ext>
            </a:extLst>
          </p:cNvPr>
          <p:cNvSpPr>
            <a:spLocks xmlns:a="http://schemas.openxmlformats.org/drawingml/2006/main" noGrp="1"/>
          </p:cNvSpPr>
          <p:nvPr/>
        </p:nvSpPr>
        <p:spPr>
          <a:xfrm xmlns:a="http://schemas.openxmlformats.org/drawingml/2006/main">
            <a:off x="609600" y="6429375"/>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050" b="0">
                <a:solidFill>
                  <a:srgbClr val="64748B"/>
                </a:solidFill>
                <a:latin typeface="DejaVu Sans"/>
                <a:ea typeface="DejaVu Sans"/>
                <a:cs typeface="DejaVu Sans"/>
              </a:defRPr>
            </a:defPPr>
            <a:lvl1pPr>
              <a:buNone/>
              <a:defRPr sz="1050" b="0">
                <a:solidFill>
                  <a:srgbClr val="64748B"/>
                </a:solidFill>
                <a:latin typeface="DejaVu Sans"/>
                <a:ea typeface="DejaVu Sans"/>
                <a:cs typeface="DejaVu Sans"/>
              </a:defRPr>
            </a:lvl1pPr>
            <a:lvl2pPr>
              <a:buNone/>
              <a:defRPr sz="1050" b="0">
                <a:solidFill>
                  <a:srgbClr val="64748B"/>
                </a:solidFill>
                <a:latin typeface="DejaVu Sans"/>
                <a:ea typeface="DejaVu Sans"/>
                <a:cs typeface="DejaVu Sans"/>
              </a:defRPr>
            </a:lvl2pPr>
            <a:lvl3pPr>
              <a:buNone/>
              <a:defRPr sz="1050" b="0">
                <a:solidFill>
                  <a:srgbClr val="64748B"/>
                </a:solidFill>
                <a:latin typeface="DejaVu Sans"/>
                <a:ea typeface="DejaVu Sans"/>
                <a:cs typeface="DejaVu Sans"/>
              </a:defRPr>
            </a:lvl3pPr>
            <a:lvl4pPr>
              <a:buNone/>
              <a:defRPr sz="1050" b="0">
                <a:solidFill>
                  <a:srgbClr val="64748B"/>
                </a:solidFill>
                <a:latin typeface="DejaVu Sans"/>
                <a:ea typeface="DejaVu Sans"/>
                <a:cs typeface="DejaVu Sans"/>
              </a:defRPr>
            </a:lvl4pPr>
            <a:lvl5pPr>
              <a:buNone/>
              <a:defRPr sz="1050" b="0">
                <a:solidFill>
                  <a:srgbClr val="64748B"/>
                </a:solidFill>
                <a:latin typeface="DejaVu Sans"/>
                <a:ea typeface="DejaVu Sans"/>
                <a:cs typeface="DejaVu Sans"/>
              </a:defRPr>
            </a:lvl5pPr>
            <a:lvl6pPr>
              <a:buNone/>
              <a:defRPr sz="1050" b="0">
                <a:solidFill>
                  <a:srgbClr val="64748B"/>
                </a:solidFill>
                <a:latin typeface="DejaVu Sans"/>
                <a:ea typeface="DejaVu Sans"/>
                <a:cs typeface="DejaVu Sans"/>
              </a:defRPr>
            </a:lvl6pPr>
            <a:lvl7pPr>
              <a:buNone/>
              <a:defRPr sz="1050" b="0">
                <a:solidFill>
                  <a:srgbClr val="64748B"/>
                </a:solidFill>
                <a:latin typeface="DejaVu Sans"/>
                <a:ea typeface="DejaVu Sans"/>
                <a:cs typeface="DejaVu Sans"/>
              </a:defRPr>
            </a:lvl7pPr>
            <a:lvl8pPr>
              <a:buNone/>
              <a:defRPr sz="1050" b="0">
                <a:solidFill>
                  <a:srgbClr val="64748B"/>
                </a:solidFill>
                <a:latin typeface="DejaVu Sans"/>
                <a:ea typeface="DejaVu Sans"/>
                <a:cs typeface="DejaVu Sans"/>
              </a:defRPr>
            </a:lvl8pPr>
            <a:lvl9pPr>
              <a:buNone/>
              <a:defRPr sz="1050" b="0">
                <a:solidFill>
                  <a:srgbClr val="64748B"/>
                </a:solidFill>
                <a:latin typeface="DejaVu Sans"/>
                <a:ea typeface="DejaVu Sans"/>
                <a:cs typeface="DejaVu Sans"/>
              </a:defRPr>
            </a:lvl9pPr>
          </a:lstStyle>
          <a:p xmlns:a="http://schemas.openxmlformats.org/drawingml/2006/main">
            <a:pPr>
              <a:buNone/>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FMCG Consumer Growth &amp; Promotion Insights</a:t>
            </a:r>
          </a:p>
        </p:txBody>
      </p:sp>
      <p:sp>
        <p:nvSpPr>
          <p:cNvPr id="3" name="">
            <a:extLst xmlns:a="http://schemas.openxmlformats.org/drawingml/2006/main">
              <a:ext uri="{FF2B5EF4-FFF2-40B4-BE49-F238E27FC236}">
                <a16:creationId xmlns:a16="http://schemas.microsoft.com/office/drawing/2014/main" id="{125142F2-9BB6-4ECB-92E6-8DECCA61C832}"/>
              </a:ext>
            </a:extLst>
          </p:cNvPr>
          <p:cNvSpPr>
            <a:spLocks xmlns:a="http://schemas.openxmlformats.org/drawingml/2006/main" noGrp="1"/>
          </p:cNvSpPr>
          <p:nvPr/>
        </p:nvSpPr>
        <p:spPr>
          <a:xfrm xmlns:a="http://schemas.openxmlformats.org/drawingml/2006/main">
            <a:off x="11049000" y="64198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DejaVu Sans"/>
                <a:ea typeface="DejaVu Sans"/>
                <a:cs typeface="DejaVu Sans"/>
              </a:defRPr>
            </a:defPPr>
            <a:lvl1pPr algn="l">
              <a:buNone/>
              <a:defRPr sz="1200" b="0">
                <a:solidFill>
                  <a:srgbClr val="64748B"/>
                </a:solidFill>
                <a:latin typeface="DejaVu Sans"/>
                <a:ea typeface="DejaVu Sans"/>
                <a:cs typeface="DejaVu Sans"/>
              </a:defRPr>
            </a:lvl1pPr>
            <a:lvl2pPr algn="l">
              <a:buNone/>
              <a:defRPr sz="1200" b="0">
                <a:solidFill>
                  <a:srgbClr val="64748B"/>
                </a:solidFill>
                <a:latin typeface="DejaVu Sans"/>
                <a:ea typeface="DejaVu Sans"/>
                <a:cs typeface="DejaVu Sans"/>
              </a:defRPr>
            </a:lvl2pPr>
            <a:lvl3pPr algn="l">
              <a:buNone/>
              <a:defRPr sz="1200" b="0">
                <a:solidFill>
                  <a:srgbClr val="64748B"/>
                </a:solidFill>
                <a:latin typeface="DejaVu Sans"/>
                <a:ea typeface="DejaVu Sans"/>
                <a:cs typeface="DejaVu Sans"/>
              </a:defRPr>
            </a:lvl3pPr>
            <a:lvl4pPr algn="l">
              <a:buNone/>
              <a:defRPr sz="1200" b="0">
                <a:solidFill>
                  <a:srgbClr val="64748B"/>
                </a:solidFill>
                <a:latin typeface="DejaVu Sans"/>
                <a:ea typeface="DejaVu Sans"/>
                <a:cs typeface="DejaVu Sans"/>
              </a:defRPr>
            </a:lvl4pPr>
            <a:lvl5pPr algn="l">
              <a:buNone/>
              <a:defRPr sz="1200" b="0">
                <a:solidFill>
                  <a:srgbClr val="64748B"/>
                </a:solidFill>
                <a:latin typeface="DejaVu Sans"/>
                <a:ea typeface="DejaVu Sans"/>
                <a:cs typeface="DejaVu Sans"/>
              </a:defRPr>
            </a:lvl5pPr>
            <a:lvl6pPr algn="l">
              <a:buNone/>
              <a:defRPr sz="1200" b="0">
                <a:solidFill>
                  <a:srgbClr val="64748B"/>
                </a:solidFill>
                <a:latin typeface="DejaVu Sans"/>
                <a:ea typeface="DejaVu Sans"/>
                <a:cs typeface="DejaVu Sans"/>
              </a:defRPr>
            </a:lvl6pPr>
            <a:lvl7pPr algn="l">
              <a:buNone/>
              <a:defRPr sz="1200" b="0">
                <a:solidFill>
                  <a:srgbClr val="64748B"/>
                </a:solidFill>
                <a:latin typeface="DejaVu Sans"/>
                <a:ea typeface="DejaVu Sans"/>
                <a:cs typeface="DejaVu Sans"/>
              </a:defRPr>
            </a:lvl7pPr>
            <a:lvl8pPr algn="l">
              <a:buNone/>
              <a:defRPr sz="1200" b="0">
                <a:solidFill>
                  <a:srgbClr val="64748B"/>
                </a:solidFill>
                <a:latin typeface="DejaVu Sans"/>
                <a:ea typeface="DejaVu Sans"/>
                <a:cs typeface="DejaVu Sans"/>
              </a:defRPr>
            </a:lvl8pPr>
            <a:lvl9pPr algn="l">
              <a:buNone/>
              <a:defRPr sz="1200" b="0">
                <a:solidFill>
                  <a:srgbClr val="64748B"/>
                </a:solidFill>
                <a:latin typeface="DejaVu Sans"/>
                <a:ea typeface="DejaVu Sans"/>
                <a:cs typeface="DejaVu Sans"/>
              </a:defRPr>
            </a:lvl9pPr>
          </a:lstStyle>
          <a:p xmlns:a="http://schemas.openxmlformats.org/drawingml/2006/main">
            <a:pPr algn="l">
              <a:buNone/>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08</a:t>
            </a:r>
          </a:p>
        </p:txBody>
      </p:sp>
      <p:graphicFrame>
        <p:nvGraphicFramePr>
          <p:cNvPr id="4" name="Chart">
            <a:extLst xmlns:a="http://schemas.openxmlformats.org/drawingml/2006/main">
              <a:ext uri="{FF2B5EF4-FFF2-40B4-BE49-F238E27FC236}">
                <a16:creationId xmlns:a16="http://schemas.microsoft.com/office/drawing/2014/main" id="{530BBF3B-2B04-443E-B0AF-1B6C51CDB8EE}"/>
              </a:ext>
            </a:extLst>
          </p:cNvPr>
          <p:cNvGraphicFramePr/>
          <p:nvPr/>
        </p:nvGraphicFramePr>
        <p:xfrm>
          <a:off xmlns:a="http://schemas.openxmlformats.org/drawingml/2006/main" x="666750" y="1800225"/>
          <a:ext xmlns:a="http://schemas.openxmlformats.org/drawingml/2006/main" cx="10668000" cy="3676650"/>
        </p:xfrm>
        <a:graphic xmlns:a="http://schemas.openxmlformats.org/drawingml/2006/main">
          <a:graphicData uri="http://schemas.openxmlformats.org/drawingml/2006/chart">
            <c:chart xmlns:r="http://schemas.openxmlformats.org/officeDocument/2006/relationships" xmlns:c="http://schemas.openxmlformats.org/drawingml/2006/chart" r:id="Rce4744b638af4f4c"/>
          </a:graphicData>
        </a:graphic>
      </p:graphicFrame>
      <p:sp>
        <p:nvSpPr>
          <p:cNvPr id="5" name="">
            <a:extLst xmlns:a="http://schemas.openxmlformats.org/drawingml/2006/main">
              <a:ext uri="{FF2B5EF4-FFF2-40B4-BE49-F238E27FC236}">
                <a16:creationId xmlns:a16="http://schemas.microsoft.com/office/drawing/2014/main" id="{795A22D3-0121-4144-8805-06F3B5E46C8B}"/>
              </a:ext>
            </a:extLst>
          </p:cNvPr>
          <p:cNvSpPr>
            <a:spLocks xmlns:a="http://schemas.openxmlformats.org/drawingml/2006/main" noGrp="1"/>
          </p:cNvSpPr>
          <p:nvPr/>
        </p:nvSpPr>
        <p:spPr>
          <a:xfrm xmlns:a="http://schemas.openxmlformats.org/drawingml/2006/main">
            <a:off x="666750" y="5657850"/>
            <a:ext cx="1085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243B"/>
                </a:solidFill>
                <a:latin typeface="DejaVu Sans"/>
                <a:ea typeface="DejaVu Sans"/>
                <a:cs typeface="DejaVu Sans"/>
              </a:defRPr>
            </a:defPPr>
            <a:lvl1pPr algn="l">
              <a:buNone/>
              <a:defRPr sz="1650" b="0">
                <a:solidFill>
                  <a:srgbClr val="17243B"/>
                </a:solidFill>
                <a:latin typeface="DejaVu Sans"/>
                <a:ea typeface="DejaVu Sans"/>
                <a:cs typeface="DejaVu Sans"/>
              </a:defRPr>
            </a:lvl1pPr>
            <a:lvl2pPr algn="l">
              <a:buNone/>
              <a:defRPr sz="1650" b="0">
                <a:solidFill>
                  <a:srgbClr val="17243B"/>
                </a:solidFill>
                <a:latin typeface="DejaVu Sans"/>
                <a:ea typeface="DejaVu Sans"/>
                <a:cs typeface="DejaVu Sans"/>
              </a:defRPr>
            </a:lvl2pPr>
            <a:lvl3pPr algn="l">
              <a:buNone/>
              <a:defRPr sz="1650" b="0">
                <a:solidFill>
                  <a:srgbClr val="17243B"/>
                </a:solidFill>
                <a:latin typeface="DejaVu Sans"/>
                <a:ea typeface="DejaVu Sans"/>
                <a:cs typeface="DejaVu Sans"/>
              </a:defRPr>
            </a:lvl3pPr>
            <a:lvl4pPr algn="l">
              <a:buNone/>
              <a:defRPr sz="1650" b="0">
                <a:solidFill>
                  <a:srgbClr val="17243B"/>
                </a:solidFill>
                <a:latin typeface="DejaVu Sans"/>
                <a:ea typeface="DejaVu Sans"/>
                <a:cs typeface="DejaVu Sans"/>
              </a:defRPr>
            </a:lvl4pPr>
            <a:lvl5pPr algn="l">
              <a:buNone/>
              <a:defRPr sz="1650" b="0">
                <a:solidFill>
                  <a:srgbClr val="17243B"/>
                </a:solidFill>
                <a:latin typeface="DejaVu Sans"/>
                <a:ea typeface="DejaVu Sans"/>
                <a:cs typeface="DejaVu Sans"/>
              </a:defRPr>
            </a:lvl5pPr>
            <a:lvl6pPr algn="l">
              <a:buNone/>
              <a:defRPr sz="1650" b="0">
                <a:solidFill>
                  <a:srgbClr val="17243B"/>
                </a:solidFill>
                <a:latin typeface="DejaVu Sans"/>
                <a:ea typeface="DejaVu Sans"/>
                <a:cs typeface="DejaVu Sans"/>
              </a:defRPr>
            </a:lvl6pPr>
            <a:lvl7pPr algn="l">
              <a:buNone/>
              <a:defRPr sz="1650" b="0">
                <a:solidFill>
                  <a:srgbClr val="17243B"/>
                </a:solidFill>
                <a:latin typeface="DejaVu Sans"/>
                <a:ea typeface="DejaVu Sans"/>
                <a:cs typeface="DejaVu Sans"/>
              </a:defRPr>
            </a:lvl7pPr>
            <a:lvl8pPr algn="l">
              <a:buNone/>
              <a:defRPr sz="1650" b="0">
                <a:solidFill>
                  <a:srgbClr val="17243B"/>
                </a:solidFill>
                <a:latin typeface="DejaVu Sans"/>
                <a:ea typeface="DejaVu Sans"/>
                <a:cs typeface="DejaVu Sans"/>
              </a:defRPr>
            </a:lvl8pPr>
            <a:lvl9pPr algn="l">
              <a:buNone/>
              <a:defRPr sz="1650" b="0">
                <a:solidFill>
                  <a:srgbClr val="17243B"/>
                </a:solidFill>
                <a:latin typeface="DejaVu Sans"/>
                <a:ea typeface="DejaVu Sans"/>
                <a:cs typeface="DejaVu Sans"/>
              </a:defRPr>
            </a:lvl9pPr>
          </a:lstStyle>
          <a:p xmlns:a="http://schemas.openxmlformats.org/drawingml/2006/main">
            <a:pPr algn="l">
              <a:buNone/>
              <a:defRPr sz="1650" b="0">
                <a:solidFill>
                  <a:srgbClr val="17243B"/>
                </a:solidFill>
                <a:latin typeface="DejaVu Sans"/>
                <a:ea typeface="DejaVu Sans"/>
                <a:cs typeface="DejaVu Sans"/>
              </a:defRPr>
            </a:pPr>
            <a:r>
              <a:rPr sz="1650" b="0">
                <a:solidFill>
                  <a:srgbClr val="17243B"/>
                </a:solidFill>
                <a:latin typeface="DejaVu Sans"/>
                <a:ea typeface="DejaVu Sans"/>
                <a:cs typeface="DejaVu Sans"/>
              </a:rPr>
              <a:t>Customer averages show promotions in most baskets, while promoted items account</a:t>
            </a:r>
          </a:p>
          <a:p xmlns:a="http://schemas.openxmlformats.org/drawingml/2006/main">
            <a:pPr algn="l">
              <a:buNone/>
              <a:defRPr sz="1650" b="0">
                <a:solidFill>
                  <a:srgbClr val="17243B"/>
                </a:solidFill>
                <a:latin typeface="DejaVu Sans"/>
                <a:ea typeface="DejaVu Sans"/>
                <a:cs typeface="DejaVu Sans"/>
              </a:defRPr>
            </a:pPr>
            <a:r>
              <a:rPr sz="1650" b="0">
                <a:solidFill>
                  <a:srgbClr val="17243B"/>
                </a:solidFill>
                <a:latin typeface="DejaVu Sans"/>
                <a:ea typeface="DejaVu Sans"/>
                <a:cs typeface="DejaVu Sans"/>
              </a:rPr>
              <a:t>for about half of spending.</a:t>
            </a:r>
          </a:p>
        </p:txBody>
      </p:sp>
    </p:spTree>
    <p:extLst>
      <p:ext uri="{BB962C8B-B14F-4D97-AF65-F5344CB8AC3E}">
        <p14:creationId xmlns:p14="http://schemas.microsoft.com/office/powerpoint/2010/main" val="21095119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FF6C2F-500B-4355-A9CE-399DC22A2258}"/>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243B"/>
                </a:solidFill>
                <a:latin typeface="DejaVu Sans"/>
                <a:ea typeface="DejaVu Sans"/>
                <a:cs typeface="DejaVu Sans"/>
              </a:defRPr>
            </a:defPPr>
            <a:lvl1pPr algn="l">
              <a:buNone/>
              <a:defRPr sz="3225" b="1">
                <a:solidFill>
                  <a:srgbClr val="17243B"/>
                </a:solidFill>
                <a:latin typeface="DejaVu Sans"/>
                <a:ea typeface="DejaVu Sans"/>
                <a:cs typeface="DejaVu Sans"/>
              </a:defRPr>
            </a:lvl1pPr>
            <a:lvl2pPr algn="l">
              <a:buNone/>
              <a:defRPr sz="3225" b="1">
                <a:solidFill>
                  <a:srgbClr val="17243B"/>
                </a:solidFill>
                <a:latin typeface="DejaVu Sans"/>
                <a:ea typeface="DejaVu Sans"/>
                <a:cs typeface="DejaVu Sans"/>
              </a:defRPr>
            </a:lvl2pPr>
            <a:lvl3pPr algn="l">
              <a:buNone/>
              <a:defRPr sz="3225" b="1">
                <a:solidFill>
                  <a:srgbClr val="17243B"/>
                </a:solidFill>
                <a:latin typeface="DejaVu Sans"/>
                <a:ea typeface="DejaVu Sans"/>
                <a:cs typeface="DejaVu Sans"/>
              </a:defRPr>
            </a:lvl3pPr>
            <a:lvl4pPr algn="l">
              <a:buNone/>
              <a:defRPr sz="3225" b="1">
                <a:solidFill>
                  <a:srgbClr val="17243B"/>
                </a:solidFill>
                <a:latin typeface="DejaVu Sans"/>
                <a:ea typeface="DejaVu Sans"/>
                <a:cs typeface="DejaVu Sans"/>
              </a:defRPr>
            </a:lvl4pPr>
            <a:lvl5pPr algn="l">
              <a:buNone/>
              <a:defRPr sz="3225" b="1">
                <a:solidFill>
                  <a:srgbClr val="17243B"/>
                </a:solidFill>
                <a:latin typeface="DejaVu Sans"/>
                <a:ea typeface="DejaVu Sans"/>
                <a:cs typeface="DejaVu Sans"/>
              </a:defRPr>
            </a:lvl5pPr>
            <a:lvl6pPr algn="l">
              <a:buNone/>
              <a:defRPr sz="3225" b="1">
                <a:solidFill>
                  <a:srgbClr val="17243B"/>
                </a:solidFill>
                <a:latin typeface="DejaVu Sans"/>
                <a:ea typeface="DejaVu Sans"/>
                <a:cs typeface="DejaVu Sans"/>
              </a:defRPr>
            </a:lvl6pPr>
            <a:lvl7pPr algn="l">
              <a:buNone/>
              <a:defRPr sz="3225" b="1">
                <a:solidFill>
                  <a:srgbClr val="17243B"/>
                </a:solidFill>
                <a:latin typeface="DejaVu Sans"/>
                <a:ea typeface="DejaVu Sans"/>
                <a:cs typeface="DejaVu Sans"/>
              </a:defRPr>
            </a:lvl7pPr>
            <a:lvl8pPr algn="l">
              <a:buNone/>
              <a:defRPr sz="3225" b="1">
                <a:solidFill>
                  <a:srgbClr val="17243B"/>
                </a:solidFill>
                <a:latin typeface="DejaVu Sans"/>
                <a:ea typeface="DejaVu Sans"/>
                <a:cs typeface="DejaVu Sans"/>
              </a:defRPr>
            </a:lvl8pPr>
            <a:lvl9pPr algn="l">
              <a:buNone/>
              <a:defRPr sz="3225" b="1">
                <a:solidFill>
                  <a:srgbClr val="17243B"/>
                </a:solidFill>
                <a:latin typeface="DejaVu Sans"/>
                <a:ea typeface="DejaVu Sans"/>
                <a:cs typeface="DejaVu Sans"/>
              </a:defRPr>
            </a:lvl9pPr>
          </a:lstStyle>
          <a:p xmlns:a="http://schemas.openxmlformats.org/drawingml/2006/main">
            <a:pPr algn="l">
              <a:buNone/>
              <a:defRPr sz="3225" b="1">
                <a:solidFill>
                  <a:srgbClr val="17243B"/>
                </a:solidFill>
                <a:latin typeface="DejaVu Sans"/>
                <a:ea typeface="DejaVu Sans"/>
                <a:cs typeface="DejaVu Sans"/>
              </a:defRPr>
            </a:pPr>
            <a:r>
              <a:rPr sz="3225" b="1">
                <a:solidFill>
                  <a:srgbClr val="17243B"/>
                </a:solidFill>
                <a:latin typeface="DejaVu Sans"/>
                <a:ea typeface="DejaVu Sans"/>
                <a:cs typeface="DejaVu Sans"/>
              </a:rPr>
              <a:t>Baskets with promotions have higher values</a:t>
            </a:r>
          </a:p>
        </p:txBody>
      </p:sp>
      <p:sp>
        <p:nvSpPr>
          <p:cNvPr id="2" name="">
            <a:extLst xmlns:a="http://schemas.openxmlformats.org/drawingml/2006/main">
              <a:ext uri="{FF2B5EF4-FFF2-40B4-BE49-F238E27FC236}">
                <a16:creationId xmlns:a16="http://schemas.microsoft.com/office/drawing/2014/main" id="{C4DFA7E7-25F3-4F86-B057-1DCB32A65A9D}"/>
              </a:ext>
            </a:extLst>
          </p:cNvPr>
          <p:cNvSpPr>
            <a:spLocks xmlns:a="http://schemas.openxmlformats.org/drawingml/2006/main" noGrp="1"/>
          </p:cNvSpPr>
          <p:nvPr/>
        </p:nvSpPr>
        <p:spPr>
          <a:xfrm xmlns:a="http://schemas.openxmlformats.org/drawingml/2006/main">
            <a:off x="609600" y="6429375"/>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050" b="0">
                <a:solidFill>
                  <a:srgbClr val="64748B"/>
                </a:solidFill>
                <a:latin typeface="DejaVu Sans"/>
                <a:ea typeface="DejaVu Sans"/>
                <a:cs typeface="DejaVu Sans"/>
              </a:defRPr>
            </a:defPPr>
            <a:lvl1pPr>
              <a:buNone/>
              <a:defRPr sz="1050" b="0">
                <a:solidFill>
                  <a:srgbClr val="64748B"/>
                </a:solidFill>
                <a:latin typeface="DejaVu Sans"/>
                <a:ea typeface="DejaVu Sans"/>
                <a:cs typeface="DejaVu Sans"/>
              </a:defRPr>
            </a:lvl1pPr>
            <a:lvl2pPr>
              <a:buNone/>
              <a:defRPr sz="1050" b="0">
                <a:solidFill>
                  <a:srgbClr val="64748B"/>
                </a:solidFill>
                <a:latin typeface="DejaVu Sans"/>
                <a:ea typeface="DejaVu Sans"/>
                <a:cs typeface="DejaVu Sans"/>
              </a:defRPr>
            </a:lvl2pPr>
            <a:lvl3pPr>
              <a:buNone/>
              <a:defRPr sz="1050" b="0">
                <a:solidFill>
                  <a:srgbClr val="64748B"/>
                </a:solidFill>
                <a:latin typeface="DejaVu Sans"/>
                <a:ea typeface="DejaVu Sans"/>
                <a:cs typeface="DejaVu Sans"/>
              </a:defRPr>
            </a:lvl3pPr>
            <a:lvl4pPr>
              <a:buNone/>
              <a:defRPr sz="1050" b="0">
                <a:solidFill>
                  <a:srgbClr val="64748B"/>
                </a:solidFill>
                <a:latin typeface="DejaVu Sans"/>
                <a:ea typeface="DejaVu Sans"/>
                <a:cs typeface="DejaVu Sans"/>
              </a:defRPr>
            </a:lvl4pPr>
            <a:lvl5pPr>
              <a:buNone/>
              <a:defRPr sz="1050" b="0">
                <a:solidFill>
                  <a:srgbClr val="64748B"/>
                </a:solidFill>
                <a:latin typeface="DejaVu Sans"/>
                <a:ea typeface="DejaVu Sans"/>
                <a:cs typeface="DejaVu Sans"/>
              </a:defRPr>
            </a:lvl5pPr>
            <a:lvl6pPr>
              <a:buNone/>
              <a:defRPr sz="1050" b="0">
                <a:solidFill>
                  <a:srgbClr val="64748B"/>
                </a:solidFill>
                <a:latin typeface="DejaVu Sans"/>
                <a:ea typeface="DejaVu Sans"/>
                <a:cs typeface="DejaVu Sans"/>
              </a:defRPr>
            </a:lvl6pPr>
            <a:lvl7pPr>
              <a:buNone/>
              <a:defRPr sz="1050" b="0">
                <a:solidFill>
                  <a:srgbClr val="64748B"/>
                </a:solidFill>
                <a:latin typeface="DejaVu Sans"/>
                <a:ea typeface="DejaVu Sans"/>
                <a:cs typeface="DejaVu Sans"/>
              </a:defRPr>
            </a:lvl7pPr>
            <a:lvl8pPr>
              <a:buNone/>
              <a:defRPr sz="1050" b="0">
                <a:solidFill>
                  <a:srgbClr val="64748B"/>
                </a:solidFill>
                <a:latin typeface="DejaVu Sans"/>
                <a:ea typeface="DejaVu Sans"/>
                <a:cs typeface="DejaVu Sans"/>
              </a:defRPr>
            </a:lvl8pPr>
            <a:lvl9pPr>
              <a:buNone/>
              <a:defRPr sz="1050" b="0">
                <a:solidFill>
                  <a:srgbClr val="64748B"/>
                </a:solidFill>
                <a:latin typeface="DejaVu Sans"/>
                <a:ea typeface="DejaVu Sans"/>
                <a:cs typeface="DejaVu Sans"/>
              </a:defRPr>
            </a:lvl9pPr>
          </a:lstStyle>
          <a:p xmlns:a="http://schemas.openxmlformats.org/drawingml/2006/main">
            <a:pPr>
              <a:buNone/>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FMCG Consumer Growth &amp; Promotion Insights</a:t>
            </a:r>
          </a:p>
        </p:txBody>
      </p:sp>
      <p:sp>
        <p:nvSpPr>
          <p:cNvPr id="3" name="">
            <a:extLst xmlns:a="http://schemas.openxmlformats.org/drawingml/2006/main">
              <a:ext uri="{FF2B5EF4-FFF2-40B4-BE49-F238E27FC236}">
                <a16:creationId xmlns:a16="http://schemas.microsoft.com/office/drawing/2014/main" id="{125142F2-9BB6-4ECB-92E6-8DECCA61C832}"/>
              </a:ext>
            </a:extLst>
          </p:cNvPr>
          <p:cNvSpPr>
            <a:spLocks xmlns:a="http://schemas.openxmlformats.org/drawingml/2006/main" noGrp="1"/>
          </p:cNvSpPr>
          <p:nvPr/>
        </p:nvSpPr>
        <p:spPr>
          <a:xfrm xmlns:a="http://schemas.openxmlformats.org/drawingml/2006/main">
            <a:off x="11049000" y="64198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DejaVu Sans"/>
                <a:ea typeface="DejaVu Sans"/>
                <a:cs typeface="DejaVu Sans"/>
              </a:defRPr>
            </a:defPPr>
            <a:lvl1pPr algn="l">
              <a:buNone/>
              <a:defRPr sz="1200" b="0">
                <a:solidFill>
                  <a:srgbClr val="64748B"/>
                </a:solidFill>
                <a:latin typeface="DejaVu Sans"/>
                <a:ea typeface="DejaVu Sans"/>
                <a:cs typeface="DejaVu Sans"/>
              </a:defRPr>
            </a:lvl1pPr>
            <a:lvl2pPr algn="l">
              <a:buNone/>
              <a:defRPr sz="1200" b="0">
                <a:solidFill>
                  <a:srgbClr val="64748B"/>
                </a:solidFill>
                <a:latin typeface="DejaVu Sans"/>
                <a:ea typeface="DejaVu Sans"/>
                <a:cs typeface="DejaVu Sans"/>
              </a:defRPr>
            </a:lvl2pPr>
            <a:lvl3pPr algn="l">
              <a:buNone/>
              <a:defRPr sz="1200" b="0">
                <a:solidFill>
                  <a:srgbClr val="64748B"/>
                </a:solidFill>
                <a:latin typeface="DejaVu Sans"/>
                <a:ea typeface="DejaVu Sans"/>
                <a:cs typeface="DejaVu Sans"/>
              </a:defRPr>
            </a:lvl3pPr>
            <a:lvl4pPr algn="l">
              <a:buNone/>
              <a:defRPr sz="1200" b="0">
                <a:solidFill>
                  <a:srgbClr val="64748B"/>
                </a:solidFill>
                <a:latin typeface="DejaVu Sans"/>
                <a:ea typeface="DejaVu Sans"/>
                <a:cs typeface="DejaVu Sans"/>
              </a:defRPr>
            </a:lvl4pPr>
            <a:lvl5pPr algn="l">
              <a:buNone/>
              <a:defRPr sz="1200" b="0">
                <a:solidFill>
                  <a:srgbClr val="64748B"/>
                </a:solidFill>
                <a:latin typeface="DejaVu Sans"/>
                <a:ea typeface="DejaVu Sans"/>
                <a:cs typeface="DejaVu Sans"/>
              </a:defRPr>
            </a:lvl5pPr>
            <a:lvl6pPr algn="l">
              <a:buNone/>
              <a:defRPr sz="1200" b="0">
                <a:solidFill>
                  <a:srgbClr val="64748B"/>
                </a:solidFill>
                <a:latin typeface="DejaVu Sans"/>
                <a:ea typeface="DejaVu Sans"/>
                <a:cs typeface="DejaVu Sans"/>
              </a:defRPr>
            </a:lvl6pPr>
            <a:lvl7pPr algn="l">
              <a:buNone/>
              <a:defRPr sz="1200" b="0">
                <a:solidFill>
                  <a:srgbClr val="64748B"/>
                </a:solidFill>
                <a:latin typeface="DejaVu Sans"/>
                <a:ea typeface="DejaVu Sans"/>
                <a:cs typeface="DejaVu Sans"/>
              </a:defRPr>
            </a:lvl7pPr>
            <a:lvl8pPr algn="l">
              <a:buNone/>
              <a:defRPr sz="1200" b="0">
                <a:solidFill>
                  <a:srgbClr val="64748B"/>
                </a:solidFill>
                <a:latin typeface="DejaVu Sans"/>
                <a:ea typeface="DejaVu Sans"/>
                <a:cs typeface="DejaVu Sans"/>
              </a:defRPr>
            </a:lvl8pPr>
            <a:lvl9pPr algn="l">
              <a:buNone/>
              <a:defRPr sz="1200" b="0">
                <a:solidFill>
                  <a:srgbClr val="64748B"/>
                </a:solidFill>
                <a:latin typeface="DejaVu Sans"/>
                <a:ea typeface="DejaVu Sans"/>
                <a:cs typeface="DejaVu Sans"/>
              </a:defRPr>
            </a:lvl9pPr>
          </a:lstStyle>
          <a:p xmlns:a="http://schemas.openxmlformats.org/drawingml/2006/main">
            <a:pPr algn="l">
              <a:buNone/>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09</a:t>
            </a:r>
          </a:p>
        </p:txBody>
      </p:sp>
      <p:graphicFrame>
        <p:nvGraphicFramePr>
          <p:cNvPr id="4" name="Chart">
            <a:extLst xmlns:a="http://schemas.openxmlformats.org/drawingml/2006/main">
              <a:ext uri="{FF2B5EF4-FFF2-40B4-BE49-F238E27FC236}">
                <a16:creationId xmlns:a16="http://schemas.microsoft.com/office/drawing/2014/main" id="{88C09F16-356D-42E7-A8B5-21BBB5C76D63}"/>
              </a:ext>
            </a:extLst>
          </p:cNvPr>
          <p:cNvGraphicFramePr/>
          <p:nvPr/>
        </p:nvGraphicFramePr>
        <p:xfrm>
          <a:off xmlns:a="http://schemas.openxmlformats.org/drawingml/2006/main" x="666750" y="1800225"/>
          <a:ext xmlns:a="http://schemas.openxmlformats.org/drawingml/2006/main" cx="10668000" cy="3676650"/>
        </p:xfrm>
        <a:graphic xmlns:a="http://schemas.openxmlformats.org/drawingml/2006/main">
          <a:graphicData uri="http://schemas.openxmlformats.org/drawingml/2006/chart">
            <c:chart xmlns:r="http://schemas.openxmlformats.org/officeDocument/2006/relationships" xmlns:c="http://schemas.openxmlformats.org/drawingml/2006/chart" r:id="Ra9e317bd71004fbd"/>
          </a:graphicData>
        </a:graphic>
      </p:graphicFrame>
      <p:sp>
        <p:nvSpPr>
          <p:cNvPr id="5" name="">
            <a:extLst xmlns:a="http://schemas.openxmlformats.org/drawingml/2006/main">
              <a:ext uri="{FF2B5EF4-FFF2-40B4-BE49-F238E27FC236}">
                <a16:creationId xmlns:a16="http://schemas.microsoft.com/office/drawing/2014/main" id="{795A22D3-0121-4144-8805-06F3B5E46C8B}"/>
              </a:ext>
            </a:extLst>
          </p:cNvPr>
          <p:cNvSpPr>
            <a:spLocks xmlns:a="http://schemas.openxmlformats.org/drawingml/2006/main" noGrp="1"/>
          </p:cNvSpPr>
          <p:nvPr/>
        </p:nvSpPr>
        <p:spPr>
          <a:xfrm xmlns:a="http://schemas.openxmlformats.org/drawingml/2006/main">
            <a:off x="666750" y="5657850"/>
            <a:ext cx="1085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243B"/>
                </a:solidFill>
                <a:latin typeface="DejaVu Sans"/>
                <a:ea typeface="DejaVu Sans"/>
                <a:cs typeface="DejaVu Sans"/>
              </a:defRPr>
            </a:defPPr>
            <a:lvl1pPr algn="l">
              <a:buNone/>
              <a:defRPr sz="1650" b="0">
                <a:solidFill>
                  <a:srgbClr val="17243B"/>
                </a:solidFill>
                <a:latin typeface="DejaVu Sans"/>
                <a:ea typeface="DejaVu Sans"/>
                <a:cs typeface="DejaVu Sans"/>
              </a:defRPr>
            </a:lvl1pPr>
            <a:lvl2pPr algn="l">
              <a:buNone/>
              <a:defRPr sz="1650" b="0">
                <a:solidFill>
                  <a:srgbClr val="17243B"/>
                </a:solidFill>
                <a:latin typeface="DejaVu Sans"/>
                <a:ea typeface="DejaVu Sans"/>
                <a:cs typeface="DejaVu Sans"/>
              </a:defRPr>
            </a:lvl2pPr>
            <a:lvl3pPr algn="l">
              <a:buNone/>
              <a:defRPr sz="1650" b="0">
                <a:solidFill>
                  <a:srgbClr val="17243B"/>
                </a:solidFill>
                <a:latin typeface="DejaVu Sans"/>
                <a:ea typeface="DejaVu Sans"/>
                <a:cs typeface="DejaVu Sans"/>
              </a:defRPr>
            </a:lvl3pPr>
            <a:lvl4pPr algn="l">
              <a:buNone/>
              <a:defRPr sz="1650" b="0">
                <a:solidFill>
                  <a:srgbClr val="17243B"/>
                </a:solidFill>
                <a:latin typeface="DejaVu Sans"/>
                <a:ea typeface="DejaVu Sans"/>
                <a:cs typeface="DejaVu Sans"/>
              </a:defRPr>
            </a:lvl4pPr>
            <a:lvl5pPr algn="l">
              <a:buNone/>
              <a:defRPr sz="1650" b="0">
                <a:solidFill>
                  <a:srgbClr val="17243B"/>
                </a:solidFill>
                <a:latin typeface="DejaVu Sans"/>
                <a:ea typeface="DejaVu Sans"/>
                <a:cs typeface="DejaVu Sans"/>
              </a:defRPr>
            </a:lvl5pPr>
            <a:lvl6pPr algn="l">
              <a:buNone/>
              <a:defRPr sz="1650" b="0">
                <a:solidFill>
                  <a:srgbClr val="17243B"/>
                </a:solidFill>
                <a:latin typeface="DejaVu Sans"/>
                <a:ea typeface="DejaVu Sans"/>
                <a:cs typeface="DejaVu Sans"/>
              </a:defRPr>
            </a:lvl6pPr>
            <a:lvl7pPr algn="l">
              <a:buNone/>
              <a:defRPr sz="1650" b="0">
                <a:solidFill>
                  <a:srgbClr val="17243B"/>
                </a:solidFill>
                <a:latin typeface="DejaVu Sans"/>
                <a:ea typeface="DejaVu Sans"/>
                <a:cs typeface="DejaVu Sans"/>
              </a:defRPr>
            </a:lvl7pPr>
            <a:lvl8pPr algn="l">
              <a:buNone/>
              <a:defRPr sz="1650" b="0">
                <a:solidFill>
                  <a:srgbClr val="17243B"/>
                </a:solidFill>
                <a:latin typeface="DejaVu Sans"/>
                <a:ea typeface="DejaVu Sans"/>
                <a:cs typeface="DejaVu Sans"/>
              </a:defRPr>
            </a:lvl8pPr>
            <a:lvl9pPr algn="l">
              <a:buNone/>
              <a:defRPr sz="1650" b="0">
                <a:solidFill>
                  <a:srgbClr val="17243B"/>
                </a:solidFill>
                <a:latin typeface="DejaVu Sans"/>
                <a:ea typeface="DejaVu Sans"/>
                <a:cs typeface="DejaVu Sans"/>
              </a:defRPr>
            </a:lvl9pPr>
          </a:lstStyle>
          <a:p xmlns:a="http://schemas.openxmlformats.org/drawingml/2006/main">
            <a:pPr algn="l">
              <a:buNone/>
              <a:defRPr sz="1650" b="0">
                <a:solidFill>
                  <a:srgbClr val="17243B"/>
                </a:solidFill>
                <a:latin typeface="DejaVu Sans"/>
                <a:ea typeface="DejaVu Sans"/>
                <a:cs typeface="DejaVu Sans"/>
              </a:defRPr>
            </a:pPr>
            <a:r>
              <a:rPr sz="1650" b="0">
                <a:solidFill>
                  <a:srgbClr val="17243B"/>
                </a:solidFill>
                <a:latin typeface="DejaVu Sans"/>
                <a:ea typeface="DejaVu Sans"/>
                <a:cs typeface="DejaVu Sans"/>
              </a:rPr>
              <a:t>Average basket values are higher when a promotion is present. A comparison group</a:t>
            </a:r>
          </a:p>
          <a:p xmlns:a="http://schemas.openxmlformats.org/drawingml/2006/main">
            <a:pPr algn="l">
              <a:buNone/>
              <a:defRPr sz="1650" b="0">
                <a:solidFill>
                  <a:srgbClr val="17243B"/>
                </a:solidFill>
                <a:latin typeface="DejaVu Sans"/>
                <a:ea typeface="DejaVu Sans"/>
                <a:cs typeface="DejaVu Sans"/>
              </a:defRPr>
            </a:pPr>
            <a:r>
              <a:rPr sz="1650" b="0">
                <a:solidFill>
                  <a:srgbClr val="17243B"/>
                </a:solidFill>
                <a:latin typeface="DejaVu Sans"/>
                <a:ea typeface="DejaVu Sans"/>
                <a:cs typeface="DejaVu Sans"/>
              </a:rPr>
              <a:t>is needed to measure how much extra spending the offer creates.</a:t>
            </a:r>
          </a:p>
        </p:txBody>
      </p:sp>
    </p:spTree>
    <p:extLst>
      <p:ext uri="{BB962C8B-B14F-4D97-AF65-F5344CB8AC3E}">
        <p14:creationId xmlns:p14="http://schemas.microsoft.com/office/powerpoint/2010/main" val="7863823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ECFADA-8B67-4880-B236-E9F71A0EFDD9}"/>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243B"/>
                </a:solidFill>
                <a:latin typeface="DejaVu Sans"/>
                <a:ea typeface="DejaVu Sans"/>
                <a:cs typeface="DejaVu Sans"/>
              </a:defRPr>
            </a:defPPr>
            <a:lvl1pPr algn="l">
              <a:buNone/>
              <a:defRPr sz="3225" b="1">
                <a:solidFill>
                  <a:srgbClr val="17243B"/>
                </a:solidFill>
                <a:latin typeface="DejaVu Sans"/>
                <a:ea typeface="DejaVu Sans"/>
                <a:cs typeface="DejaVu Sans"/>
              </a:defRPr>
            </a:lvl1pPr>
            <a:lvl2pPr algn="l">
              <a:buNone/>
              <a:defRPr sz="3225" b="1">
                <a:solidFill>
                  <a:srgbClr val="17243B"/>
                </a:solidFill>
                <a:latin typeface="DejaVu Sans"/>
                <a:ea typeface="DejaVu Sans"/>
                <a:cs typeface="DejaVu Sans"/>
              </a:defRPr>
            </a:lvl2pPr>
            <a:lvl3pPr algn="l">
              <a:buNone/>
              <a:defRPr sz="3225" b="1">
                <a:solidFill>
                  <a:srgbClr val="17243B"/>
                </a:solidFill>
                <a:latin typeface="DejaVu Sans"/>
                <a:ea typeface="DejaVu Sans"/>
                <a:cs typeface="DejaVu Sans"/>
              </a:defRPr>
            </a:lvl3pPr>
            <a:lvl4pPr algn="l">
              <a:buNone/>
              <a:defRPr sz="3225" b="1">
                <a:solidFill>
                  <a:srgbClr val="17243B"/>
                </a:solidFill>
                <a:latin typeface="DejaVu Sans"/>
                <a:ea typeface="DejaVu Sans"/>
                <a:cs typeface="DejaVu Sans"/>
              </a:defRPr>
            </a:lvl4pPr>
            <a:lvl5pPr algn="l">
              <a:buNone/>
              <a:defRPr sz="3225" b="1">
                <a:solidFill>
                  <a:srgbClr val="17243B"/>
                </a:solidFill>
                <a:latin typeface="DejaVu Sans"/>
                <a:ea typeface="DejaVu Sans"/>
                <a:cs typeface="DejaVu Sans"/>
              </a:defRPr>
            </a:lvl5pPr>
            <a:lvl6pPr algn="l">
              <a:buNone/>
              <a:defRPr sz="3225" b="1">
                <a:solidFill>
                  <a:srgbClr val="17243B"/>
                </a:solidFill>
                <a:latin typeface="DejaVu Sans"/>
                <a:ea typeface="DejaVu Sans"/>
                <a:cs typeface="DejaVu Sans"/>
              </a:defRPr>
            </a:lvl6pPr>
            <a:lvl7pPr algn="l">
              <a:buNone/>
              <a:defRPr sz="3225" b="1">
                <a:solidFill>
                  <a:srgbClr val="17243B"/>
                </a:solidFill>
                <a:latin typeface="DejaVu Sans"/>
                <a:ea typeface="DejaVu Sans"/>
                <a:cs typeface="DejaVu Sans"/>
              </a:defRPr>
            </a:lvl7pPr>
            <a:lvl8pPr algn="l">
              <a:buNone/>
              <a:defRPr sz="3225" b="1">
                <a:solidFill>
                  <a:srgbClr val="17243B"/>
                </a:solidFill>
                <a:latin typeface="DejaVu Sans"/>
                <a:ea typeface="DejaVu Sans"/>
                <a:cs typeface="DejaVu Sans"/>
              </a:defRPr>
            </a:lvl8pPr>
            <a:lvl9pPr algn="l">
              <a:buNone/>
              <a:defRPr sz="3225" b="1">
                <a:solidFill>
                  <a:srgbClr val="17243B"/>
                </a:solidFill>
                <a:latin typeface="DejaVu Sans"/>
                <a:ea typeface="DejaVu Sans"/>
                <a:cs typeface="DejaVu Sans"/>
              </a:defRPr>
            </a:lvl9pPr>
          </a:lstStyle>
          <a:p xmlns:a="http://schemas.openxmlformats.org/drawingml/2006/main">
            <a:pPr algn="l">
              <a:buNone/>
              <a:defRPr sz="3225" b="1">
                <a:solidFill>
                  <a:srgbClr val="17243B"/>
                </a:solidFill>
                <a:latin typeface="DejaVu Sans"/>
                <a:ea typeface="DejaVu Sans"/>
                <a:cs typeface="DejaVu Sans"/>
              </a:defRPr>
            </a:pPr>
            <a:r>
              <a:rPr sz="3225" b="1">
                <a:solidFill>
                  <a:srgbClr val="17243B"/>
                </a:solidFill>
                <a:latin typeface="DejaVu Sans"/>
                <a:ea typeface="DejaVu Sans"/>
                <a:cs typeface="DejaVu Sans"/>
              </a:rPr>
              <a:t>Promotion shares vary widely between categories</a:t>
            </a:r>
          </a:p>
        </p:txBody>
      </p:sp>
      <p:sp>
        <p:nvSpPr>
          <p:cNvPr id="2" name="">
            <a:extLst xmlns:a="http://schemas.openxmlformats.org/drawingml/2006/main">
              <a:ext uri="{FF2B5EF4-FFF2-40B4-BE49-F238E27FC236}">
                <a16:creationId xmlns:a16="http://schemas.microsoft.com/office/drawing/2014/main" id="{50E5AE14-2371-4567-8784-453646B2A5F1}"/>
              </a:ext>
            </a:extLst>
          </p:cNvPr>
          <p:cNvSpPr>
            <a:spLocks xmlns:a="http://schemas.openxmlformats.org/drawingml/2006/main" noGrp="1"/>
          </p:cNvSpPr>
          <p:nvPr/>
        </p:nvSpPr>
        <p:spPr>
          <a:xfrm xmlns:a="http://schemas.openxmlformats.org/drawingml/2006/main">
            <a:off x="609600" y="6429375"/>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050" b="0">
                <a:solidFill>
                  <a:srgbClr val="64748B"/>
                </a:solidFill>
                <a:latin typeface="DejaVu Sans"/>
                <a:ea typeface="DejaVu Sans"/>
                <a:cs typeface="DejaVu Sans"/>
              </a:defRPr>
            </a:defPPr>
            <a:lvl1pPr>
              <a:buNone/>
              <a:defRPr sz="1050" b="0">
                <a:solidFill>
                  <a:srgbClr val="64748B"/>
                </a:solidFill>
                <a:latin typeface="DejaVu Sans"/>
                <a:ea typeface="DejaVu Sans"/>
                <a:cs typeface="DejaVu Sans"/>
              </a:defRPr>
            </a:lvl1pPr>
            <a:lvl2pPr>
              <a:buNone/>
              <a:defRPr sz="1050" b="0">
                <a:solidFill>
                  <a:srgbClr val="64748B"/>
                </a:solidFill>
                <a:latin typeface="DejaVu Sans"/>
                <a:ea typeface="DejaVu Sans"/>
                <a:cs typeface="DejaVu Sans"/>
              </a:defRPr>
            </a:lvl2pPr>
            <a:lvl3pPr>
              <a:buNone/>
              <a:defRPr sz="1050" b="0">
                <a:solidFill>
                  <a:srgbClr val="64748B"/>
                </a:solidFill>
                <a:latin typeface="DejaVu Sans"/>
                <a:ea typeface="DejaVu Sans"/>
                <a:cs typeface="DejaVu Sans"/>
              </a:defRPr>
            </a:lvl3pPr>
            <a:lvl4pPr>
              <a:buNone/>
              <a:defRPr sz="1050" b="0">
                <a:solidFill>
                  <a:srgbClr val="64748B"/>
                </a:solidFill>
                <a:latin typeface="DejaVu Sans"/>
                <a:ea typeface="DejaVu Sans"/>
                <a:cs typeface="DejaVu Sans"/>
              </a:defRPr>
            </a:lvl4pPr>
            <a:lvl5pPr>
              <a:buNone/>
              <a:defRPr sz="1050" b="0">
                <a:solidFill>
                  <a:srgbClr val="64748B"/>
                </a:solidFill>
                <a:latin typeface="DejaVu Sans"/>
                <a:ea typeface="DejaVu Sans"/>
                <a:cs typeface="DejaVu Sans"/>
              </a:defRPr>
            </a:lvl5pPr>
            <a:lvl6pPr>
              <a:buNone/>
              <a:defRPr sz="1050" b="0">
                <a:solidFill>
                  <a:srgbClr val="64748B"/>
                </a:solidFill>
                <a:latin typeface="DejaVu Sans"/>
                <a:ea typeface="DejaVu Sans"/>
                <a:cs typeface="DejaVu Sans"/>
              </a:defRPr>
            </a:lvl6pPr>
            <a:lvl7pPr>
              <a:buNone/>
              <a:defRPr sz="1050" b="0">
                <a:solidFill>
                  <a:srgbClr val="64748B"/>
                </a:solidFill>
                <a:latin typeface="DejaVu Sans"/>
                <a:ea typeface="DejaVu Sans"/>
                <a:cs typeface="DejaVu Sans"/>
              </a:defRPr>
            </a:lvl7pPr>
            <a:lvl8pPr>
              <a:buNone/>
              <a:defRPr sz="1050" b="0">
                <a:solidFill>
                  <a:srgbClr val="64748B"/>
                </a:solidFill>
                <a:latin typeface="DejaVu Sans"/>
                <a:ea typeface="DejaVu Sans"/>
                <a:cs typeface="DejaVu Sans"/>
              </a:defRPr>
            </a:lvl8pPr>
            <a:lvl9pPr>
              <a:buNone/>
              <a:defRPr sz="1050" b="0">
                <a:solidFill>
                  <a:srgbClr val="64748B"/>
                </a:solidFill>
                <a:latin typeface="DejaVu Sans"/>
                <a:ea typeface="DejaVu Sans"/>
                <a:cs typeface="DejaVu Sans"/>
              </a:defRPr>
            </a:lvl9pPr>
          </a:lstStyle>
          <a:p xmlns:a="http://schemas.openxmlformats.org/drawingml/2006/main">
            <a:pPr>
              <a:buNone/>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FMCG Consumer Growth &amp; Promotion Insights</a:t>
            </a:r>
          </a:p>
        </p:txBody>
      </p:sp>
      <p:sp>
        <p:nvSpPr>
          <p:cNvPr id="3" name="">
            <a:extLst xmlns:a="http://schemas.openxmlformats.org/drawingml/2006/main">
              <a:ext uri="{FF2B5EF4-FFF2-40B4-BE49-F238E27FC236}">
                <a16:creationId xmlns:a16="http://schemas.microsoft.com/office/drawing/2014/main" id="{37131E6D-B065-4D0A-9515-2272E7328A30}"/>
              </a:ext>
            </a:extLst>
          </p:cNvPr>
          <p:cNvSpPr>
            <a:spLocks xmlns:a="http://schemas.openxmlformats.org/drawingml/2006/main" noGrp="1"/>
          </p:cNvSpPr>
          <p:nvPr/>
        </p:nvSpPr>
        <p:spPr>
          <a:xfrm xmlns:a="http://schemas.openxmlformats.org/drawingml/2006/main">
            <a:off x="11049000" y="64198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DejaVu Sans"/>
                <a:ea typeface="DejaVu Sans"/>
                <a:cs typeface="DejaVu Sans"/>
              </a:defRPr>
            </a:defPPr>
            <a:lvl1pPr algn="l">
              <a:buNone/>
              <a:defRPr sz="1200" b="0">
                <a:solidFill>
                  <a:srgbClr val="64748B"/>
                </a:solidFill>
                <a:latin typeface="DejaVu Sans"/>
                <a:ea typeface="DejaVu Sans"/>
                <a:cs typeface="DejaVu Sans"/>
              </a:defRPr>
            </a:lvl1pPr>
            <a:lvl2pPr algn="l">
              <a:buNone/>
              <a:defRPr sz="1200" b="0">
                <a:solidFill>
                  <a:srgbClr val="64748B"/>
                </a:solidFill>
                <a:latin typeface="DejaVu Sans"/>
                <a:ea typeface="DejaVu Sans"/>
                <a:cs typeface="DejaVu Sans"/>
              </a:defRPr>
            </a:lvl2pPr>
            <a:lvl3pPr algn="l">
              <a:buNone/>
              <a:defRPr sz="1200" b="0">
                <a:solidFill>
                  <a:srgbClr val="64748B"/>
                </a:solidFill>
                <a:latin typeface="DejaVu Sans"/>
                <a:ea typeface="DejaVu Sans"/>
                <a:cs typeface="DejaVu Sans"/>
              </a:defRPr>
            </a:lvl3pPr>
            <a:lvl4pPr algn="l">
              <a:buNone/>
              <a:defRPr sz="1200" b="0">
                <a:solidFill>
                  <a:srgbClr val="64748B"/>
                </a:solidFill>
                <a:latin typeface="DejaVu Sans"/>
                <a:ea typeface="DejaVu Sans"/>
                <a:cs typeface="DejaVu Sans"/>
              </a:defRPr>
            </a:lvl4pPr>
            <a:lvl5pPr algn="l">
              <a:buNone/>
              <a:defRPr sz="1200" b="0">
                <a:solidFill>
                  <a:srgbClr val="64748B"/>
                </a:solidFill>
                <a:latin typeface="DejaVu Sans"/>
                <a:ea typeface="DejaVu Sans"/>
                <a:cs typeface="DejaVu Sans"/>
              </a:defRPr>
            </a:lvl5pPr>
            <a:lvl6pPr algn="l">
              <a:buNone/>
              <a:defRPr sz="1200" b="0">
                <a:solidFill>
                  <a:srgbClr val="64748B"/>
                </a:solidFill>
                <a:latin typeface="DejaVu Sans"/>
                <a:ea typeface="DejaVu Sans"/>
                <a:cs typeface="DejaVu Sans"/>
              </a:defRPr>
            </a:lvl6pPr>
            <a:lvl7pPr algn="l">
              <a:buNone/>
              <a:defRPr sz="1200" b="0">
                <a:solidFill>
                  <a:srgbClr val="64748B"/>
                </a:solidFill>
                <a:latin typeface="DejaVu Sans"/>
                <a:ea typeface="DejaVu Sans"/>
                <a:cs typeface="DejaVu Sans"/>
              </a:defRPr>
            </a:lvl7pPr>
            <a:lvl8pPr algn="l">
              <a:buNone/>
              <a:defRPr sz="1200" b="0">
                <a:solidFill>
                  <a:srgbClr val="64748B"/>
                </a:solidFill>
                <a:latin typeface="DejaVu Sans"/>
                <a:ea typeface="DejaVu Sans"/>
                <a:cs typeface="DejaVu Sans"/>
              </a:defRPr>
            </a:lvl8pPr>
            <a:lvl9pPr algn="l">
              <a:buNone/>
              <a:defRPr sz="1200" b="0">
                <a:solidFill>
                  <a:srgbClr val="64748B"/>
                </a:solidFill>
                <a:latin typeface="DejaVu Sans"/>
                <a:ea typeface="DejaVu Sans"/>
                <a:cs typeface="DejaVu Sans"/>
              </a:defRPr>
            </a:lvl9pPr>
          </a:lstStyle>
          <a:p xmlns:a="http://schemas.openxmlformats.org/drawingml/2006/main">
            <a:pPr algn="l">
              <a:buNone/>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10</a:t>
            </a:r>
          </a:p>
        </p:txBody>
      </p:sp>
      <p:sp>
        <p:nvSpPr>
          <p:cNvPr id="5" name="">
            <a:extLst xmlns:a="http://schemas.openxmlformats.org/drawingml/2006/main">
              <a:ext uri="{FF2B5EF4-FFF2-40B4-BE49-F238E27FC236}">
                <a16:creationId xmlns:a16="http://schemas.microsoft.com/office/drawing/2014/main" id="{A6B0FADF-BD38-415E-840D-B78CDFB53FD3}"/>
              </a:ext>
            </a:extLst>
          </p:cNvPr>
          <p:cNvSpPr>
            <a:spLocks xmlns:a="http://schemas.openxmlformats.org/drawingml/2006/main" noGrp="1"/>
          </p:cNvSpPr>
          <p:nvPr/>
        </p:nvSpPr>
        <p:spPr>
          <a:xfrm xmlns:a="http://schemas.openxmlformats.org/drawingml/2006/main">
            <a:off x="647700" y="579120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7243B"/>
                </a:solidFill>
                <a:latin typeface="DejaVu Sans"/>
                <a:ea typeface="DejaVu Sans"/>
                <a:cs typeface="DejaVu Sans"/>
              </a:defRPr>
            </a:defPPr>
            <a:lvl1pPr algn="l">
              <a:buNone/>
              <a:defRPr sz="1725" b="0">
                <a:solidFill>
                  <a:srgbClr val="17243B"/>
                </a:solidFill>
                <a:latin typeface="DejaVu Sans"/>
                <a:ea typeface="DejaVu Sans"/>
                <a:cs typeface="DejaVu Sans"/>
              </a:defRPr>
            </a:lvl1pPr>
            <a:lvl2pPr algn="l">
              <a:buNone/>
              <a:defRPr sz="1725" b="0">
                <a:solidFill>
                  <a:srgbClr val="17243B"/>
                </a:solidFill>
                <a:latin typeface="DejaVu Sans"/>
                <a:ea typeface="DejaVu Sans"/>
                <a:cs typeface="DejaVu Sans"/>
              </a:defRPr>
            </a:lvl2pPr>
            <a:lvl3pPr algn="l">
              <a:buNone/>
              <a:defRPr sz="1725" b="0">
                <a:solidFill>
                  <a:srgbClr val="17243B"/>
                </a:solidFill>
                <a:latin typeface="DejaVu Sans"/>
                <a:ea typeface="DejaVu Sans"/>
                <a:cs typeface="DejaVu Sans"/>
              </a:defRPr>
            </a:lvl3pPr>
            <a:lvl4pPr algn="l">
              <a:buNone/>
              <a:defRPr sz="1725" b="0">
                <a:solidFill>
                  <a:srgbClr val="17243B"/>
                </a:solidFill>
                <a:latin typeface="DejaVu Sans"/>
                <a:ea typeface="DejaVu Sans"/>
                <a:cs typeface="DejaVu Sans"/>
              </a:defRPr>
            </a:lvl4pPr>
            <a:lvl5pPr algn="l">
              <a:buNone/>
              <a:defRPr sz="1725" b="0">
                <a:solidFill>
                  <a:srgbClr val="17243B"/>
                </a:solidFill>
                <a:latin typeface="DejaVu Sans"/>
                <a:ea typeface="DejaVu Sans"/>
                <a:cs typeface="DejaVu Sans"/>
              </a:defRPr>
            </a:lvl5pPr>
            <a:lvl6pPr algn="l">
              <a:buNone/>
              <a:defRPr sz="1725" b="0">
                <a:solidFill>
                  <a:srgbClr val="17243B"/>
                </a:solidFill>
                <a:latin typeface="DejaVu Sans"/>
                <a:ea typeface="DejaVu Sans"/>
                <a:cs typeface="DejaVu Sans"/>
              </a:defRPr>
            </a:lvl6pPr>
            <a:lvl7pPr algn="l">
              <a:buNone/>
              <a:defRPr sz="1725" b="0">
                <a:solidFill>
                  <a:srgbClr val="17243B"/>
                </a:solidFill>
                <a:latin typeface="DejaVu Sans"/>
                <a:ea typeface="DejaVu Sans"/>
                <a:cs typeface="DejaVu Sans"/>
              </a:defRPr>
            </a:lvl7pPr>
            <a:lvl8pPr algn="l">
              <a:buNone/>
              <a:defRPr sz="1725" b="0">
                <a:solidFill>
                  <a:srgbClr val="17243B"/>
                </a:solidFill>
                <a:latin typeface="DejaVu Sans"/>
                <a:ea typeface="DejaVu Sans"/>
                <a:cs typeface="DejaVu Sans"/>
              </a:defRPr>
            </a:lvl8pPr>
            <a:lvl9pPr algn="l">
              <a:buNone/>
              <a:defRPr sz="1725" b="0">
                <a:solidFill>
                  <a:srgbClr val="17243B"/>
                </a:solidFill>
                <a:latin typeface="DejaVu Sans"/>
                <a:ea typeface="DejaVu Sans"/>
                <a:cs typeface="DejaVu Sans"/>
              </a:defRPr>
            </a:lvl9pPr>
          </a:lstStyle>
          <a:p xmlns:a="http://schemas.openxmlformats.org/drawingml/2006/main">
            <a:pPr algn="l">
              <a:buNone/>
              <a:defRPr sz="1725" b="0">
                <a:solidFill>
                  <a:srgbClr val="17243B"/>
                </a:solidFill>
                <a:latin typeface="DejaVu Sans"/>
                <a:ea typeface="DejaVu Sans"/>
                <a:cs typeface="DejaVu Sans"/>
              </a:defRPr>
            </a:pPr>
            <a:r>
              <a:rPr sz="1725" b="0">
                <a:solidFill>
                  <a:srgbClr val="17243B"/>
                </a:solidFill>
                <a:latin typeface="DejaVu Sans"/>
                <a:ea typeface="DejaVu Sans"/>
                <a:cs typeface="DejaVu Sans"/>
              </a:rPr>
              <a:t>Around three quarters of cheese sales involve promotions, compared with under half for milk.</a:t>
            </a:r>
          </a:p>
          <a:p xmlns:a="http://schemas.openxmlformats.org/drawingml/2006/main">
            <a:pPr algn="l">
              <a:buNone/>
              <a:defRPr sz="1725" b="0">
                <a:solidFill>
                  <a:srgbClr val="17243B"/>
                </a:solidFill>
                <a:latin typeface="DejaVu Sans"/>
                <a:ea typeface="DejaVu Sans"/>
                <a:cs typeface="DejaVu Sans"/>
              </a:defRPr>
            </a:pPr>
            <a:r>
              <a:rPr sz="1725" b="0">
                <a:solidFill>
                  <a:srgbClr val="17243B"/>
                </a:solidFill>
                <a:latin typeface="DejaVu Sans"/>
                <a:ea typeface="DejaVu Sans"/>
                <a:cs typeface="DejaVu Sans"/>
              </a:rPr>
              <a:t>Offer tests should consider the category as well as the customer group.</a:t>
            </a:r>
          </a:p>
        </p:txBody>
      </p:sp>
      <p:graphicFrame>
        <p:nvGraphicFramePr>
          <p:cNvPr id="4" name="">
            <a:extLst xmlns:a="http://schemas.openxmlformats.org/drawingml/2006/main">
              <a:ext uri="{FF2B5EF4-FFF2-40B4-BE49-F238E27FC236}">
                <a16:creationId xmlns:a16="http://schemas.microsoft.com/office/drawing/2014/main" id="{CF6DD037-AA4D-4DE3-8BF7-32B8BC0F0C1E}"/>
              </a:ext>
            </a:extLst>
          </p:cNvPr>
          <p:cNvGraphicFramePr/>
          <p:nvPr/>
        </p:nvGraphicFramePr>
        <p:xfrm>
          <a:off xmlns:a="http://schemas.openxmlformats.org/drawingml/2006/main" x="609600" y="1885950"/>
          <a:ext xmlns:a="http://schemas.openxmlformats.org/drawingml/2006/main" cx="10972800" cy="3771900"/>
        </p:xfrm>
        <a:graphic xmlns:a="http://schemas.openxmlformats.org/drawingml/2006/main">
          <a:graphicData uri="http://schemas.openxmlformats.org/drawingml/2006/table">
            <a:tbl>
              <a:tblPr firstRow="1" bandRow="0"/>
              <a:tblGrid>
                <a:gridCol w="3190875"/>
                <a:gridCol w="2590800"/>
                <a:gridCol w="2590800"/>
                <a:gridCol w="2600325"/>
              </a:tblGrid>
              <a:tr h="819150">
                <a:tc>
                  <a:txBody>
                    <a:bodyPr wrap="square" lIns="152400" tIns="114300" rIns="152400" bIns="114300">
                      <a:noAutofit/>
                    </a:bodyPr>
                    <a:lstStyle/>
                    <a:p>
                      <a:r>
                        <a:rPr sz="1725" b="1">
                          <a:solidFill>
                            <a:srgbClr val="FFFFFF"/>
                          </a:solidFill>
                          <a:latin typeface="DejaVu Sans"/>
                          <a:ea typeface="DejaVu Sans"/>
                          <a:cs typeface="DejaVu Sans"/>
                        </a:rPr>
                        <a:t>Promoted sales share</a:t>
                      </a:r>
                    </a:p>
                  </a:txBody>
                  <a:tcPr marL="91440" marR="91440" marT="45720" marB="45720" anchor="ctr">
                    <a:lnL w="9525">
                      <a:solidFill>
                        <a:srgbClr val="E6EDF5"/>
                      </a:solidFill>
                      <a:prstDash val="solid"/>
                    </a:lnL>
                    <a:lnR w="9525">
                      <a:solidFill>
                        <a:srgbClr val="E6EDF5"/>
                      </a:solidFill>
                      <a:prstDash val="solid"/>
                    </a:lnR>
                    <a:lnT w="9525">
                      <a:solidFill>
                        <a:srgbClr val="E6EDF5"/>
                      </a:solidFill>
                      <a:prstDash val="solid"/>
                    </a:lnT>
                    <a:lnB w="9525">
                      <a:solidFill>
                        <a:srgbClr val="E6EDF5"/>
                      </a:solidFill>
                      <a:prstDash val="solid"/>
                    </a:lnB>
                    <a:solidFill>
                      <a:srgbClr val="17243B"/>
                    </a:solidFill>
                  </a:tcPr>
                </a:tc>
                <a:tc>
                  <a:txBody>
                    <a:bodyPr wrap="square" lIns="152400" tIns="114300" rIns="152400" bIns="114300">
                      <a:noAutofit/>
                    </a:bodyPr>
                    <a:lstStyle/>
                    <a:p>
                      <a:r>
                        <a:rPr sz="1725" b="1">
                          <a:solidFill>
                            <a:srgbClr val="FFFFFF"/>
                          </a:solidFill>
                          <a:latin typeface="DejaVu Sans"/>
                          <a:ea typeface="DejaVu Sans"/>
                          <a:cs typeface="DejaVu Sans"/>
                        </a:rPr>
                        <a:t>High-Value</a:t>
                      </a:r>
                    </a:p>
                    <a:p>
                      <a:r>
                        <a:rPr sz="1725" b="1">
                          <a:solidFill>
                            <a:srgbClr val="FFFFFF"/>
                          </a:solidFill>
                          <a:latin typeface="DejaVu Sans"/>
                          <a:ea typeface="DejaVu Sans"/>
                          <a:cs typeface="DejaVu Sans"/>
                        </a:rPr>
                        <a:t>Frequent</a:t>
                      </a:r>
                    </a:p>
                  </a:txBody>
                  <a:tcPr marL="91440" marR="91440" marT="45720" marB="45720" anchor="ctr">
                    <a:lnR w="9525">
                      <a:solidFill>
                        <a:srgbClr val="E6EDF5"/>
                      </a:solidFill>
                      <a:prstDash val="solid"/>
                    </a:lnR>
                    <a:lnT w="9525">
                      <a:solidFill>
                        <a:srgbClr val="E6EDF5"/>
                      </a:solidFill>
                      <a:prstDash val="solid"/>
                    </a:lnT>
                    <a:lnB w="9525">
                      <a:solidFill>
                        <a:srgbClr val="E6EDF5"/>
                      </a:solidFill>
                      <a:prstDash val="solid"/>
                    </a:lnB>
                    <a:solidFill>
                      <a:srgbClr val="17243B"/>
                    </a:solidFill>
                  </a:tcPr>
                </a:tc>
                <a:tc>
                  <a:txBody>
                    <a:bodyPr wrap="square" lIns="152400" tIns="114300" rIns="152400" bIns="114300">
                      <a:noAutofit/>
                    </a:bodyPr>
                    <a:lstStyle/>
                    <a:p>
                      <a:r>
                        <a:rPr sz="1725" b="1">
                          <a:solidFill>
                            <a:srgbClr val="FFFFFF"/>
                          </a:solidFill>
                          <a:latin typeface="DejaVu Sans"/>
                          <a:ea typeface="DejaVu Sans"/>
                          <a:cs typeface="DejaVu Sans"/>
                        </a:rPr>
                        <a:t>Large-Basket</a:t>
                      </a:r>
                    </a:p>
                    <a:p>
                      <a:r>
                        <a:rPr sz="1725" b="1">
                          <a:solidFill>
                            <a:srgbClr val="FFFFFF"/>
                          </a:solidFill>
                          <a:latin typeface="DejaVu Sans"/>
                          <a:ea typeface="DejaVu Sans"/>
                          <a:cs typeface="DejaVu Sans"/>
                        </a:rPr>
                        <a:t>Occasional</a:t>
                      </a:r>
                    </a:p>
                  </a:txBody>
                  <a:tcPr marL="91440" marR="91440" marT="45720" marB="45720" anchor="ctr">
                    <a:lnR w="9525">
                      <a:solidFill>
                        <a:srgbClr val="E6EDF5"/>
                      </a:solidFill>
                      <a:prstDash val="solid"/>
                    </a:lnR>
                    <a:lnT w="9525">
                      <a:solidFill>
                        <a:srgbClr val="E6EDF5"/>
                      </a:solidFill>
                      <a:prstDash val="solid"/>
                    </a:lnT>
                    <a:lnB w="9525">
                      <a:solidFill>
                        <a:srgbClr val="E6EDF5"/>
                      </a:solidFill>
                      <a:prstDash val="solid"/>
                    </a:lnB>
                    <a:solidFill>
                      <a:srgbClr val="17243B"/>
                    </a:solidFill>
                  </a:tcPr>
                </a:tc>
                <a:tc>
                  <a:txBody>
                    <a:bodyPr wrap="square" lIns="152400" tIns="114300" rIns="152400" bIns="114300">
                      <a:noAutofit/>
                    </a:bodyPr>
                    <a:lstStyle/>
                    <a:p>
                      <a:r>
                        <a:rPr sz="1725" b="1">
                          <a:solidFill>
                            <a:srgbClr val="FFFFFF"/>
                          </a:solidFill>
                          <a:latin typeface="DejaVu Sans"/>
                          <a:ea typeface="DejaVu Sans"/>
                          <a:cs typeface="DejaVu Sans"/>
                        </a:rPr>
                        <a:t>Low-Value</a:t>
                      </a:r>
                    </a:p>
                    <a:p>
                      <a:r>
                        <a:rPr sz="1725" b="1">
                          <a:solidFill>
                            <a:srgbClr val="FFFFFF"/>
                          </a:solidFill>
                          <a:latin typeface="DejaVu Sans"/>
                          <a:ea typeface="DejaVu Sans"/>
                          <a:cs typeface="DejaVu Sans"/>
                        </a:rPr>
                        <a:t>Low-Engagement</a:t>
                      </a:r>
                    </a:p>
                  </a:txBody>
                  <a:tcPr marL="91440" marR="91440" marT="45720" marB="45720" anchor="ctr">
                    <a:lnR w="9525">
                      <a:solidFill>
                        <a:srgbClr val="E6EDF5"/>
                      </a:solidFill>
                      <a:prstDash val="solid"/>
                    </a:lnR>
                    <a:lnT w="9525">
                      <a:solidFill>
                        <a:srgbClr val="E6EDF5"/>
                      </a:solidFill>
                      <a:prstDash val="solid"/>
                    </a:lnT>
                    <a:lnB w="9525">
                      <a:solidFill>
                        <a:srgbClr val="E6EDF5"/>
                      </a:solidFill>
                      <a:prstDash val="solid"/>
                    </a:lnB>
                    <a:solidFill>
                      <a:srgbClr val="17243B"/>
                    </a:solidFill>
                  </a:tcPr>
                </a:tc>
              </a:tr>
              <a:tr h="590550">
                <a:tc>
                  <a:txBody>
                    <a:bodyPr wrap="square" lIns="152400" tIns="114300" rIns="152400" bIns="114300">
                      <a:noAutofit/>
                    </a:bodyPr>
                    <a:lstStyle/>
                    <a:p>
                      <a:r>
                        <a:rPr sz="1875" b="0">
                          <a:solidFill>
                            <a:srgbClr val="17243B"/>
                          </a:solidFill>
                          <a:latin typeface="DejaVu Sans"/>
                          <a:ea typeface="DejaVu Sans"/>
                          <a:cs typeface="DejaVu Sans"/>
                        </a:rPr>
                        <a:t>Cheese</a:t>
                      </a:r>
                    </a:p>
                  </a:txBody>
                  <a:tcPr marL="91440" marR="91440" marT="45720" marB="45720" anchor="ctr">
                    <a:lnL w="9525">
                      <a:solidFill>
                        <a:srgbClr val="E6EDF5"/>
                      </a:solidFill>
                      <a:prstDash val="solid"/>
                    </a:lnL>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75.3%</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74.3%</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75.1%</a:t>
                      </a:r>
                    </a:p>
                  </a:txBody>
                  <a:tcPr marL="91440" marR="91440" marT="45720" marB="45720" anchor="ctr">
                    <a:lnR w="9525">
                      <a:solidFill>
                        <a:srgbClr val="E6EDF5"/>
                      </a:solidFill>
                      <a:prstDash val="solid"/>
                    </a:lnR>
                    <a:lnB w="9525">
                      <a:solidFill>
                        <a:srgbClr val="E6EDF5"/>
                      </a:solidFill>
                      <a:prstDash val="solid"/>
                    </a:lnB>
                    <a:solidFill>
                      <a:srgbClr val="FFFFFF"/>
                    </a:solidFill>
                  </a:tcPr>
                </a:tc>
              </a:tr>
              <a:tr h="590550">
                <a:tc>
                  <a:txBody>
                    <a:bodyPr wrap="square" lIns="152400" tIns="114300" rIns="152400" bIns="114300">
                      <a:noAutofit/>
                    </a:bodyPr>
                    <a:lstStyle/>
                    <a:p>
                      <a:r>
                        <a:rPr sz="1875" b="0">
                          <a:solidFill>
                            <a:srgbClr val="17243B"/>
                          </a:solidFill>
                          <a:latin typeface="DejaVu Sans"/>
                          <a:ea typeface="DejaVu Sans"/>
                          <a:cs typeface="DejaVu Sans"/>
                        </a:rPr>
                        <a:t>Frozen meat / meals</a:t>
                      </a:r>
                    </a:p>
                  </a:txBody>
                  <a:tcPr marL="91440" marR="91440" marT="45720" marB="45720" anchor="ctr">
                    <a:lnL w="9525">
                      <a:solidFill>
                        <a:srgbClr val="E6EDF5"/>
                      </a:solidFill>
                      <a:prstDash val="solid"/>
                    </a:lnL>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75.1%</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72.3%</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65.9%</a:t>
                      </a:r>
                    </a:p>
                  </a:txBody>
                  <a:tcPr marL="91440" marR="91440" marT="45720" marB="45720" anchor="ctr">
                    <a:lnR w="9525">
                      <a:solidFill>
                        <a:srgbClr val="E6EDF5"/>
                      </a:solidFill>
                      <a:prstDash val="solid"/>
                    </a:lnR>
                    <a:lnB w="9525">
                      <a:solidFill>
                        <a:srgbClr val="E6EDF5"/>
                      </a:solidFill>
                      <a:prstDash val="solid"/>
                    </a:lnB>
                    <a:solidFill>
                      <a:srgbClr val="FFFFFF"/>
                    </a:solidFill>
                  </a:tcPr>
                </a:tc>
              </a:tr>
              <a:tr h="590550">
                <a:tc>
                  <a:txBody>
                    <a:bodyPr wrap="square" lIns="152400" tIns="114300" rIns="152400" bIns="114300">
                      <a:noAutofit/>
                    </a:bodyPr>
                    <a:lstStyle/>
                    <a:p>
                      <a:r>
                        <a:rPr sz="1875" b="0">
                          <a:solidFill>
                            <a:srgbClr val="17243B"/>
                          </a:solidFill>
                          <a:latin typeface="DejaVu Sans"/>
                          <a:ea typeface="DejaVu Sans"/>
                          <a:cs typeface="DejaVu Sans"/>
                        </a:rPr>
                        <a:t>Soft drinks</a:t>
                      </a:r>
                    </a:p>
                  </a:txBody>
                  <a:tcPr marL="91440" marR="91440" marT="45720" marB="45720" anchor="ctr">
                    <a:lnL w="9525">
                      <a:solidFill>
                        <a:srgbClr val="E6EDF5"/>
                      </a:solidFill>
                      <a:prstDash val="solid"/>
                    </a:lnL>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67.7%</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68.5%</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67.9%</a:t>
                      </a:r>
                    </a:p>
                  </a:txBody>
                  <a:tcPr marL="91440" marR="91440" marT="45720" marB="45720" anchor="ctr">
                    <a:lnR w="9525">
                      <a:solidFill>
                        <a:srgbClr val="E6EDF5"/>
                      </a:solidFill>
                      <a:prstDash val="solid"/>
                    </a:lnR>
                    <a:lnB w="9525">
                      <a:solidFill>
                        <a:srgbClr val="E6EDF5"/>
                      </a:solidFill>
                      <a:prstDash val="solid"/>
                    </a:lnB>
                    <a:solidFill>
                      <a:srgbClr val="FFFFFF"/>
                    </a:solidFill>
                  </a:tcPr>
                </a:tc>
              </a:tr>
              <a:tr h="590550">
                <a:tc>
                  <a:txBody>
                    <a:bodyPr wrap="square" lIns="152400" tIns="114300" rIns="152400" bIns="114300">
                      <a:noAutofit/>
                    </a:bodyPr>
                    <a:lstStyle/>
                    <a:p>
                      <a:r>
                        <a:rPr sz="1875" b="0">
                          <a:solidFill>
                            <a:srgbClr val="17243B"/>
                          </a:solidFill>
                          <a:latin typeface="DejaVu Sans"/>
                          <a:ea typeface="DejaVu Sans"/>
                          <a:cs typeface="DejaVu Sans"/>
                        </a:rPr>
                        <a:t>Beef</a:t>
                      </a:r>
                    </a:p>
                  </a:txBody>
                  <a:tcPr marL="91440" marR="91440" marT="45720" marB="45720" anchor="ctr">
                    <a:lnL w="9525">
                      <a:solidFill>
                        <a:srgbClr val="E6EDF5"/>
                      </a:solidFill>
                      <a:prstDash val="solid"/>
                    </a:lnL>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49.1%</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49.2%</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49.6%</a:t>
                      </a:r>
                    </a:p>
                  </a:txBody>
                  <a:tcPr marL="91440" marR="91440" marT="45720" marB="45720" anchor="ctr">
                    <a:lnR w="9525">
                      <a:solidFill>
                        <a:srgbClr val="E6EDF5"/>
                      </a:solidFill>
                      <a:prstDash val="solid"/>
                    </a:lnR>
                    <a:lnB w="9525">
                      <a:solidFill>
                        <a:srgbClr val="E6EDF5"/>
                      </a:solidFill>
                      <a:prstDash val="solid"/>
                    </a:lnB>
                    <a:solidFill>
                      <a:srgbClr val="FFFFFF"/>
                    </a:solidFill>
                  </a:tcPr>
                </a:tc>
              </a:tr>
              <a:tr h="590550">
                <a:tc>
                  <a:txBody>
                    <a:bodyPr wrap="square" lIns="152400" tIns="114300" rIns="152400" bIns="114300">
                      <a:noAutofit/>
                    </a:bodyPr>
                    <a:lstStyle/>
                    <a:p>
                      <a:r>
                        <a:rPr sz="1875" b="0">
                          <a:solidFill>
                            <a:srgbClr val="17243B"/>
                          </a:solidFill>
                          <a:latin typeface="DejaVu Sans"/>
                          <a:ea typeface="DejaVu Sans"/>
                          <a:cs typeface="DejaVu Sans"/>
                        </a:rPr>
                        <a:t>Milk</a:t>
                      </a:r>
                    </a:p>
                  </a:txBody>
                  <a:tcPr marL="91440" marR="91440" marT="45720" marB="45720" anchor="ctr">
                    <a:lnL w="9525">
                      <a:solidFill>
                        <a:srgbClr val="E6EDF5"/>
                      </a:solidFill>
                      <a:prstDash val="solid"/>
                    </a:lnL>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44.8%</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42.7%</a:t>
                      </a:r>
                    </a:p>
                  </a:txBody>
                  <a:tcPr marL="91440" marR="91440" marT="45720" marB="45720" anchor="ctr">
                    <a:lnR w="9525">
                      <a:solidFill>
                        <a:srgbClr val="E6EDF5"/>
                      </a:solidFill>
                      <a:prstDash val="solid"/>
                    </a:lnR>
                    <a:lnB w="9525">
                      <a:solidFill>
                        <a:srgbClr val="E6EDF5"/>
                      </a:solidFill>
                      <a:prstDash val="solid"/>
                    </a:lnB>
                    <a:solidFill>
                      <a:srgbClr val="FFFFFF"/>
                    </a:solidFill>
                  </a:tcPr>
                </a:tc>
                <a:tc>
                  <a:txBody>
                    <a:bodyPr wrap="square" lIns="152400" tIns="114300" rIns="152400" bIns="114300">
                      <a:noAutofit/>
                    </a:bodyPr>
                    <a:lstStyle/>
                    <a:p>
                      <a:r>
                        <a:rPr sz="1875" b="0">
                          <a:solidFill>
                            <a:srgbClr val="17243B"/>
                          </a:solidFill>
                          <a:latin typeface="DejaVu Sans"/>
                          <a:ea typeface="DejaVu Sans"/>
                          <a:cs typeface="DejaVu Sans"/>
                        </a:rPr>
                        <a:t>43.6%</a:t>
                      </a:r>
                    </a:p>
                  </a:txBody>
                  <a:tcPr marL="91440" marR="91440" marT="45720" marB="45720" anchor="ctr">
                    <a:lnR w="9525">
                      <a:solidFill>
                        <a:srgbClr val="E6EDF5"/>
                      </a:solidFill>
                      <a:prstDash val="solid"/>
                    </a:lnR>
                    <a:lnB w="9525">
                      <a:solidFill>
                        <a:srgbClr val="E6EDF5"/>
                      </a:solidFill>
                      <a:prstDash val="solid"/>
                    </a:lnB>
                    <a:solidFill>
                      <a:srgbClr val="FFFFFF"/>
                    </a:solidFill>
                  </a:tcPr>
                </a:tc>
              </a:tr>
            </a:tbl>
          </a:graphicData>
        </a:graphic>
      </p:graphicFrame>
    </p:spTree>
    <p:extLst>
      <p:ext uri="{BB962C8B-B14F-4D97-AF65-F5344CB8AC3E}">
        <p14:creationId xmlns:p14="http://schemas.microsoft.com/office/powerpoint/2010/main" val="9989436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24C0F12-EA5B-4B6D-92DF-688FE4F509F8}"/>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243B"/>
                </a:solidFill>
                <a:latin typeface="DejaVu Sans"/>
                <a:ea typeface="DejaVu Sans"/>
                <a:cs typeface="DejaVu Sans"/>
              </a:defRPr>
            </a:defPPr>
            <a:lvl1pPr algn="l">
              <a:buNone/>
              <a:defRPr sz="3225" b="1">
                <a:solidFill>
                  <a:srgbClr val="17243B"/>
                </a:solidFill>
                <a:latin typeface="DejaVu Sans"/>
                <a:ea typeface="DejaVu Sans"/>
                <a:cs typeface="DejaVu Sans"/>
              </a:defRPr>
            </a:lvl1pPr>
            <a:lvl2pPr algn="l">
              <a:buNone/>
              <a:defRPr sz="3225" b="1">
                <a:solidFill>
                  <a:srgbClr val="17243B"/>
                </a:solidFill>
                <a:latin typeface="DejaVu Sans"/>
                <a:ea typeface="DejaVu Sans"/>
                <a:cs typeface="DejaVu Sans"/>
              </a:defRPr>
            </a:lvl2pPr>
            <a:lvl3pPr algn="l">
              <a:buNone/>
              <a:defRPr sz="3225" b="1">
                <a:solidFill>
                  <a:srgbClr val="17243B"/>
                </a:solidFill>
                <a:latin typeface="DejaVu Sans"/>
                <a:ea typeface="DejaVu Sans"/>
                <a:cs typeface="DejaVu Sans"/>
              </a:defRPr>
            </a:lvl3pPr>
            <a:lvl4pPr algn="l">
              <a:buNone/>
              <a:defRPr sz="3225" b="1">
                <a:solidFill>
                  <a:srgbClr val="17243B"/>
                </a:solidFill>
                <a:latin typeface="DejaVu Sans"/>
                <a:ea typeface="DejaVu Sans"/>
                <a:cs typeface="DejaVu Sans"/>
              </a:defRPr>
            </a:lvl4pPr>
            <a:lvl5pPr algn="l">
              <a:buNone/>
              <a:defRPr sz="3225" b="1">
                <a:solidFill>
                  <a:srgbClr val="17243B"/>
                </a:solidFill>
                <a:latin typeface="DejaVu Sans"/>
                <a:ea typeface="DejaVu Sans"/>
                <a:cs typeface="DejaVu Sans"/>
              </a:defRPr>
            </a:lvl5pPr>
            <a:lvl6pPr algn="l">
              <a:buNone/>
              <a:defRPr sz="3225" b="1">
                <a:solidFill>
                  <a:srgbClr val="17243B"/>
                </a:solidFill>
                <a:latin typeface="DejaVu Sans"/>
                <a:ea typeface="DejaVu Sans"/>
                <a:cs typeface="DejaVu Sans"/>
              </a:defRPr>
            </a:lvl6pPr>
            <a:lvl7pPr algn="l">
              <a:buNone/>
              <a:defRPr sz="3225" b="1">
                <a:solidFill>
                  <a:srgbClr val="17243B"/>
                </a:solidFill>
                <a:latin typeface="DejaVu Sans"/>
                <a:ea typeface="DejaVu Sans"/>
                <a:cs typeface="DejaVu Sans"/>
              </a:defRPr>
            </a:lvl7pPr>
            <a:lvl8pPr algn="l">
              <a:buNone/>
              <a:defRPr sz="3225" b="1">
                <a:solidFill>
                  <a:srgbClr val="17243B"/>
                </a:solidFill>
                <a:latin typeface="DejaVu Sans"/>
                <a:ea typeface="DejaVu Sans"/>
                <a:cs typeface="DejaVu Sans"/>
              </a:defRPr>
            </a:lvl8pPr>
            <a:lvl9pPr algn="l">
              <a:buNone/>
              <a:defRPr sz="3225" b="1">
                <a:solidFill>
                  <a:srgbClr val="17243B"/>
                </a:solidFill>
                <a:latin typeface="DejaVu Sans"/>
                <a:ea typeface="DejaVu Sans"/>
                <a:cs typeface="DejaVu Sans"/>
              </a:defRPr>
            </a:lvl9pPr>
          </a:lstStyle>
          <a:p xmlns:a="http://schemas.openxmlformats.org/drawingml/2006/main">
            <a:pPr algn="l">
              <a:buNone/>
              <a:defRPr sz="3225" b="1">
                <a:solidFill>
                  <a:srgbClr val="17243B"/>
                </a:solidFill>
                <a:latin typeface="DejaVu Sans"/>
                <a:ea typeface="DejaVu Sans"/>
                <a:cs typeface="DejaVu Sans"/>
              </a:defRPr>
            </a:pPr>
            <a:r>
              <a:rPr sz="3225" b="1">
                <a:solidFill>
                  <a:srgbClr val="17243B"/>
                </a:solidFill>
                <a:latin typeface="DejaVu Sans"/>
                <a:ea typeface="DejaVu Sans"/>
                <a:cs typeface="DejaVu Sans"/>
              </a:rPr>
              <a:t>What the findings mean</a:t>
            </a:r>
          </a:p>
        </p:txBody>
      </p:sp>
      <p:sp>
        <p:nvSpPr>
          <p:cNvPr id="2" name="">
            <a:extLst xmlns:a="http://schemas.openxmlformats.org/drawingml/2006/main">
              <a:ext uri="{FF2B5EF4-FFF2-40B4-BE49-F238E27FC236}">
                <a16:creationId xmlns:a16="http://schemas.microsoft.com/office/drawing/2014/main" id="{E690B929-6E2E-4B6F-AC57-85750E476BB9}"/>
              </a:ext>
            </a:extLst>
          </p:cNvPr>
          <p:cNvSpPr>
            <a:spLocks xmlns:a="http://schemas.openxmlformats.org/drawingml/2006/main" noGrp="1"/>
          </p:cNvSpPr>
          <p:nvPr/>
        </p:nvSpPr>
        <p:spPr>
          <a:xfrm xmlns:a="http://schemas.openxmlformats.org/drawingml/2006/main">
            <a:off x="609600" y="6429375"/>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050" b="0">
                <a:solidFill>
                  <a:srgbClr val="64748B"/>
                </a:solidFill>
                <a:latin typeface="DejaVu Sans"/>
                <a:ea typeface="DejaVu Sans"/>
                <a:cs typeface="DejaVu Sans"/>
              </a:defRPr>
            </a:defPPr>
            <a:lvl1pPr>
              <a:buNone/>
              <a:defRPr sz="1050" b="0">
                <a:solidFill>
                  <a:srgbClr val="64748B"/>
                </a:solidFill>
                <a:latin typeface="DejaVu Sans"/>
                <a:ea typeface="DejaVu Sans"/>
                <a:cs typeface="DejaVu Sans"/>
              </a:defRPr>
            </a:lvl1pPr>
            <a:lvl2pPr>
              <a:buNone/>
              <a:defRPr sz="1050" b="0">
                <a:solidFill>
                  <a:srgbClr val="64748B"/>
                </a:solidFill>
                <a:latin typeface="DejaVu Sans"/>
                <a:ea typeface="DejaVu Sans"/>
                <a:cs typeface="DejaVu Sans"/>
              </a:defRPr>
            </a:lvl2pPr>
            <a:lvl3pPr>
              <a:buNone/>
              <a:defRPr sz="1050" b="0">
                <a:solidFill>
                  <a:srgbClr val="64748B"/>
                </a:solidFill>
                <a:latin typeface="DejaVu Sans"/>
                <a:ea typeface="DejaVu Sans"/>
                <a:cs typeface="DejaVu Sans"/>
              </a:defRPr>
            </a:lvl3pPr>
            <a:lvl4pPr>
              <a:buNone/>
              <a:defRPr sz="1050" b="0">
                <a:solidFill>
                  <a:srgbClr val="64748B"/>
                </a:solidFill>
                <a:latin typeface="DejaVu Sans"/>
                <a:ea typeface="DejaVu Sans"/>
                <a:cs typeface="DejaVu Sans"/>
              </a:defRPr>
            </a:lvl4pPr>
            <a:lvl5pPr>
              <a:buNone/>
              <a:defRPr sz="1050" b="0">
                <a:solidFill>
                  <a:srgbClr val="64748B"/>
                </a:solidFill>
                <a:latin typeface="DejaVu Sans"/>
                <a:ea typeface="DejaVu Sans"/>
                <a:cs typeface="DejaVu Sans"/>
              </a:defRPr>
            </a:lvl5pPr>
            <a:lvl6pPr>
              <a:buNone/>
              <a:defRPr sz="1050" b="0">
                <a:solidFill>
                  <a:srgbClr val="64748B"/>
                </a:solidFill>
                <a:latin typeface="DejaVu Sans"/>
                <a:ea typeface="DejaVu Sans"/>
                <a:cs typeface="DejaVu Sans"/>
              </a:defRPr>
            </a:lvl6pPr>
            <a:lvl7pPr>
              <a:buNone/>
              <a:defRPr sz="1050" b="0">
                <a:solidFill>
                  <a:srgbClr val="64748B"/>
                </a:solidFill>
                <a:latin typeface="DejaVu Sans"/>
                <a:ea typeface="DejaVu Sans"/>
                <a:cs typeface="DejaVu Sans"/>
              </a:defRPr>
            </a:lvl7pPr>
            <a:lvl8pPr>
              <a:buNone/>
              <a:defRPr sz="1050" b="0">
                <a:solidFill>
                  <a:srgbClr val="64748B"/>
                </a:solidFill>
                <a:latin typeface="DejaVu Sans"/>
                <a:ea typeface="DejaVu Sans"/>
                <a:cs typeface="DejaVu Sans"/>
              </a:defRPr>
            </a:lvl8pPr>
            <a:lvl9pPr>
              <a:buNone/>
              <a:defRPr sz="1050" b="0">
                <a:solidFill>
                  <a:srgbClr val="64748B"/>
                </a:solidFill>
                <a:latin typeface="DejaVu Sans"/>
                <a:ea typeface="DejaVu Sans"/>
                <a:cs typeface="DejaVu Sans"/>
              </a:defRPr>
            </a:lvl9pPr>
          </a:lstStyle>
          <a:p xmlns:a="http://schemas.openxmlformats.org/drawingml/2006/main">
            <a:pPr>
              <a:buNone/>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FMCG Consumer Growth &amp; Promotion Insights</a:t>
            </a:r>
          </a:p>
        </p:txBody>
      </p:sp>
      <p:sp>
        <p:nvSpPr>
          <p:cNvPr id="3" name="">
            <a:extLst xmlns:a="http://schemas.openxmlformats.org/drawingml/2006/main">
              <a:ext uri="{FF2B5EF4-FFF2-40B4-BE49-F238E27FC236}">
                <a16:creationId xmlns:a16="http://schemas.microsoft.com/office/drawing/2014/main" id="{1D995538-3CEC-41E4-85F9-02EA4F7DFBFF}"/>
              </a:ext>
            </a:extLst>
          </p:cNvPr>
          <p:cNvSpPr>
            <a:spLocks xmlns:a="http://schemas.openxmlformats.org/drawingml/2006/main" noGrp="1"/>
          </p:cNvSpPr>
          <p:nvPr/>
        </p:nvSpPr>
        <p:spPr>
          <a:xfrm xmlns:a="http://schemas.openxmlformats.org/drawingml/2006/main">
            <a:off x="11049000" y="64198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DejaVu Sans"/>
                <a:ea typeface="DejaVu Sans"/>
                <a:cs typeface="DejaVu Sans"/>
              </a:defRPr>
            </a:defPPr>
            <a:lvl1pPr algn="l">
              <a:buNone/>
              <a:defRPr sz="1200" b="0">
                <a:solidFill>
                  <a:srgbClr val="64748B"/>
                </a:solidFill>
                <a:latin typeface="DejaVu Sans"/>
                <a:ea typeface="DejaVu Sans"/>
                <a:cs typeface="DejaVu Sans"/>
              </a:defRPr>
            </a:lvl1pPr>
            <a:lvl2pPr algn="l">
              <a:buNone/>
              <a:defRPr sz="1200" b="0">
                <a:solidFill>
                  <a:srgbClr val="64748B"/>
                </a:solidFill>
                <a:latin typeface="DejaVu Sans"/>
                <a:ea typeface="DejaVu Sans"/>
                <a:cs typeface="DejaVu Sans"/>
              </a:defRPr>
            </a:lvl2pPr>
            <a:lvl3pPr algn="l">
              <a:buNone/>
              <a:defRPr sz="1200" b="0">
                <a:solidFill>
                  <a:srgbClr val="64748B"/>
                </a:solidFill>
                <a:latin typeface="DejaVu Sans"/>
                <a:ea typeface="DejaVu Sans"/>
                <a:cs typeface="DejaVu Sans"/>
              </a:defRPr>
            </a:lvl3pPr>
            <a:lvl4pPr algn="l">
              <a:buNone/>
              <a:defRPr sz="1200" b="0">
                <a:solidFill>
                  <a:srgbClr val="64748B"/>
                </a:solidFill>
                <a:latin typeface="DejaVu Sans"/>
                <a:ea typeface="DejaVu Sans"/>
                <a:cs typeface="DejaVu Sans"/>
              </a:defRPr>
            </a:lvl4pPr>
            <a:lvl5pPr algn="l">
              <a:buNone/>
              <a:defRPr sz="1200" b="0">
                <a:solidFill>
                  <a:srgbClr val="64748B"/>
                </a:solidFill>
                <a:latin typeface="DejaVu Sans"/>
                <a:ea typeface="DejaVu Sans"/>
                <a:cs typeface="DejaVu Sans"/>
              </a:defRPr>
            </a:lvl5pPr>
            <a:lvl6pPr algn="l">
              <a:buNone/>
              <a:defRPr sz="1200" b="0">
                <a:solidFill>
                  <a:srgbClr val="64748B"/>
                </a:solidFill>
                <a:latin typeface="DejaVu Sans"/>
                <a:ea typeface="DejaVu Sans"/>
                <a:cs typeface="DejaVu Sans"/>
              </a:defRPr>
            </a:lvl6pPr>
            <a:lvl7pPr algn="l">
              <a:buNone/>
              <a:defRPr sz="1200" b="0">
                <a:solidFill>
                  <a:srgbClr val="64748B"/>
                </a:solidFill>
                <a:latin typeface="DejaVu Sans"/>
                <a:ea typeface="DejaVu Sans"/>
                <a:cs typeface="DejaVu Sans"/>
              </a:defRPr>
            </a:lvl7pPr>
            <a:lvl8pPr algn="l">
              <a:buNone/>
              <a:defRPr sz="1200" b="0">
                <a:solidFill>
                  <a:srgbClr val="64748B"/>
                </a:solidFill>
                <a:latin typeface="DejaVu Sans"/>
                <a:ea typeface="DejaVu Sans"/>
                <a:cs typeface="DejaVu Sans"/>
              </a:defRPr>
            </a:lvl8pPr>
            <a:lvl9pPr algn="l">
              <a:buNone/>
              <a:defRPr sz="1200" b="0">
                <a:solidFill>
                  <a:srgbClr val="64748B"/>
                </a:solidFill>
                <a:latin typeface="DejaVu Sans"/>
                <a:ea typeface="DejaVu Sans"/>
                <a:cs typeface="DejaVu Sans"/>
              </a:defRPr>
            </a:lvl9pPr>
          </a:lstStyle>
          <a:p xmlns:a="http://schemas.openxmlformats.org/drawingml/2006/main">
            <a:pPr algn="l">
              <a:buNone/>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11</a:t>
            </a:r>
          </a:p>
        </p:txBody>
      </p:sp>
      <p:sp>
        <p:nvSpPr>
          <p:cNvPr id="4" name="">
            <a:extLst xmlns:a="http://schemas.openxmlformats.org/drawingml/2006/main">
              <a:ext uri="{FF2B5EF4-FFF2-40B4-BE49-F238E27FC236}">
                <a16:creationId xmlns:a16="http://schemas.microsoft.com/office/drawing/2014/main" id="{6CCCB46E-3658-4ACE-B87A-C9DD3EC63825}"/>
              </a:ext>
            </a:extLst>
          </p:cNvPr>
          <p:cNvSpPr>
            <a:spLocks xmlns:a="http://schemas.openxmlformats.org/drawingml/2006/main" noGrp="1"/>
          </p:cNvSpPr>
          <p:nvPr/>
        </p:nvSpPr>
        <p:spPr>
          <a:xfrm xmlns:a="http://schemas.openxmlformats.org/drawingml/2006/main">
            <a:off x="638175" y="1771650"/>
            <a:ext cx="7143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1">
                <a:solidFill>
                  <a:srgbClr val="2563EB"/>
                </a:solidFill>
                <a:latin typeface="DejaVu Sans"/>
                <a:ea typeface="DejaVu Sans"/>
                <a:cs typeface="DejaVu Sans"/>
              </a:defRPr>
            </a:defPPr>
            <a:lvl1pPr>
              <a:buNone/>
              <a:defRPr sz="3000" b="1">
                <a:solidFill>
                  <a:srgbClr val="2563EB"/>
                </a:solidFill>
                <a:latin typeface="DejaVu Sans"/>
                <a:ea typeface="DejaVu Sans"/>
                <a:cs typeface="DejaVu Sans"/>
              </a:defRPr>
            </a:lvl1pPr>
            <a:lvl2pPr>
              <a:buNone/>
              <a:defRPr sz="3000" b="1">
                <a:solidFill>
                  <a:srgbClr val="2563EB"/>
                </a:solidFill>
                <a:latin typeface="DejaVu Sans"/>
                <a:ea typeface="DejaVu Sans"/>
                <a:cs typeface="DejaVu Sans"/>
              </a:defRPr>
            </a:lvl2pPr>
            <a:lvl3pPr>
              <a:buNone/>
              <a:defRPr sz="3000" b="1">
                <a:solidFill>
                  <a:srgbClr val="2563EB"/>
                </a:solidFill>
                <a:latin typeface="DejaVu Sans"/>
                <a:ea typeface="DejaVu Sans"/>
                <a:cs typeface="DejaVu Sans"/>
              </a:defRPr>
            </a:lvl3pPr>
            <a:lvl4pPr>
              <a:buNone/>
              <a:defRPr sz="3000" b="1">
                <a:solidFill>
                  <a:srgbClr val="2563EB"/>
                </a:solidFill>
                <a:latin typeface="DejaVu Sans"/>
                <a:ea typeface="DejaVu Sans"/>
                <a:cs typeface="DejaVu Sans"/>
              </a:defRPr>
            </a:lvl4pPr>
            <a:lvl5pPr>
              <a:buNone/>
              <a:defRPr sz="3000" b="1">
                <a:solidFill>
                  <a:srgbClr val="2563EB"/>
                </a:solidFill>
                <a:latin typeface="DejaVu Sans"/>
                <a:ea typeface="DejaVu Sans"/>
                <a:cs typeface="DejaVu Sans"/>
              </a:defRPr>
            </a:lvl5pPr>
            <a:lvl6pPr>
              <a:buNone/>
              <a:defRPr sz="3000" b="1">
                <a:solidFill>
                  <a:srgbClr val="2563EB"/>
                </a:solidFill>
                <a:latin typeface="DejaVu Sans"/>
                <a:ea typeface="DejaVu Sans"/>
                <a:cs typeface="DejaVu Sans"/>
              </a:defRPr>
            </a:lvl6pPr>
            <a:lvl7pPr>
              <a:buNone/>
              <a:defRPr sz="3000" b="1">
                <a:solidFill>
                  <a:srgbClr val="2563EB"/>
                </a:solidFill>
                <a:latin typeface="DejaVu Sans"/>
                <a:ea typeface="DejaVu Sans"/>
                <a:cs typeface="DejaVu Sans"/>
              </a:defRPr>
            </a:lvl7pPr>
            <a:lvl8pPr>
              <a:buNone/>
              <a:defRPr sz="3000" b="1">
                <a:solidFill>
                  <a:srgbClr val="2563EB"/>
                </a:solidFill>
                <a:latin typeface="DejaVu Sans"/>
                <a:ea typeface="DejaVu Sans"/>
                <a:cs typeface="DejaVu Sans"/>
              </a:defRPr>
            </a:lvl8pPr>
            <a:lvl9pPr>
              <a:buNone/>
              <a:defRPr sz="3000" b="1">
                <a:solidFill>
                  <a:srgbClr val="2563EB"/>
                </a:solidFill>
                <a:latin typeface="DejaVu Sans"/>
                <a:ea typeface="DejaVu Sans"/>
                <a:cs typeface="DejaVu Sans"/>
              </a:defRPr>
            </a:lvl9pPr>
          </a:lstStyle>
          <a:p xmlns:a="http://schemas.openxmlformats.org/drawingml/2006/main">
            <a:pPr>
              <a:buNone/>
              <a:defRPr sz="3000" b="1">
                <a:solidFill>
                  <a:srgbClr val="2563EB"/>
                </a:solidFill>
                <a:latin typeface="DejaVu Sans"/>
                <a:ea typeface="DejaVu Sans"/>
                <a:cs typeface="DejaVu Sans"/>
              </a:defRPr>
            </a:pPr>
            <a:r>
              <a:rPr sz="3000" b="1">
                <a:solidFill>
                  <a:srgbClr val="2563EB"/>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AB4B9A18-F2B6-41DD-B4B6-0C3D82F38977}"/>
              </a:ext>
            </a:extLst>
          </p:cNvPr>
          <p:cNvSpPr>
            <a:spLocks xmlns:a="http://schemas.openxmlformats.org/drawingml/2006/main" noGrp="1"/>
          </p:cNvSpPr>
          <p:nvPr/>
        </p:nvSpPr>
        <p:spPr>
          <a:xfrm xmlns:a="http://schemas.openxmlformats.org/drawingml/2006/main">
            <a:off x="1619250" y="17716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7243B"/>
                </a:solidFill>
                <a:latin typeface="DejaVu Sans"/>
                <a:ea typeface="DejaVu Sans"/>
                <a:cs typeface="DejaVu Sans"/>
              </a:defRPr>
            </a:defPPr>
            <a:lvl1pPr algn="l">
              <a:buNone/>
              <a:defRPr sz="2250" b="1">
                <a:solidFill>
                  <a:srgbClr val="17243B"/>
                </a:solidFill>
                <a:latin typeface="DejaVu Sans"/>
                <a:ea typeface="DejaVu Sans"/>
                <a:cs typeface="DejaVu Sans"/>
              </a:defRPr>
            </a:lvl1pPr>
            <a:lvl2pPr algn="l">
              <a:buNone/>
              <a:defRPr sz="2250" b="1">
                <a:solidFill>
                  <a:srgbClr val="17243B"/>
                </a:solidFill>
                <a:latin typeface="DejaVu Sans"/>
                <a:ea typeface="DejaVu Sans"/>
                <a:cs typeface="DejaVu Sans"/>
              </a:defRPr>
            </a:lvl2pPr>
            <a:lvl3pPr algn="l">
              <a:buNone/>
              <a:defRPr sz="2250" b="1">
                <a:solidFill>
                  <a:srgbClr val="17243B"/>
                </a:solidFill>
                <a:latin typeface="DejaVu Sans"/>
                <a:ea typeface="DejaVu Sans"/>
                <a:cs typeface="DejaVu Sans"/>
              </a:defRPr>
            </a:lvl3pPr>
            <a:lvl4pPr algn="l">
              <a:buNone/>
              <a:defRPr sz="2250" b="1">
                <a:solidFill>
                  <a:srgbClr val="17243B"/>
                </a:solidFill>
                <a:latin typeface="DejaVu Sans"/>
                <a:ea typeface="DejaVu Sans"/>
                <a:cs typeface="DejaVu Sans"/>
              </a:defRPr>
            </a:lvl4pPr>
            <a:lvl5pPr algn="l">
              <a:buNone/>
              <a:defRPr sz="2250" b="1">
                <a:solidFill>
                  <a:srgbClr val="17243B"/>
                </a:solidFill>
                <a:latin typeface="DejaVu Sans"/>
                <a:ea typeface="DejaVu Sans"/>
                <a:cs typeface="DejaVu Sans"/>
              </a:defRPr>
            </a:lvl5pPr>
            <a:lvl6pPr algn="l">
              <a:buNone/>
              <a:defRPr sz="2250" b="1">
                <a:solidFill>
                  <a:srgbClr val="17243B"/>
                </a:solidFill>
                <a:latin typeface="DejaVu Sans"/>
                <a:ea typeface="DejaVu Sans"/>
                <a:cs typeface="DejaVu Sans"/>
              </a:defRPr>
            </a:lvl6pPr>
            <a:lvl7pPr algn="l">
              <a:buNone/>
              <a:defRPr sz="2250" b="1">
                <a:solidFill>
                  <a:srgbClr val="17243B"/>
                </a:solidFill>
                <a:latin typeface="DejaVu Sans"/>
                <a:ea typeface="DejaVu Sans"/>
                <a:cs typeface="DejaVu Sans"/>
              </a:defRPr>
            </a:lvl7pPr>
            <a:lvl8pPr algn="l">
              <a:buNone/>
              <a:defRPr sz="2250" b="1">
                <a:solidFill>
                  <a:srgbClr val="17243B"/>
                </a:solidFill>
                <a:latin typeface="DejaVu Sans"/>
                <a:ea typeface="DejaVu Sans"/>
                <a:cs typeface="DejaVu Sans"/>
              </a:defRPr>
            </a:lvl8pPr>
            <a:lvl9pPr algn="l">
              <a:buNone/>
              <a:defRPr sz="2250" b="1">
                <a:solidFill>
                  <a:srgbClr val="17243B"/>
                </a:solidFill>
                <a:latin typeface="DejaVu Sans"/>
                <a:ea typeface="DejaVu Sans"/>
                <a:cs typeface="DejaVu Sans"/>
              </a:defRPr>
            </a:lvl9pPr>
          </a:lstStyle>
          <a:p xmlns:a="http://schemas.openxmlformats.org/drawingml/2006/main">
            <a:pPr algn="l">
              <a:buNone/>
              <a:defRPr sz="2250" b="1">
                <a:solidFill>
                  <a:srgbClr val="17243B"/>
                </a:solidFill>
                <a:latin typeface="DejaVu Sans"/>
                <a:ea typeface="DejaVu Sans"/>
                <a:cs typeface="DejaVu Sans"/>
              </a:defRPr>
            </a:pPr>
            <a:r>
              <a:rPr sz="2250" b="1">
                <a:solidFill>
                  <a:srgbClr val="17243B"/>
                </a:solidFill>
                <a:latin typeface="DejaVu Sans"/>
                <a:ea typeface="DejaVu Sans"/>
                <a:cs typeface="DejaVu Sans"/>
              </a:rPr>
              <a:t>Frequent shoppers contribute most sales</a:t>
            </a:r>
          </a:p>
        </p:txBody>
      </p:sp>
      <p:sp>
        <p:nvSpPr>
          <p:cNvPr id="6" name="">
            <a:extLst xmlns:a="http://schemas.openxmlformats.org/drawingml/2006/main">
              <a:ext uri="{FF2B5EF4-FFF2-40B4-BE49-F238E27FC236}">
                <a16:creationId xmlns:a16="http://schemas.microsoft.com/office/drawing/2014/main" id="{9585581F-E7EB-4383-AFDE-6A904B198DA6}"/>
              </a:ext>
            </a:extLst>
          </p:cNvPr>
          <p:cNvSpPr>
            <a:spLocks xmlns:a="http://schemas.openxmlformats.org/drawingml/2006/main" noGrp="1"/>
          </p:cNvSpPr>
          <p:nvPr/>
        </p:nvSpPr>
        <p:spPr>
          <a:xfrm xmlns:a="http://schemas.openxmlformats.org/drawingml/2006/main">
            <a:off x="1619250" y="2266950"/>
            <a:ext cx="962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DejaVu Sans"/>
                <a:ea typeface="DejaVu Sans"/>
                <a:cs typeface="DejaVu Sans"/>
              </a:defRPr>
            </a:defPPr>
            <a:lvl1pPr algn="l">
              <a:buNone/>
              <a:defRPr sz="1800" b="0">
                <a:solidFill>
                  <a:srgbClr val="64748B"/>
                </a:solidFill>
                <a:latin typeface="DejaVu Sans"/>
                <a:ea typeface="DejaVu Sans"/>
                <a:cs typeface="DejaVu Sans"/>
              </a:defRPr>
            </a:lvl1pPr>
            <a:lvl2pPr algn="l">
              <a:buNone/>
              <a:defRPr sz="1800" b="0">
                <a:solidFill>
                  <a:srgbClr val="64748B"/>
                </a:solidFill>
                <a:latin typeface="DejaVu Sans"/>
                <a:ea typeface="DejaVu Sans"/>
                <a:cs typeface="DejaVu Sans"/>
              </a:defRPr>
            </a:lvl2pPr>
            <a:lvl3pPr algn="l">
              <a:buNone/>
              <a:defRPr sz="1800" b="0">
                <a:solidFill>
                  <a:srgbClr val="64748B"/>
                </a:solidFill>
                <a:latin typeface="DejaVu Sans"/>
                <a:ea typeface="DejaVu Sans"/>
                <a:cs typeface="DejaVu Sans"/>
              </a:defRPr>
            </a:lvl3pPr>
            <a:lvl4pPr algn="l">
              <a:buNone/>
              <a:defRPr sz="1800" b="0">
                <a:solidFill>
                  <a:srgbClr val="64748B"/>
                </a:solidFill>
                <a:latin typeface="DejaVu Sans"/>
                <a:ea typeface="DejaVu Sans"/>
                <a:cs typeface="DejaVu Sans"/>
              </a:defRPr>
            </a:lvl4pPr>
            <a:lvl5pPr algn="l">
              <a:buNone/>
              <a:defRPr sz="1800" b="0">
                <a:solidFill>
                  <a:srgbClr val="64748B"/>
                </a:solidFill>
                <a:latin typeface="DejaVu Sans"/>
                <a:ea typeface="DejaVu Sans"/>
                <a:cs typeface="DejaVu Sans"/>
              </a:defRPr>
            </a:lvl5pPr>
            <a:lvl6pPr algn="l">
              <a:buNone/>
              <a:defRPr sz="1800" b="0">
                <a:solidFill>
                  <a:srgbClr val="64748B"/>
                </a:solidFill>
                <a:latin typeface="DejaVu Sans"/>
                <a:ea typeface="DejaVu Sans"/>
                <a:cs typeface="DejaVu Sans"/>
              </a:defRPr>
            </a:lvl6pPr>
            <a:lvl7pPr algn="l">
              <a:buNone/>
              <a:defRPr sz="1800" b="0">
                <a:solidFill>
                  <a:srgbClr val="64748B"/>
                </a:solidFill>
                <a:latin typeface="DejaVu Sans"/>
                <a:ea typeface="DejaVu Sans"/>
                <a:cs typeface="DejaVu Sans"/>
              </a:defRPr>
            </a:lvl7pPr>
            <a:lvl8pPr algn="l">
              <a:buNone/>
              <a:defRPr sz="1800" b="0">
                <a:solidFill>
                  <a:srgbClr val="64748B"/>
                </a:solidFill>
                <a:latin typeface="DejaVu Sans"/>
                <a:ea typeface="DejaVu Sans"/>
                <a:cs typeface="DejaVu Sans"/>
              </a:defRPr>
            </a:lvl8pPr>
            <a:lvl9pPr algn="l">
              <a:buNone/>
              <a:defRPr sz="1800" b="0">
                <a:solidFill>
                  <a:srgbClr val="64748B"/>
                </a:solidFill>
                <a:latin typeface="DejaVu Sans"/>
                <a:ea typeface="DejaVu Sans"/>
                <a:cs typeface="DejaVu Sans"/>
              </a:defRPr>
            </a:lvl9pPr>
          </a:lstStyle>
          <a:p xmlns:a="http://schemas.openxmlformats.org/drawingml/2006/main">
            <a:pPr algn="l">
              <a:buNone/>
              <a:defRPr sz="1800" b="0">
                <a:solidFill>
                  <a:srgbClr val="64748B"/>
                </a:solidFill>
                <a:latin typeface="DejaVu Sans"/>
                <a:ea typeface="DejaVu Sans"/>
                <a:cs typeface="DejaVu Sans"/>
              </a:defRPr>
            </a:pPr>
            <a:r>
              <a:rPr sz="1800" b="0">
                <a:solidFill>
                  <a:srgbClr val="64748B"/>
                </a:solidFill>
                <a:latin typeface="DejaVu Sans"/>
                <a:ea typeface="DejaVu Sans"/>
                <a:cs typeface="DejaVu Sans"/>
              </a:rPr>
              <a:t>The highest-spending group also visits most often.</a:t>
            </a:r>
          </a:p>
          <a:p xmlns:a="http://schemas.openxmlformats.org/drawingml/2006/main">
            <a:pPr algn="l">
              <a:buNone/>
              <a:defRPr sz="1800" b="0">
                <a:solidFill>
                  <a:srgbClr val="64748B"/>
                </a:solidFill>
                <a:latin typeface="DejaVu Sans"/>
                <a:ea typeface="DejaVu Sans"/>
                <a:cs typeface="DejaVu Sans"/>
              </a:defRPr>
            </a:pPr>
            <a:r>
              <a:rPr sz="1800" b="0">
                <a:solidFill>
                  <a:srgbClr val="64748B"/>
                </a:solidFill>
                <a:latin typeface="DejaVu Sans"/>
                <a:ea typeface="DejaVu Sans"/>
                <a:cs typeface="DejaVu Sans"/>
              </a:rPr>
              <a:t>Changes in regular purchase activity are a priority for retention tests.</a:t>
            </a:r>
          </a:p>
        </p:txBody>
      </p:sp>
      <p:sp>
        <p:nvSpPr>
          <p:cNvPr id="7" name="">
            <a:extLst xmlns:a="http://schemas.openxmlformats.org/drawingml/2006/main">
              <a:ext uri="{FF2B5EF4-FFF2-40B4-BE49-F238E27FC236}">
                <a16:creationId xmlns:a16="http://schemas.microsoft.com/office/drawing/2014/main" id="{3F4D10F4-565A-4109-99F8-2FE4D4157AD6}"/>
              </a:ext>
            </a:extLst>
          </p:cNvPr>
          <p:cNvSpPr>
            <a:spLocks xmlns:a="http://schemas.openxmlformats.org/drawingml/2006/main" noGrp="1"/>
          </p:cNvSpPr>
          <p:nvPr/>
        </p:nvSpPr>
        <p:spPr>
          <a:xfrm xmlns:a="http://schemas.openxmlformats.org/drawingml/2006/main">
            <a:off x="638175" y="3181350"/>
            <a:ext cx="7143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1">
                <a:solidFill>
                  <a:srgbClr val="7C3AED"/>
                </a:solidFill>
                <a:latin typeface="DejaVu Sans"/>
                <a:ea typeface="DejaVu Sans"/>
                <a:cs typeface="DejaVu Sans"/>
              </a:defRPr>
            </a:defPPr>
            <a:lvl1pPr>
              <a:buNone/>
              <a:defRPr sz="3000" b="1">
                <a:solidFill>
                  <a:srgbClr val="7C3AED"/>
                </a:solidFill>
                <a:latin typeface="DejaVu Sans"/>
                <a:ea typeface="DejaVu Sans"/>
                <a:cs typeface="DejaVu Sans"/>
              </a:defRPr>
            </a:lvl1pPr>
            <a:lvl2pPr>
              <a:buNone/>
              <a:defRPr sz="3000" b="1">
                <a:solidFill>
                  <a:srgbClr val="7C3AED"/>
                </a:solidFill>
                <a:latin typeface="DejaVu Sans"/>
                <a:ea typeface="DejaVu Sans"/>
                <a:cs typeface="DejaVu Sans"/>
              </a:defRPr>
            </a:lvl2pPr>
            <a:lvl3pPr>
              <a:buNone/>
              <a:defRPr sz="3000" b="1">
                <a:solidFill>
                  <a:srgbClr val="7C3AED"/>
                </a:solidFill>
                <a:latin typeface="DejaVu Sans"/>
                <a:ea typeface="DejaVu Sans"/>
                <a:cs typeface="DejaVu Sans"/>
              </a:defRPr>
            </a:lvl3pPr>
            <a:lvl4pPr>
              <a:buNone/>
              <a:defRPr sz="3000" b="1">
                <a:solidFill>
                  <a:srgbClr val="7C3AED"/>
                </a:solidFill>
                <a:latin typeface="DejaVu Sans"/>
                <a:ea typeface="DejaVu Sans"/>
                <a:cs typeface="DejaVu Sans"/>
              </a:defRPr>
            </a:lvl4pPr>
            <a:lvl5pPr>
              <a:buNone/>
              <a:defRPr sz="3000" b="1">
                <a:solidFill>
                  <a:srgbClr val="7C3AED"/>
                </a:solidFill>
                <a:latin typeface="DejaVu Sans"/>
                <a:ea typeface="DejaVu Sans"/>
                <a:cs typeface="DejaVu Sans"/>
              </a:defRPr>
            </a:lvl5pPr>
            <a:lvl6pPr>
              <a:buNone/>
              <a:defRPr sz="3000" b="1">
                <a:solidFill>
                  <a:srgbClr val="7C3AED"/>
                </a:solidFill>
                <a:latin typeface="DejaVu Sans"/>
                <a:ea typeface="DejaVu Sans"/>
                <a:cs typeface="DejaVu Sans"/>
              </a:defRPr>
            </a:lvl6pPr>
            <a:lvl7pPr>
              <a:buNone/>
              <a:defRPr sz="3000" b="1">
                <a:solidFill>
                  <a:srgbClr val="7C3AED"/>
                </a:solidFill>
                <a:latin typeface="DejaVu Sans"/>
                <a:ea typeface="DejaVu Sans"/>
                <a:cs typeface="DejaVu Sans"/>
              </a:defRPr>
            </a:lvl7pPr>
            <a:lvl8pPr>
              <a:buNone/>
              <a:defRPr sz="3000" b="1">
                <a:solidFill>
                  <a:srgbClr val="7C3AED"/>
                </a:solidFill>
                <a:latin typeface="DejaVu Sans"/>
                <a:ea typeface="DejaVu Sans"/>
                <a:cs typeface="DejaVu Sans"/>
              </a:defRPr>
            </a:lvl8pPr>
            <a:lvl9pPr>
              <a:buNone/>
              <a:defRPr sz="3000" b="1">
                <a:solidFill>
                  <a:srgbClr val="7C3AED"/>
                </a:solidFill>
                <a:latin typeface="DejaVu Sans"/>
                <a:ea typeface="DejaVu Sans"/>
                <a:cs typeface="DejaVu Sans"/>
              </a:defRPr>
            </a:lvl9pPr>
          </a:lstStyle>
          <a:p xmlns:a="http://schemas.openxmlformats.org/drawingml/2006/main">
            <a:pPr>
              <a:buNone/>
              <a:defRPr sz="3000" b="1">
                <a:solidFill>
                  <a:srgbClr val="7C3AED"/>
                </a:solidFill>
                <a:latin typeface="DejaVu Sans"/>
                <a:ea typeface="DejaVu Sans"/>
                <a:cs typeface="DejaVu Sans"/>
              </a:defRPr>
            </a:pPr>
            <a:r>
              <a:rPr sz="3000" b="1">
                <a:solidFill>
                  <a:srgbClr val="7C3AED"/>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3AF104E0-F5BB-4DE7-AFFA-AE46C289A05B}"/>
              </a:ext>
            </a:extLst>
          </p:cNvPr>
          <p:cNvSpPr>
            <a:spLocks xmlns:a="http://schemas.openxmlformats.org/drawingml/2006/main" noGrp="1"/>
          </p:cNvSpPr>
          <p:nvPr/>
        </p:nvSpPr>
        <p:spPr>
          <a:xfrm xmlns:a="http://schemas.openxmlformats.org/drawingml/2006/main">
            <a:off x="1619250" y="31813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7243B"/>
                </a:solidFill>
                <a:latin typeface="DejaVu Sans"/>
                <a:ea typeface="DejaVu Sans"/>
                <a:cs typeface="DejaVu Sans"/>
              </a:defRPr>
            </a:defPPr>
            <a:lvl1pPr algn="l">
              <a:buNone/>
              <a:defRPr sz="2250" b="1">
                <a:solidFill>
                  <a:srgbClr val="17243B"/>
                </a:solidFill>
                <a:latin typeface="DejaVu Sans"/>
                <a:ea typeface="DejaVu Sans"/>
                <a:cs typeface="DejaVu Sans"/>
              </a:defRPr>
            </a:lvl1pPr>
            <a:lvl2pPr algn="l">
              <a:buNone/>
              <a:defRPr sz="2250" b="1">
                <a:solidFill>
                  <a:srgbClr val="17243B"/>
                </a:solidFill>
                <a:latin typeface="DejaVu Sans"/>
                <a:ea typeface="DejaVu Sans"/>
                <a:cs typeface="DejaVu Sans"/>
              </a:defRPr>
            </a:lvl2pPr>
            <a:lvl3pPr algn="l">
              <a:buNone/>
              <a:defRPr sz="2250" b="1">
                <a:solidFill>
                  <a:srgbClr val="17243B"/>
                </a:solidFill>
                <a:latin typeface="DejaVu Sans"/>
                <a:ea typeface="DejaVu Sans"/>
                <a:cs typeface="DejaVu Sans"/>
              </a:defRPr>
            </a:lvl3pPr>
            <a:lvl4pPr algn="l">
              <a:buNone/>
              <a:defRPr sz="2250" b="1">
                <a:solidFill>
                  <a:srgbClr val="17243B"/>
                </a:solidFill>
                <a:latin typeface="DejaVu Sans"/>
                <a:ea typeface="DejaVu Sans"/>
                <a:cs typeface="DejaVu Sans"/>
              </a:defRPr>
            </a:lvl4pPr>
            <a:lvl5pPr algn="l">
              <a:buNone/>
              <a:defRPr sz="2250" b="1">
                <a:solidFill>
                  <a:srgbClr val="17243B"/>
                </a:solidFill>
                <a:latin typeface="DejaVu Sans"/>
                <a:ea typeface="DejaVu Sans"/>
                <a:cs typeface="DejaVu Sans"/>
              </a:defRPr>
            </a:lvl5pPr>
            <a:lvl6pPr algn="l">
              <a:buNone/>
              <a:defRPr sz="2250" b="1">
                <a:solidFill>
                  <a:srgbClr val="17243B"/>
                </a:solidFill>
                <a:latin typeface="DejaVu Sans"/>
                <a:ea typeface="DejaVu Sans"/>
                <a:cs typeface="DejaVu Sans"/>
              </a:defRPr>
            </a:lvl6pPr>
            <a:lvl7pPr algn="l">
              <a:buNone/>
              <a:defRPr sz="2250" b="1">
                <a:solidFill>
                  <a:srgbClr val="17243B"/>
                </a:solidFill>
                <a:latin typeface="DejaVu Sans"/>
                <a:ea typeface="DejaVu Sans"/>
                <a:cs typeface="DejaVu Sans"/>
              </a:defRPr>
            </a:lvl7pPr>
            <a:lvl8pPr algn="l">
              <a:buNone/>
              <a:defRPr sz="2250" b="1">
                <a:solidFill>
                  <a:srgbClr val="17243B"/>
                </a:solidFill>
                <a:latin typeface="DejaVu Sans"/>
                <a:ea typeface="DejaVu Sans"/>
                <a:cs typeface="DejaVu Sans"/>
              </a:defRPr>
            </a:lvl8pPr>
            <a:lvl9pPr algn="l">
              <a:buNone/>
              <a:defRPr sz="2250" b="1">
                <a:solidFill>
                  <a:srgbClr val="17243B"/>
                </a:solidFill>
                <a:latin typeface="DejaVu Sans"/>
                <a:ea typeface="DejaVu Sans"/>
                <a:cs typeface="DejaVu Sans"/>
              </a:defRPr>
            </a:lvl9pPr>
          </a:lstStyle>
          <a:p xmlns:a="http://schemas.openxmlformats.org/drawingml/2006/main">
            <a:pPr algn="l">
              <a:buNone/>
              <a:defRPr sz="2250" b="1">
                <a:solidFill>
                  <a:srgbClr val="17243B"/>
                </a:solidFill>
                <a:latin typeface="DejaVu Sans"/>
                <a:ea typeface="DejaVu Sans"/>
                <a:cs typeface="DejaVu Sans"/>
              </a:defRPr>
            </a:pPr>
            <a:r>
              <a:rPr sz="2250" b="1">
                <a:solidFill>
                  <a:srgbClr val="17243B"/>
                </a:solidFill>
                <a:latin typeface="DejaVu Sans"/>
                <a:ea typeface="DejaVu Sans"/>
                <a:cs typeface="DejaVu Sans"/>
              </a:rPr>
              <a:t>Larger baskets offer a reason to test more visits</a:t>
            </a:r>
          </a:p>
        </p:txBody>
      </p:sp>
      <p:sp>
        <p:nvSpPr>
          <p:cNvPr id="9" name="">
            <a:extLst xmlns:a="http://schemas.openxmlformats.org/drawingml/2006/main">
              <a:ext uri="{FF2B5EF4-FFF2-40B4-BE49-F238E27FC236}">
                <a16:creationId xmlns:a16="http://schemas.microsoft.com/office/drawing/2014/main" id="{3A33FAE3-4424-4961-AEE0-6339089B5ECD}"/>
              </a:ext>
            </a:extLst>
          </p:cNvPr>
          <p:cNvSpPr>
            <a:spLocks xmlns:a="http://schemas.openxmlformats.org/drawingml/2006/main" noGrp="1"/>
          </p:cNvSpPr>
          <p:nvPr/>
        </p:nvSpPr>
        <p:spPr>
          <a:xfrm xmlns:a="http://schemas.openxmlformats.org/drawingml/2006/main">
            <a:off x="1619250" y="3676650"/>
            <a:ext cx="962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DejaVu Sans"/>
                <a:ea typeface="DejaVu Sans"/>
                <a:cs typeface="DejaVu Sans"/>
              </a:defRPr>
            </a:defPPr>
            <a:lvl1pPr algn="l">
              <a:buNone/>
              <a:defRPr sz="1800" b="0">
                <a:solidFill>
                  <a:srgbClr val="64748B"/>
                </a:solidFill>
                <a:latin typeface="DejaVu Sans"/>
                <a:ea typeface="DejaVu Sans"/>
                <a:cs typeface="DejaVu Sans"/>
              </a:defRPr>
            </a:lvl1pPr>
            <a:lvl2pPr algn="l">
              <a:buNone/>
              <a:defRPr sz="1800" b="0">
                <a:solidFill>
                  <a:srgbClr val="64748B"/>
                </a:solidFill>
                <a:latin typeface="DejaVu Sans"/>
                <a:ea typeface="DejaVu Sans"/>
                <a:cs typeface="DejaVu Sans"/>
              </a:defRPr>
            </a:lvl2pPr>
            <a:lvl3pPr algn="l">
              <a:buNone/>
              <a:defRPr sz="1800" b="0">
                <a:solidFill>
                  <a:srgbClr val="64748B"/>
                </a:solidFill>
                <a:latin typeface="DejaVu Sans"/>
                <a:ea typeface="DejaVu Sans"/>
                <a:cs typeface="DejaVu Sans"/>
              </a:defRPr>
            </a:lvl3pPr>
            <a:lvl4pPr algn="l">
              <a:buNone/>
              <a:defRPr sz="1800" b="0">
                <a:solidFill>
                  <a:srgbClr val="64748B"/>
                </a:solidFill>
                <a:latin typeface="DejaVu Sans"/>
                <a:ea typeface="DejaVu Sans"/>
                <a:cs typeface="DejaVu Sans"/>
              </a:defRPr>
            </a:lvl4pPr>
            <a:lvl5pPr algn="l">
              <a:buNone/>
              <a:defRPr sz="1800" b="0">
                <a:solidFill>
                  <a:srgbClr val="64748B"/>
                </a:solidFill>
                <a:latin typeface="DejaVu Sans"/>
                <a:ea typeface="DejaVu Sans"/>
                <a:cs typeface="DejaVu Sans"/>
              </a:defRPr>
            </a:lvl5pPr>
            <a:lvl6pPr algn="l">
              <a:buNone/>
              <a:defRPr sz="1800" b="0">
                <a:solidFill>
                  <a:srgbClr val="64748B"/>
                </a:solidFill>
                <a:latin typeface="DejaVu Sans"/>
                <a:ea typeface="DejaVu Sans"/>
                <a:cs typeface="DejaVu Sans"/>
              </a:defRPr>
            </a:lvl6pPr>
            <a:lvl7pPr algn="l">
              <a:buNone/>
              <a:defRPr sz="1800" b="0">
                <a:solidFill>
                  <a:srgbClr val="64748B"/>
                </a:solidFill>
                <a:latin typeface="DejaVu Sans"/>
                <a:ea typeface="DejaVu Sans"/>
                <a:cs typeface="DejaVu Sans"/>
              </a:defRPr>
            </a:lvl7pPr>
            <a:lvl8pPr algn="l">
              <a:buNone/>
              <a:defRPr sz="1800" b="0">
                <a:solidFill>
                  <a:srgbClr val="64748B"/>
                </a:solidFill>
                <a:latin typeface="DejaVu Sans"/>
                <a:ea typeface="DejaVu Sans"/>
                <a:cs typeface="DejaVu Sans"/>
              </a:defRPr>
            </a:lvl8pPr>
            <a:lvl9pPr algn="l">
              <a:buNone/>
              <a:defRPr sz="1800" b="0">
                <a:solidFill>
                  <a:srgbClr val="64748B"/>
                </a:solidFill>
                <a:latin typeface="DejaVu Sans"/>
                <a:ea typeface="DejaVu Sans"/>
                <a:cs typeface="DejaVu Sans"/>
              </a:defRPr>
            </a:lvl9pPr>
          </a:lstStyle>
          <a:p xmlns:a="http://schemas.openxmlformats.org/drawingml/2006/main">
            <a:pPr algn="l">
              <a:buNone/>
              <a:defRPr sz="1800" b="0">
                <a:solidFill>
                  <a:srgbClr val="64748B"/>
                </a:solidFill>
                <a:latin typeface="DejaVu Sans"/>
                <a:ea typeface="DejaVu Sans"/>
                <a:cs typeface="DejaVu Sans"/>
              </a:defRPr>
            </a:pPr>
            <a:r>
              <a:rPr sz="1800" b="0">
                <a:solidFill>
                  <a:srgbClr val="64748B"/>
                </a:solidFill>
                <a:latin typeface="DejaVu Sans"/>
                <a:ea typeface="DejaVu Sans"/>
                <a:cs typeface="DejaVu Sans"/>
              </a:rPr>
              <a:t>Occasional shoppers already buy larger baskets when they shop.</a:t>
            </a:r>
          </a:p>
          <a:p xmlns:a="http://schemas.openxmlformats.org/drawingml/2006/main">
            <a:pPr algn="l">
              <a:buNone/>
              <a:defRPr sz="1800" b="0">
                <a:solidFill>
                  <a:srgbClr val="64748B"/>
                </a:solidFill>
                <a:latin typeface="DejaVu Sans"/>
                <a:ea typeface="DejaVu Sans"/>
                <a:cs typeface="DejaVu Sans"/>
              </a:defRPr>
            </a:pPr>
            <a:r>
              <a:rPr sz="1800" b="0">
                <a:solidFill>
                  <a:srgbClr val="64748B"/>
                </a:solidFill>
                <a:latin typeface="DejaVu Sans"/>
                <a:ea typeface="DejaVu Sans"/>
                <a:cs typeface="DejaVu Sans"/>
              </a:rPr>
              <a:t>Compare reminders with a control group to measure any change in visits.</a:t>
            </a:r>
          </a:p>
        </p:txBody>
      </p:sp>
      <p:sp>
        <p:nvSpPr>
          <p:cNvPr id="10" name="">
            <a:extLst xmlns:a="http://schemas.openxmlformats.org/drawingml/2006/main">
              <a:ext uri="{FF2B5EF4-FFF2-40B4-BE49-F238E27FC236}">
                <a16:creationId xmlns:a16="http://schemas.microsoft.com/office/drawing/2014/main" id="{3227E6ED-98F8-4858-B921-B8ECA40F7EFB}"/>
              </a:ext>
            </a:extLst>
          </p:cNvPr>
          <p:cNvSpPr>
            <a:spLocks xmlns:a="http://schemas.openxmlformats.org/drawingml/2006/main" noGrp="1"/>
          </p:cNvSpPr>
          <p:nvPr/>
        </p:nvSpPr>
        <p:spPr>
          <a:xfrm xmlns:a="http://schemas.openxmlformats.org/drawingml/2006/main">
            <a:off x="638175" y="4591050"/>
            <a:ext cx="7143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1">
                <a:solidFill>
                  <a:srgbClr val="0F9488"/>
                </a:solidFill>
                <a:latin typeface="DejaVu Sans"/>
                <a:ea typeface="DejaVu Sans"/>
                <a:cs typeface="DejaVu Sans"/>
              </a:defRPr>
            </a:defPPr>
            <a:lvl1pPr>
              <a:buNone/>
              <a:defRPr sz="3000" b="1">
                <a:solidFill>
                  <a:srgbClr val="0F9488"/>
                </a:solidFill>
                <a:latin typeface="DejaVu Sans"/>
                <a:ea typeface="DejaVu Sans"/>
                <a:cs typeface="DejaVu Sans"/>
              </a:defRPr>
            </a:lvl1pPr>
            <a:lvl2pPr>
              <a:buNone/>
              <a:defRPr sz="3000" b="1">
                <a:solidFill>
                  <a:srgbClr val="0F9488"/>
                </a:solidFill>
                <a:latin typeface="DejaVu Sans"/>
                <a:ea typeface="DejaVu Sans"/>
                <a:cs typeface="DejaVu Sans"/>
              </a:defRPr>
            </a:lvl2pPr>
            <a:lvl3pPr>
              <a:buNone/>
              <a:defRPr sz="3000" b="1">
                <a:solidFill>
                  <a:srgbClr val="0F9488"/>
                </a:solidFill>
                <a:latin typeface="DejaVu Sans"/>
                <a:ea typeface="DejaVu Sans"/>
                <a:cs typeface="DejaVu Sans"/>
              </a:defRPr>
            </a:lvl3pPr>
            <a:lvl4pPr>
              <a:buNone/>
              <a:defRPr sz="3000" b="1">
                <a:solidFill>
                  <a:srgbClr val="0F9488"/>
                </a:solidFill>
                <a:latin typeface="DejaVu Sans"/>
                <a:ea typeface="DejaVu Sans"/>
                <a:cs typeface="DejaVu Sans"/>
              </a:defRPr>
            </a:lvl4pPr>
            <a:lvl5pPr>
              <a:buNone/>
              <a:defRPr sz="3000" b="1">
                <a:solidFill>
                  <a:srgbClr val="0F9488"/>
                </a:solidFill>
                <a:latin typeface="DejaVu Sans"/>
                <a:ea typeface="DejaVu Sans"/>
                <a:cs typeface="DejaVu Sans"/>
              </a:defRPr>
            </a:lvl5pPr>
            <a:lvl6pPr>
              <a:buNone/>
              <a:defRPr sz="3000" b="1">
                <a:solidFill>
                  <a:srgbClr val="0F9488"/>
                </a:solidFill>
                <a:latin typeface="DejaVu Sans"/>
                <a:ea typeface="DejaVu Sans"/>
                <a:cs typeface="DejaVu Sans"/>
              </a:defRPr>
            </a:lvl6pPr>
            <a:lvl7pPr>
              <a:buNone/>
              <a:defRPr sz="3000" b="1">
                <a:solidFill>
                  <a:srgbClr val="0F9488"/>
                </a:solidFill>
                <a:latin typeface="DejaVu Sans"/>
                <a:ea typeface="DejaVu Sans"/>
                <a:cs typeface="DejaVu Sans"/>
              </a:defRPr>
            </a:lvl7pPr>
            <a:lvl8pPr>
              <a:buNone/>
              <a:defRPr sz="3000" b="1">
                <a:solidFill>
                  <a:srgbClr val="0F9488"/>
                </a:solidFill>
                <a:latin typeface="DejaVu Sans"/>
                <a:ea typeface="DejaVu Sans"/>
                <a:cs typeface="DejaVu Sans"/>
              </a:defRPr>
            </a:lvl8pPr>
            <a:lvl9pPr>
              <a:buNone/>
              <a:defRPr sz="3000" b="1">
                <a:solidFill>
                  <a:srgbClr val="0F9488"/>
                </a:solidFill>
                <a:latin typeface="DejaVu Sans"/>
                <a:ea typeface="DejaVu Sans"/>
                <a:cs typeface="DejaVu Sans"/>
              </a:defRPr>
            </a:lvl9pPr>
          </a:lstStyle>
          <a:p xmlns:a="http://schemas.openxmlformats.org/drawingml/2006/main">
            <a:pPr>
              <a:buNone/>
              <a:defRPr sz="3000" b="1">
                <a:solidFill>
                  <a:srgbClr val="0F9488"/>
                </a:solidFill>
                <a:latin typeface="DejaVu Sans"/>
                <a:ea typeface="DejaVu Sans"/>
                <a:cs typeface="DejaVu Sans"/>
              </a:defRPr>
            </a:pPr>
            <a:r>
              <a:rPr sz="3000" b="1">
                <a:solidFill>
                  <a:srgbClr val="0F9488"/>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6946C00D-453D-4F9F-97AC-A52341155A61}"/>
              </a:ext>
            </a:extLst>
          </p:cNvPr>
          <p:cNvSpPr>
            <a:spLocks xmlns:a="http://schemas.openxmlformats.org/drawingml/2006/main" noGrp="1"/>
          </p:cNvSpPr>
          <p:nvPr/>
        </p:nvSpPr>
        <p:spPr>
          <a:xfrm xmlns:a="http://schemas.openxmlformats.org/drawingml/2006/main">
            <a:off x="1619250" y="45910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7243B"/>
                </a:solidFill>
                <a:latin typeface="DejaVu Sans"/>
                <a:ea typeface="DejaVu Sans"/>
                <a:cs typeface="DejaVu Sans"/>
              </a:defRPr>
            </a:defPPr>
            <a:lvl1pPr algn="l">
              <a:buNone/>
              <a:defRPr sz="2250" b="1">
                <a:solidFill>
                  <a:srgbClr val="17243B"/>
                </a:solidFill>
                <a:latin typeface="DejaVu Sans"/>
                <a:ea typeface="DejaVu Sans"/>
                <a:cs typeface="DejaVu Sans"/>
              </a:defRPr>
            </a:lvl1pPr>
            <a:lvl2pPr algn="l">
              <a:buNone/>
              <a:defRPr sz="2250" b="1">
                <a:solidFill>
                  <a:srgbClr val="17243B"/>
                </a:solidFill>
                <a:latin typeface="DejaVu Sans"/>
                <a:ea typeface="DejaVu Sans"/>
                <a:cs typeface="DejaVu Sans"/>
              </a:defRPr>
            </a:lvl2pPr>
            <a:lvl3pPr algn="l">
              <a:buNone/>
              <a:defRPr sz="2250" b="1">
                <a:solidFill>
                  <a:srgbClr val="17243B"/>
                </a:solidFill>
                <a:latin typeface="DejaVu Sans"/>
                <a:ea typeface="DejaVu Sans"/>
                <a:cs typeface="DejaVu Sans"/>
              </a:defRPr>
            </a:lvl3pPr>
            <a:lvl4pPr algn="l">
              <a:buNone/>
              <a:defRPr sz="2250" b="1">
                <a:solidFill>
                  <a:srgbClr val="17243B"/>
                </a:solidFill>
                <a:latin typeface="DejaVu Sans"/>
                <a:ea typeface="DejaVu Sans"/>
                <a:cs typeface="DejaVu Sans"/>
              </a:defRPr>
            </a:lvl4pPr>
            <a:lvl5pPr algn="l">
              <a:buNone/>
              <a:defRPr sz="2250" b="1">
                <a:solidFill>
                  <a:srgbClr val="17243B"/>
                </a:solidFill>
                <a:latin typeface="DejaVu Sans"/>
                <a:ea typeface="DejaVu Sans"/>
                <a:cs typeface="DejaVu Sans"/>
              </a:defRPr>
            </a:lvl5pPr>
            <a:lvl6pPr algn="l">
              <a:buNone/>
              <a:defRPr sz="2250" b="1">
                <a:solidFill>
                  <a:srgbClr val="17243B"/>
                </a:solidFill>
                <a:latin typeface="DejaVu Sans"/>
                <a:ea typeface="DejaVu Sans"/>
                <a:cs typeface="DejaVu Sans"/>
              </a:defRPr>
            </a:lvl6pPr>
            <a:lvl7pPr algn="l">
              <a:buNone/>
              <a:defRPr sz="2250" b="1">
                <a:solidFill>
                  <a:srgbClr val="17243B"/>
                </a:solidFill>
                <a:latin typeface="DejaVu Sans"/>
                <a:ea typeface="DejaVu Sans"/>
                <a:cs typeface="DejaVu Sans"/>
              </a:defRPr>
            </a:lvl7pPr>
            <a:lvl8pPr algn="l">
              <a:buNone/>
              <a:defRPr sz="2250" b="1">
                <a:solidFill>
                  <a:srgbClr val="17243B"/>
                </a:solidFill>
                <a:latin typeface="DejaVu Sans"/>
                <a:ea typeface="DejaVu Sans"/>
                <a:cs typeface="DejaVu Sans"/>
              </a:defRPr>
            </a:lvl8pPr>
            <a:lvl9pPr algn="l">
              <a:buNone/>
              <a:defRPr sz="2250" b="1">
                <a:solidFill>
                  <a:srgbClr val="17243B"/>
                </a:solidFill>
                <a:latin typeface="DejaVu Sans"/>
                <a:ea typeface="DejaVu Sans"/>
                <a:cs typeface="DejaVu Sans"/>
              </a:defRPr>
            </a:lvl9pPr>
          </a:lstStyle>
          <a:p xmlns:a="http://schemas.openxmlformats.org/drawingml/2006/main">
            <a:pPr algn="l">
              <a:buNone/>
              <a:defRPr sz="2250" b="1">
                <a:solidFill>
                  <a:srgbClr val="17243B"/>
                </a:solidFill>
                <a:latin typeface="DejaVu Sans"/>
                <a:ea typeface="DejaVu Sans"/>
                <a:cs typeface="DejaVu Sans"/>
              </a:defRPr>
            </a:pPr>
            <a:r>
              <a:rPr sz="2250" b="1">
                <a:solidFill>
                  <a:srgbClr val="17243B"/>
                </a:solidFill>
                <a:latin typeface="DejaVu Sans"/>
                <a:ea typeface="DejaVu Sans"/>
                <a:cs typeface="DejaVu Sans"/>
              </a:rPr>
              <a:t>Promotion targeting needs category context</a:t>
            </a:r>
          </a:p>
        </p:txBody>
      </p:sp>
      <p:sp>
        <p:nvSpPr>
          <p:cNvPr id="12" name="">
            <a:extLst xmlns:a="http://schemas.openxmlformats.org/drawingml/2006/main">
              <a:ext uri="{FF2B5EF4-FFF2-40B4-BE49-F238E27FC236}">
                <a16:creationId xmlns:a16="http://schemas.microsoft.com/office/drawing/2014/main" id="{9E9E24EB-0A3D-4CFA-8318-B18200C43B2F}"/>
              </a:ext>
            </a:extLst>
          </p:cNvPr>
          <p:cNvSpPr>
            <a:spLocks xmlns:a="http://schemas.openxmlformats.org/drawingml/2006/main" noGrp="1"/>
          </p:cNvSpPr>
          <p:nvPr/>
        </p:nvSpPr>
        <p:spPr>
          <a:xfrm xmlns:a="http://schemas.openxmlformats.org/drawingml/2006/main">
            <a:off x="1619250" y="5086350"/>
            <a:ext cx="962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DejaVu Sans"/>
                <a:ea typeface="DejaVu Sans"/>
                <a:cs typeface="DejaVu Sans"/>
              </a:defRPr>
            </a:defPPr>
            <a:lvl1pPr algn="l">
              <a:buNone/>
              <a:defRPr sz="1800" b="0">
                <a:solidFill>
                  <a:srgbClr val="64748B"/>
                </a:solidFill>
                <a:latin typeface="DejaVu Sans"/>
                <a:ea typeface="DejaVu Sans"/>
                <a:cs typeface="DejaVu Sans"/>
              </a:defRPr>
            </a:lvl1pPr>
            <a:lvl2pPr algn="l">
              <a:buNone/>
              <a:defRPr sz="1800" b="0">
                <a:solidFill>
                  <a:srgbClr val="64748B"/>
                </a:solidFill>
                <a:latin typeface="DejaVu Sans"/>
                <a:ea typeface="DejaVu Sans"/>
                <a:cs typeface="DejaVu Sans"/>
              </a:defRPr>
            </a:lvl2pPr>
            <a:lvl3pPr algn="l">
              <a:buNone/>
              <a:defRPr sz="1800" b="0">
                <a:solidFill>
                  <a:srgbClr val="64748B"/>
                </a:solidFill>
                <a:latin typeface="DejaVu Sans"/>
                <a:ea typeface="DejaVu Sans"/>
                <a:cs typeface="DejaVu Sans"/>
              </a:defRPr>
            </a:lvl3pPr>
            <a:lvl4pPr algn="l">
              <a:buNone/>
              <a:defRPr sz="1800" b="0">
                <a:solidFill>
                  <a:srgbClr val="64748B"/>
                </a:solidFill>
                <a:latin typeface="DejaVu Sans"/>
                <a:ea typeface="DejaVu Sans"/>
                <a:cs typeface="DejaVu Sans"/>
              </a:defRPr>
            </a:lvl4pPr>
            <a:lvl5pPr algn="l">
              <a:buNone/>
              <a:defRPr sz="1800" b="0">
                <a:solidFill>
                  <a:srgbClr val="64748B"/>
                </a:solidFill>
                <a:latin typeface="DejaVu Sans"/>
                <a:ea typeface="DejaVu Sans"/>
                <a:cs typeface="DejaVu Sans"/>
              </a:defRPr>
            </a:lvl5pPr>
            <a:lvl6pPr algn="l">
              <a:buNone/>
              <a:defRPr sz="1800" b="0">
                <a:solidFill>
                  <a:srgbClr val="64748B"/>
                </a:solidFill>
                <a:latin typeface="DejaVu Sans"/>
                <a:ea typeface="DejaVu Sans"/>
                <a:cs typeface="DejaVu Sans"/>
              </a:defRPr>
            </a:lvl6pPr>
            <a:lvl7pPr algn="l">
              <a:buNone/>
              <a:defRPr sz="1800" b="0">
                <a:solidFill>
                  <a:srgbClr val="64748B"/>
                </a:solidFill>
                <a:latin typeface="DejaVu Sans"/>
                <a:ea typeface="DejaVu Sans"/>
                <a:cs typeface="DejaVu Sans"/>
              </a:defRPr>
            </a:lvl7pPr>
            <a:lvl8pPr algn="l">
              <a:buNone/>
              <a:defRPr sz="1800" b="0">
                <a:solidFill>
                  <a:srgbClr val="64748B"/>
                </a:solidFill>
                <a:latin typeface="DejaVu Sans"/>
                <a:ea typeface="DejaVu Sans"/>
                <a:cs typeface="DejaVu Sans"/>
              </a:defRPr>
            </a:lvl8pPr>
            <a:lvl9pPr algn="l">
              <a:buNone/>
              <a:defRPr sz="1800" b="0">
                <a:solidFill>
                  <a:srgbClr val="64748B"/>
                </a:solidFill>
                <a:latin typeface="DejaVu Sans"/>
                <a:ea typeface="DejaVu Sans"/>
                <a:cs typeface="DejaVu Sans"/>
              </a:defRPr>
            </a:lvl9pPr>
          </a:lstStyle>
          <a:p xmlns:a="http://schemas.openxmlformats.org/drawingml/2006/main">
            <a:pPr algn="l">
              <a:buNone/>
              <a:defRPr sz="1800" b="0">
                <a:solidFill>
                  <a:srgbClr val="64748B"/>
                </a:solidFill>
                <a:latin typeface="DejaVu Sans"/>
                <a:ea typeface="DejaVu Sans"/>
                <a:cs typeface="DejaVu Sans"/>
              </a:defRPr>
            </a:pPr>
            <a:r>
              <a:rPr sz="1800" b="0">
                <a:solidFill>
                  <a:srgbClr val="64748B"/>
                </a:solidFill>
                <a:latin typeface="DejaVu Sans"/>
                <a:ea typeface="DejaVu Sans"/>
                <a:cs typeface="DejaVu Sans"/>
              </a:rPr>
              <a:t>Promoted spending varies substantially between leading categories.</a:t>
            </a:r>
          </a:p>
          <a:p xmlns:a="http://schemas.openxmlformats.org/drawingml/2006/main">
            <a:pPr algn="l">
              <a:buNone/>
              <a:defRPr sz="1800" b="0">
                <a:solidFill>
                  <a:srgbClr val="64748B"/>
                </a:solidFill>
                <a:latin typeface="DejaVu Sans"/>
                <a:ea typeface="DejaVu Sans"/>
                <a:cs typeface="DejaVu Sans"/>
              </a:defRPr>
            </a:pPr>
            <a:r>
              <a:rPr sz="1800" b="0">
                <a:solidFill>
                  <a:srgbClr val="64748B"/>
                </a:solidFill>
                <a:latin typeface="DejaVu Sans"/>
                <a:ea typeface="DejaVu Sans"/>
                <a:cs typeface="DejaVu Sans"/>
              </a:rPr>
              <a:t>Control groups can show whether an offer changes repeat purchases.</a:t>
            </a:r>
          </a:p>
        </p:txBody>
      </p:sp>
    </p:spTree>
    <p:extLst>
      <p:ext uri="{BB962C8B-B14F-4D97-AF65-F5344CB8AC3E}">
        <p14:creationId xmlns:p14="http://schemas.microsoft.com/office/powerpoint/2010/main" val="8804131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A7546E-1BC5-45E6-B737-5C1CA9D9A816}"/>
              </a:ext>
            </a:extLst>
          </p:cNvPr>
          <p:cNvSpPr>
            <a:spLocks xmlns:a="http://schemas.openxmlformats.org/drawingml/2006/main" noGrp="1"/>
          </p:cNvSpPr>
          <p:nvPr/>
        </p:nvSpPr>
        <p:spPr>
          <a:xfrm xmlns:a="http://schemas.openxmlformats.org/drawingml/2006/main">
            <a:off x="609600" y="457200"/>
            <a:ext cx="1095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225" b="1">
                <a:solidFill>
                  <a:srgbClr val="17243B"/>
                </a:solidFill>
                <a:latin typeface="DejaVu Sans"/>
                <a:ea typeface="DejaVu Sans"/>
                <a:cs typeface="DejaVu Sans"/>
              </a:defRPr>
            </a:defPPr>
            <a:lvl1pPr>
              <a:buNone/>
              <a:defRPr sz="3225" b="1">
                <a:solidFill>
                  <a:srgbClr val="17243B"/>
                </a:solidFill>
                <a:latin typeface="DejaVu Sans"/>
                <a:ea typeface="DejaVu Sans"/>
                <a:cs typeface="DejaVu Sans"/>
              </a:defRPr>
            </a:lvl1pPr>
            <a:lvl2pPr>
              <a:buNone/>
              <a:defRPr sz="3225" b="1">
                <a:solidFill>
                  <a:srgbClr val="17243B"/>
                </a:solidFill>
                <a:latin typeface="DejaVu Sans"/>
                <a:ea typeface="DejaVu Sans"/>
                <a:cs typeface="DejaVu Sans"/>
              </a:defRPr>
            </a:lvl2pPr>
            <a:lvl3pPr>
              <a:buNone/>
              <a:defRPr sz="3225" b="1">
                <a:solidFill>
                  <a:srgbClr val="17243B"/>
                </a:solidFill>
                <a:latin typeface="DejaVu Sans"/>
                <a:ea typeface="DejaVu Sans"/>
                <a:cs typeface="DejaVu Sans"/>
              </a:defRPr>
            </a:lvl3pPr>
            <a:lvl4pPr>
              <a:buNone/>
              <a:defRPr sz="3225" b="1">
                <a:solidFill>
                  <a:srgbClr val="17243B"/>
                </a:solidFill>
                <a:latin typeface="DejaVu Sans"/>
                <a:ea typeface="DejaVu Sans"/>
                <a:cs typeface="DejaVu Sans"/>
              </a:defRPr>
            </a:lvl4pPr>
            <a:lvl5pPr>
              <a:buNone/>
              <a:defRPr sz="3225" b="1">
                <a:solidFill>
                  <a:srgbClr val="17243B"/>
                </a:solidFill>
                <a:latin typeface="DejaVu Sans"/>
                <a:ea typeface="DejaVu Sans"/>
                <a:cs typeface="DejaVu Sans"/>
              </a:defRPr>
            </a:lvl5pPr>
            <a:lvl6pPr>
              <a:buNone/>
              <a:defRPr sz="3225" b="1">
                <a:solidFill>
                  <a:srgbClr val="17243B"/>
                </a:solidFill>
                <a:latin typeface="DejaVu Sans"/>
                <a:ea typeface="DejaVu Sans"/>
                <a:cs typeface="DejaVu Sans"/>
              </a:defRPr>
            </a:lvl6pPr>
            <a:lvl7pPr>
              <a:buNone/>
              <a:defRPr sz="3225" b="1">
                <a:solidFill>
                  <a:srgbClr val="17243B"/>
                </a:solidFill>
                <a:latin typeface="DejaVu Sans"/>
                <a:ea typeface="DejaVu Sans"/>
                <a:cs typeface="DejaVu Sans"/>
              </a:defRPr>
            </a:lvl7pPr>
            <a:lvl8pPr>
              <a:buNone/>
              <a:defRPr sz="3225" b="1">
                <a:solidFill>
                  <a:srgbClr val="17243B"/>
                </a:solidFill>
                <a:latin typeface="DejaVu Sans"/>
                <a:ea typeface="DejaVu Sans"/>
                <a:cs typeface="DejaVu Sans"/>
              </a:defRPr>
            </a:lvl8pPr>
            <a:lvl9pPr>
              <a:buNone/>
              <a:defRPr sz="3225" b="1">
                <a:solidFill>
                  <a:srgbClr val="17243B"/>
                </a:solidFill>
                <a:latin typeface="DejaVu Sans"/>
                <a:ea typeface="DejaVu Sans"/>
                <a:cs typeface="DejaVu Sans"/>
              </a:defRPr>
            </a:lvl9pPr>
          </a:lstStyle>
          <a:p xmlns:a="http://schemas.openxmlformats.org/drawingml/2006/main">
            <a:pPr>
              <a:buNone/>
              <a:defRPr sz="3225" b="1">
                <a:solidFill>
                  <a:srgbClr val="17243B"/>
                </a:solidFill>
                <a:latin typeface="DejaVu Sans"/>
                <a:ea typeface="DejaVu Sans"/>
                <a:cs typeface="DejaVu Sans"/>
              </a:defRPr>
            </a:pPr>
            <a:r>
              <a:rPr sz="3225" b="1">
                <a:solidFill>
                  <a:srgbClr val="17243B"/>
                </a:solidFill>
                <a:latin typeface="DejaVu Sans"/>
                <a:ea typeface="DejaVu Sans"/>
                <a:cs typeface="DejaVu Sans"/>
              </a:rPr>
              <a:t>Recommended actions and measurement</a:t>
            </a:r>
          </a:p>
        </p:txBody>
      </p:sp>
      <p:sp>
        <p:nvSpPr>
          <p:cNvPr id="2" name="">
            <a:extLst xmlns:a="http://schemas.openxmlformats.org/drawingml/2006/main">
              <a:ext uri="{FF2B5EF4-FFF2-40B4-BE49-F238E27FC236}">
                <a16:creationId xmlns:a16="http://schemas.microsoft.com/office/drawing/2014/main" id="{35D6CD02-4BD7-437D-993F-F82410C59205}"/>
              </a:ext>
            </a:extLst>
          </p:cNvPr>
          <p:cNvSpPr>
            <a:spLocks xmlns:a="http://schemas.openxmlformats.org/drawingml/2006/main" noGrp="1"/>
          </p:cNvSpPr>
          <p:nvPr/>
        </p:nvSpPr>
        <p:spPr>
          <a:xfrm xmlns:a="http://schemas.openxmlformats.org/drawingml/2006/main">
            <a:off x="609600" y="6429375"/>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050" b="0">
                <a:solidFill>
                  <a:srgbClr val="64748B"/>
                </a:solidFill>
                <a:latin typeface="DejaVu Sans"/>
                <a:ea typeface="DejaVu Sans"/>
                <a:cs typeface="DejaVu Sans"/>
              </a:defRPr>
            </a:defPPr>
            <a:lvl1pPr>
              <a:buNone/>
              <a:defRPr sz="1050" b="0">
                <a:solidFill>
                  <a:srgbClr val="64748B"/>
                </a:solidFill>
                <a:latin typeface="DejaVu Sans"/>
                <a:ea typeface="DejaVu Sans"/>
                <a:cs typeface="DejaVu Sans"/>
              </a:defRPr>
            </a:lvl1pPr>
            <a:lvl2pPr>
              <a:buNone/>
              <a:defRPr sz="1050" b="0">
                <a:solidFill>
                  <a:srgbClr val="64748B"/>
                </a:solidFill>
                <a:latin typeface="DejaVu Sans"/>
                <a:ea typeface="DejaVu Sans"/>
                <a:cs typeface="DejaVu Sans"/>
              </a:defRPr>
            </a:lvl2pPr>
            <a:lvl3pPr>
              <a:buNone/>
              <a:defRPr sz="1050" b="0">
                <a:solidFill>
                  <a:srgbClr val="64748B"/>
                </a:solidFill>
                <a:latin typeface="DejaVu Sans"/>
                <a:ea typeface="DejaVu Sans"/>
                <a:cs typeface="DejaVu Sans"/>
              </a:defRPr>
            </a:lvl3pPr>
            <a:lvl4pPr>
              <a:buNone/>
              <a:defRPr sz="1050" b="0">
                <a:solidFill>
                  <a:srgbClr val="64748B"/>
                </a:solidFill>
                <a:latin typeface="DejaVu Sans"/>
                <a:ea typeface="DejaVu Sans"/>
                <a:cs typeface="DejaVu Sans"/>
              </a:defRPr>
            </a:lvl4pPr>
            <a:lvl5pPr>
              <a:buNone/>
              <a:defRPr sz="1050" b="0">
                <a:solidFill>
                  <a:srgbClr val="64748B"/>
                </a:solidFill>
                <a:latin typeface="DejaVu Sans"/>
                <a:ea typeface="DejaVu Sans"/>
                <a:cs typeface="DejaVu Sans"/>
              </a:defRPr>
            </a:lvl5pPr>
            <a:lvl6pPr>
              <a:buNone/>
              <a:defRPr sz="1050" b="0">
                <a:solidFill>
                  <a:srgbClr val="64748B"/>
                </a:solidFill>
                <a:latin typeface="DejaVu Sans"/>
                <a:ea typeface="DejaVu Sans"/>
                <a:cs typeface="DejaVu Sans"/>
              </a:defRPr>
            </a:lvl6pPr>
            <a:lvl7pPr>
              <a:buNone/>
              <a:defRPr sz="1050" b="0">
                <a:solidFill>
                  <a:srgbClr val="64748B"/>
                </a:solidFill>
                <a:latin typeface="DejaVu Sans"/>
                <a:ea typeface="DejaVu Sans"/>
                <a:cs typeface="DejaVu Sans"/>
              </a:defRPr>
            </a:lvl7pPr>
            <a:lvl8pPr>
              <a:buNone/>
              <a:defRPr sz="1050" b="0">
                <a:solidFill>
                  <a:srgbClr val="64748B"/>
                </a:solidFill>
                <a:latin typeface="DejaVu Sans"/>
                <a:ea typeface="DejaVu Sans"/>
                <a:cs typeface="DejaVu Sans"/>
              </a:defRPr>
            </a:lvl8pPr>
            <a:lvl9pPr>
              <a:buNone/>
              <a:defRPr sz="1050" b="0">
                <a:solidFill>
                  <a:srgbClr val="64748B"/>
                </a:solidFill>
                <a:latin typeface="DejaVu Sans"/>
                <a:ea typeface="DejaVu Sans"/>
                <a:cs typeface="DejaVu Sans"/>
              </a:defRPr>
            </a:lvl9pPr>
          </a:lstStyle>
          <a:p xmlns:a="http://schemas.openxmlformats.org/drawingml/2006/main">
            <a:pPr>
              <a:buNone/>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FMCG Consumer Growth &amp; Promotion Insights</a:t>
            </a:r>
          </a:p>
        </p:txBody>
      </p:sp>
      <p:sp>
        <p:nvSpPr>
          <p:cNvPr id="3" name="">
            <a:extLst xmlns:a="http://schemas.openxmlformats.org/drawingml/2006/main">
              <a:ext uri="{FF2B5EF4-FFF2-40B4-BE49-F238E27FC236}">
                <a16:creationId xmlns:a16="http://schemas.microsoft.com/office/drawing/2014/main" id="{0C654D2D-D8D7-46AA-9B54-FB4EC7C82AEF}"/>
              </a:ext>
            </a:extLst>
          </p:cNvPr>
          <p:cNvSpPr>
            <a:spLocks xmlns:a="http://schemas.openxmlformats.org/drawingml/2006/main" noGrp="1"/>
          </p:cNvSpPr>
          <p:nvPr/>
        </p:nvSpPr>
        <p:spPr>
          <a:xfrm xmlns:a="http://schemas.openxmlformats.org/drawingml/2006/main">
            <a:off x="11049000" y="64198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DejaVu Sans"/>
                <a:ea typeface="DejaVu Sans"/>
                <a:cs typeface="DejaVu Sans"/>
              </a:defRPr>
            </a:defPPr>
            <a:lvl1pPr algn="l">
              <a:buNone/>
              <a:defRPr sz="1200" b="0">
                <a:solidFill>
                  <a:srgbClr val="64748B"/>
                </a:solidFill>
                <a:latin typeface="DejaVu Sans"/>
                <a:ea typeface="DejaVu Sans"/>
                <a:cs typeface="DejaVu Sans"/>
              </a:defRPr>
            </a:lvl1pPr>
            <a:lvl2pPr algn="l">
              <a:buNone/>
              <a:defRPr sz="1200" b="0">
                <a:solidFill>
                  <a:srgbClr val="64748B"/>
                </a:solidFill>
                <a:latin typeface="DejaVu Sans"/>
                <a:ea typeface="DejaVu Sans"/>
                <a:cs typeface="DejaVu Sans"/>
              </a:defRPr>
            </a:lvl2pPr>
            <a:lvl3pPr algn="l">
              <a:buNone/>
              <a:defRPr sz="1200" b="0">
                <a:solidFill>
                  <a:srgbClr val="64748B"/>
                </a:solidFill>
                <a:latin typeface="DejaVu Sans"/>
                <a:ea typeface="DejaVu Sans"/>
                <a:cs typeface="DejaVu Sans"/>
              </a:defRPr>
            </a:lvl3pPr>
            <a:lvl4pPr algn="l">
              <a:buNone/>
              <a:defRPr sz="1200" b="0">
                <a:solidFill>
                  <a:srgbClr val="64748B"/>
                </a:solidFill>
                <a:latin typeface="DejaVu Sans"/>
                <a:ea typeface="DejaVu Sans"/>
                <a:cs typeface="DejaVu Sans"/>
              </a:defRPr>
            </a:lvl4pPr>
            <a:lvl5pPr algn="l">
              <a:buNone/>
              <a:defRPr sz="1200" b="0">
                <a:solidFill>
                  <a:srgbClr val="64748B"/>
                </a:solidFill>
                <a:latin typeface="DejaVu Sans"/>
                <a:ea typeface="DejaVu Sans"/>
                <a:cs typeface="DejaVu Sans"/>
              </a:defRPr>
            </a:lvl5pPr>
            <a:lvl6pPr algn="l">
              <a:buNone/>
              <a:defRPr sz="1200" b="0">
                <a:solidFill>
                  <a:srgbClr val="64748B"/>
                </a:solidFill>
                <a:latin typeface="DejaVu Sans"/>
                <a:ea typeface="DejaVu Sans"/>
                <a:cs typeface="DejaVu Sans"/>
              </a:defRPr>
            </a:lvl6pPr>
            <a:lvl7pPr algn="l">
              <a:buNone/>
              <a:defRPr sz="1200" b="0">
                <a:solidFill>
                  <a:srgbClr val="64748B"/>
                </a:solidFill>
                <a:latin typeface="DejaVu Sans"/>
                <a:ea typeface="DejaVu Sans"/>
                <a:cs typeface="DejaVu Sans"/>
              </a:defRPr>
            </a:lvl7pPr>
            <a:lvl8pPr algn="l">
              <a:buNone/>
              <a:defRPr sz="1200" b="0">
                <a:solidFill>
                  <a:srgbClr val="64748B"/>
                </a:solidFill>
                <a:latin typeface="DejaVu Sans"/>
                <a:ea typeface="DejaVu Sans"/>
                <a:cs typeface="DejaVu Sans"/>
              </a:defRPr>
            </a:lvl8pPr>
            <a:lvl9pPr algn="l">
              <a:buNone/>
              <a:defRPr sz="1200" b="0">
                <a:solidFill>
                  <a:srgbClr val="64748B"/>
                </a:solidFill>
                <a:latin typeface="DejaVu Sans"/>
                <a:ea typeface="DejaVu Sans"/>
                <a:cs typeface="DejaVu Sans"/>
              </a:defRPr>
            </a:lvl9pPr>
          </a:lstStyle>
          <a:p xmlns:a="http://schemas.openxmlformats.org/drawingml/2006/main">
            <a:pPr algn="l">
              <a:buNone/>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12</a:t>
            </a:r>
          </a:p>
        </p:txBody>
      </p:sp>
      <p:graphicFrame>
        <p:nvGraphicFramePr>
          <p:cNvPr id="4" name="">
            <a:extLst xmlns:a="http://schemas.openxmlformats.org/drawingml/2006/main">
              <a:ext uri="{FF2B5EF4-FFF2-40B4-BE49-F238E27FC236}">
                <a16:creationId xmlns:a16="http://schemas.microsoft.com/office/drawing/2014/main" id="{3F0AF565-3C81-4B96-8F90-4C8427F431F2}"/>
              </a:ext>
            </a:extLst>
          </p:cNvPr>
          <p:cNvGraphicFramePr/>
          <p:nvPr/>
        </p:nvGraphicFramePr>
        <p:xfrm>
          <a:off xmlns:a="http://schemas.openxmlformats.org/drawingml/2006/main" x="609600" y="1524000"/>
          <a:ext xmlns:a="http://schemas.openxmlformats.org/drawingml/2006/main" cx="10972800" cy="4343400"/>
        </p:xfrm>
        <a:graphic xmlns:a="http://schemas.openxmlformats.org/drawingml/2006/main">
          <a:graphicData uri="http://schemas.openxmlformats.org/drawingml/2006/table">
            <a:tbl>
              <a:tblPr/>
              <a:tblGrid>
                <a:gridCol w="4572000"/>
                <a:gridCol w="3048000"/>
                <a:gridCol w="3352800"/>
              </a:tblGrid>
              <a:tr h="514350">
                <a:tc>
                  <a:txBody>
                    <a:bodyPr wrap="square" lIns="152400" tIns="114300" rIns="152400" bIns="114300">
                      <a:noAutofit/>
                    </a:bodyPr>
                    <a:lstStyle/>
                    <a:p>
                      <a:r>
                        <a:rPr sz="1500" b="1">
                          <a:solidFill>
                            <a:srgbClr val="FFFFFF"/>
                          </a:solidFill>
                          <a:latin typeface="DejaVu Sans"/>
                          <a:ea typeface="DejaVu Sans"/>
                          <a:cs typeface="DejaVu Sans"/>
                        </a:rPr>
                        <a:t>Action and target</a:t>
                      </a:r>
                    </a:p>
                  </a:txBody>
                  <a:tcPr marL="152400" marR="152400" marT="133350" marB="133350" anchor="ctr">
                    <a:lnL w="4763">
                      <a:solidFill>
                        <a:srgbClr val="DFE6EF"/>
                      </a:solidFill>
                      <a:prstDash val="solid"/>
                    </a:lnL>
                    <a:lnR w="4763">
                      <a:solidFill>
                        <a:srgbClr val="DFE6EF"/>
                      </a:solidFill>
                      <a:prstDash val="solid"/>
                    </a:lnR>
                    <a:lnT w="4763">
                      <a:solidFill>
                        <a:srgbClr val="DFE6EF"/>
                      </a:solidFill>
                      <a:prstDash val="solid"/>
                    </a:lnT>
                    <a:lnB w="4763">
                      <a:solidFill>
                        <a:srgbClr val="DFE6EF"/>
                      </a:solidFill>
                      <a:prstDash val="solid"/>
                    </a:lnB>
                    <a:solidFill>
                      <a:srgbClr val="17243B"/>
                    </a:solidFill>
                  </a:tcPr>
                </a:tc>
                <a:tc>
                  <a:txBody>
                    <a:bodyPr wrap="square" lIns="152400" tIns="114300" rIns="152400" bIns="114300">
                      <a:noAutofit/>
                    </a:bodyPr>
                    <a:lstStyle/>
                    <a:p>
                      <a:r>
                        <a:rPr sz="1500" b="1">
                          <a:solidFill>
                            <a:srgbClr val="FFFFFF"/>
                          </a:solidFill>
                          <a:latin typeface="DejaVu Sans"/>
                          <a:ea typeface="DejaVu Sans"/>
                          <a:cs typeface="DejaVu Sans"/>
                        </a:rPr>
                        <a:t>Evidence</a:t>
                      </a:r>
                    </a:p>
                  </a:txBody>
                  <a:tcPr marL="152400" marR="152400" marT="133350" marB="133350" anchor="ctr">
                    <a:lnR w="4763">
                      <a:solidFill>
                        <a:srgbClr val="DFE6EF"/>
                      </a:solidFill>
                      <a:prstDash val="solid"/>
                    </a:lnR>
                    <a:lnT w="4763">
                      <a:solidFill>
                        <a:srgbClr val="DFE6EF"/>
                      </a:solidFill>
                      <a:prstDash val="solid"/>
                    </a:lnT>
                    <a:lnB w="4763">
                      <a:solidFill>
                        <a:srgbClr val="DFE6EF"/>
                      </a:solidFill>
                      <a:prstDash val="solid"/>
                    </a:lnB>
                    <a:solidFill>
                      <a:srgbClr val="17243B"/>
                    </a:solidFill>
                  </a:tcPr>
                </a:tc>
                <a:tc>
                  <a:txBody>
                    <a:bodyPr wrap="square" lIns="152400" tIns="114300" rIns="152400" bIns="114300">
                      <a:noAutofit/>
                    </a:bodyPr>
                    <a:lstStyle/>
                    <a:p>
                      <a:r>
                        <a:rPr sz="1500" b="1">
                          <a:solidFill>
                            <a:srgbClr val="FFFFFF"/>
                          </a:solidFill>
                          <a:latin typeface="DejaVu Sans"/>
                          <a:ea typeface="DejaVu Sans"/>
                          <a:cs typeface="DejaVu Sans"/>
                        </a:rPr>
                        <a:t>Success measure</a:t>
                      </a:r>
                    </a:p>
                  </a:txBody>
                  <a:tcPr marL="152400" marR="152400" marT="133350" marB="133350" anchor="ctr">
                    <a:lnR w="4763">
                      <a:solidFill>
                        <a:srgbClr val="DFE6EF"/>
                      </a:solidFill>
                      <a:prstDash val="solid"/>
                    </a:lnR>
                    <a:lnT w="4763">
                      <a:solidFill>
                        <a:srgbClr val="DFE6EF"/>
                      </a:solidFill>
                      <a:prstDash val="solid"/>
                    </a:lnT>
                    <a:lnB w="4763">
                      <a:solidFill>
                        <a:srgbClr val="DFE6EF"/>
                      </a:solidFill>
                      <a:prstDash val="solid"/>
                    </a:lnB>
                    <a:solidFill>
                      <a:srgbClr val="17243B"/>
                    </a:solidFill>
                  </a:tcPr>
                </a:tc>
              </a:tr>
              <a:tr h="1276350">
                <a:tc>
                  <a:txBody>
                    <a:bodyPr wrap="square" lIns="152400" tIns="114300" rIns="152400" bIns="114300">
                      <a:noAutofit/>
                    </a:bodyPr>
                    <a:lstStyle/>
                    <a:p>
                      <a:r>
                        <a:rPr sz="1650" b="0">
                          <a:solidFill>
                            <a:srgbClr val="17243B"/>
                          </a:solidFill>
                          <a:latin typeface="DejaVu Sans"/>
                          <a:ea typeface="DejaVu Sans"/>
                          <a:cs typeface="DejaVu Sans"/>
                        </a:rPr>
                        <a:t>Retention reminders</a:t>
                      </a:r>
                    </a:p>
                    <a:p>
                      <a:r>
                        <a:rPr sz="1650" b="0">
                          <a:solidFill>
                            <a:srgbClr val="17243B"/>
                          </a:solidFill>
                          <a:latin typeface="DejaVu Sans"/>
                          <a:ea typeface="DejaVu Sans"/>
                          <a:cs typeface="DejaVu Sans"/>
                        </a:rPr>
                        <a:t>High-Value Frequent</a:t>
                      </a:r>
                    </a:p>
                    <a:p>
                      <a:r>
                        <a:rPr sz="1650" b="0">
                          <a:solidFill>
                            <a:srgbClr val="17243B"/>
                          </a:solidFill>
                          <a:latin typeface="DejaVu Sans"/>
                          <a:ea typeface="DejaVu Sans"/>
                          <a:cs typeface="DejaVu Sans"/>
                        </a:rPr>
                        <a:t>Relevant categories after inactivity.</a:t>
                      </a:r>
                    </a:p>
                  </a:txBody>
                  <a:tcPr marL="152400" marR="152400" marT="133350" marB="133350" anchor="ctr">
                    <a:lnL w="4763">
                      <a:solidFill>
                        <a:srgbClr val="DFE6EF"/>
                      </a:solidFill>
                      <a:prstDash val="solid"/>
                    </a:lnL>
                    <a:lnR w="4763">
                      <a:solidFill>
                        <a:srgbClr val="DFE6EF"/>
                      </a:solidFill>
                      <a:prstDash val="solid"/>
                    </a:lnR>
                    <a:lnB w="4763">
                      <a:solidFill>
                        <a:srgbClr val="DFE6EF"/>
                      </a:solidFill>
                      <a:prstDash val="solid"/>
                    </a:lnB>
                    <a:solidFill>
                      <a:srgbClr val="FFFFFF"/>
                    </a:solidFill>
                  </a:tcPr>
                </a:tc>
                <a:tc>
                  <a:txBody>
                    <a:bodyPr wrap="square" lIns="152400" tIns="114300" rIns="152400" bIns="114300">
                      <a:noAutofit/>
                    </a:bodyPr>
                    <a:lstStyle/>
                    <a:p>
                      <a:r>
                        <a:rPr sz="1650" b="0">
                          <a:solidFill>
                            <a:srgbClr val="17243B"/>
                          </a:solidFill>
                          <a:latin typeface="DejaVu Sans"/>
                          <a:ea typeface="DejaVu Sans"/>
                          <a:cs typeface="DejaVu Sans"/>
                        </a:rPr>
                        <a:t>40.28% of customers</a:t>
                      </a:r>
                    </a:p>
                    <a:p>
                      <a:r>
                        <a:rPr sz="1650" b="0">
                          <a:solidFill>
                            <a:srgbClr val="17243B"/>
                          </a:solidFill>
                          <a:latin typeface="DejaVu Sans"/>
                          <a:ea typeface="DejaVu Sans"/>
                          <a:cs typeface="DejaVu Sans"/>
                        </a:rPr>
                        <a:t>73.52% of sales</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c>
                  <a:txBody>
                    <a:bodyPr wrap="square" lIns="152400" tIns="114300" rIns="152400" bIns="114300">
                      <a:noAutofit/>
                    </a:bodyPr>
                    <a:lstStyle/>
                    <a:p>
                      <a:r>
                        <a:rPr sz="1650" b="0">
                          <a:solidFill>
                            <a:srgbClr val="17243B"/>
                          </a:solidFill>
                          <a:latin typeface="DejaVu Sans"/>
                          <a:ea typeface="DejaVu Sans"/>
                          <a:cs typeface="DejaVu Sans"/>
                        </a:rPr>
                        <a:t>90-day repeat purchase</a:t>
                      </a:r>
                    </a:p>
                    <a:p>
                      <a:r>
                        <a:rPr sz="1650" b="0">
                          <a:solidFill>
                            <a:srgbClr val="17243B"/>
                          </a:solidFill>
                          <a:latin typeface="DejaVu Sans"/>
                          <a:ea typeface="DejaVu Sans"/>
                          <a:cs typeface="DejaVu Sans"/>
                        </a:rPr>
                        <a:t>versus a control group</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r>
              <a:tr h="1276350">
                <a:tc>
                  <a:txBody>
                    <a:bodyPr wrap="square" lIns="152400" tIns="114300" rIns="152400" bIns="114300">
                      <a:noAutofit/>
                    </a:bodyPr>
                    <a:lstStyle/>
                    <a:p>
                      <a:r>
                        <a:rPr sz="1650" b="0">
                          <a:solidFill>
                            <a:srgbClr val="17243B"/>
                          </a:solidFill>
                          <a:latin typeface="DejaVu Sans"/>
                          <a:ea typeface="DejaVu Sans"/>
                          <a:cs typeface="DejaVu Sans"/>
                        </a:rPr>
                        <a:t>Repeat-visit test</a:t>
                      </a:r>
                    </a:p>
                    <a:p>
                      <a:r>
                        <a:rPr sz="1650" b="0">
                          <a:solidFill>
                            <a:srgbClr val="17243B"/>
                          </a:solidFill>
                          <a:latin typeface="DejaVu Sans"/>
                          <a:ea typeface="DejaVu Sans"/>
                          <a:cs typeface="DejaVu Sans"/>
                        </a:rPr>
                        <a:t>Large-Basket Occasional</a:t>
                      </a:r>
                    </a:p>
                    <a:p>
                      <a:r>
                        <a:rPr sz="1650" b="0">
                          <a:solidFill>
                            <a:srgbClr val="17243B"/>
                          </a:solidFill>
                          <a:latin typeface="DejaVu Sans"/>
                          <a:ea typeface="DejaVu Sans"/>
                          <a:cs typeface="DejaVu Sans"/>
                        </a:rPr>
                        <a:t>Replenishment and next-visit offers.</a:t>
                      </a:r>
                    </a:p>
                  </a:txBody>
                  <a:tcPr marL="152400" marR="152400" marT="133350" marB="133350" anchor="ctr">
                    <a:lnL w="4763">
                      <a:solidFill>
                        <a:srgbClr val="DFE6EF"/>
                      </a:solidFill>
                      <a:prstDash val="solid"/>
                    </a:lnL>
                    <a:lnR w="4763">
                      <a:solidFill>
                        <a:srgbClr val="DFE6EF"/>
                      </a:solidFill>
                      <a:prstDash val="solid"/>
                    </a:lnR>
                    <a:lnB w="4763">
                      <a:solidFill>
                        <a:srgbClr val="DFE6EF"/>
                      </a:solidFill>
                      <a:prstDash val="solid"/>
                    </a:lnB>
                    <a:solidFill>
                      <a:srgbClr val="FFFFFF"/>
                    </a:solidFill>
                  </a:tcPr>
                </a:tc>
                <a:tc>
                  <a:txBody>
                    <a:bodyPr wrap="square" lIns="152400" tIns="114300" rIns="152400" bIns="114300">
                      <a:noAutofit/>
                    </a:bodyPr>
                    <a:lstStyle/>
                    <a:p>
                      <a:r>
                        <a:rPr sz="1650" b="0">
                          <a:solidFill>
                            <a:srgbClr val="17243B"/>
                          </a:solidFill>
                          <a:latin typeface="DejaVu Sans"/>
                          <a:ea typeface="DejaVu Sans"/>
                          <a:cs typeface="DejaVu Sans"/>
                        </a:rPr>
                        <a:t>$40.07 mean basket</a:t>
                      </a:r>
                    </a:p>
                    <a:p>
                      <a:r>
                        <a:rPr sz="1650" b="0">
                          <a:solidFill>
                            <a:srgbClr val="17243B"/>
                          </a:solidFill>
                          <a:latin typeface="DejaVu Sans"/>
                          <a:ea typeface="DejaVu Sans"/>
                          <a:cs typeface="DejaVu Sans"/>
                        </a:rPr>
                        <a:t>2.94 visits / active month</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c>
                  <a:txBody>
                    <a:bodyPr wrap="square" lIns="152400" tIns="114300" rIns="152400" bIns="114300">
                      <a:noAutofit/>
                    </a:bodyPr>
                    <a:lstStyle/>
                    <a:p>
                      <a:r>
                        <a:rPr sz="1650" b="0">
                          <a:solidFill>
                            <a:srgbClr val="17243B"/>
                          </a:solidFill>
                          <a:latin typeface="DejaVu Sans"/>
                          <a:ea typeface="DejaVu Sans"/>
                          <a:cs typeface="DejaVu Sans"/>
                        </a:rPr>
                        <a:t>Baskets per active month</a:t>
                      </a:r>
                    </a:p>
                    <a:p>
                      <a:r>
                        <a:rPr sz="1650" b="0">
                          <a:solidFill>
                            <a:srgbClr val="17243B"/>
                          </a:solidFill>
                          <a:latin typeface="DejaVu Sans"/>
                          <a:ea typeface="DejaVu Sans"/>
                          <a:cs typeface="DejaVu Sans"/>
                        </a:rPr>
                        <a:t>and days to next purchase</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r>
              <a:tr h="1276350">
                <a:tc>
                  <a:txBody>
                    <a:bodyPr wrap="square" lIns="152400" tIns="114300" rIns="152400" bIns="114300">
                      <a:noAutofit/>
                    </a:bodyPr>
                    <a:lstStyle/>
                    <a:p>
                      <a:r>
                        <a:rPr sz="1650" b="0">
                          <a:solidFill>
                            <a:srgbClr val="17243B"/>
                          </a:solidFill>
                          <a:latin typeface="DejaVu Sans"/>
                          <a:ea typeface="DejaVu Sans"/>
                          <a:cs typeface="DejaVu Sans"/>
                        </a:rPr>
                        <a:t>Category offer test</a:t>
                      </a:r>
                    </a:p>
                    <a:p>
                      <a:r>
                        <a:rPr sz="1650" b="0">
                          <a:solidFill>
                            <a:srgbClr val="17243B"/>
                          </a:solidFill>
                          <a:latin typeface="DejaVu Sans"/>
                          <a:ea typeface="DejaVu Sans"/>
                          <a:cs typeface="DejaVu Sans"/>
                        </a:rPr>
                        <a:t>Large-Basket Occasional</a:t>
                      </a:r>
                    </a:p>
                    <a:p>
                      <a:r>
                        <a:rPr sz="1650" b="0">
                          <a:solidFill>
                            <a:srgbClr val="17243B"/>
                          </a:solidFill>
                          <a:latin typeface="DejaVu Sans"/>
                          <a:ea typeface="DejaVu Sans"/>
                          <a:cs typeface="DejaVu Sans"/>
                        </a:rPr>
                        <a:t>Offers in relevant categories.</a:t>
                      </a:r>
                    </a:p>
                  </a:txBody>
                  <a:tcPr marL="152400" marR="152400" marT="133350" marB="133350" anchor="ctr">
                    <a:lnL w="4763">
                      <a:solidFill>
                        <a:srgbClr val="DFE6EF"/>
                      </a:solidFill>
                      <a:prstDash val="solid"/>
                    </a:lnL>
                    <a:lnR w="4763">
                      <a:solidFill>
                        <a:srgbClr val="DFE6EF"/>
                      </a:solidFill>
                      <a:prstDash val="solid"/>
                    </a:lnR>
                    <a:lnB w="4763">
                      <a:solidFill>
                        <a:srgbClr val="DFE6EF"/>
                      </a:solidFill>
                      <a:prstDash val="solid"/>
                    </a:lnB>
                    <a:solidFill>
                      <a:srgbClr val="FFFFFF"/>
                    </a:solidFill>
                  </a:tcPr>
                </a:tc>
                <a:tc>
                  <a:txBody>
                    <a:bodyPr wrap="square" lIns="152400" tIns="114300" rIns="152400" bIns="114300">
                      <a:noAutofit/>
                    </a:bodyPr>
                    <a:lstStyle/>
                    <a:p>
                      <a:r>
                        <a:rPr sz="1650" b="0">
                          <a:solidFill>
                            <a:srgbClr val="17243B"/>
                          </a:solidFill>
                          <a:latin typeface="DejaVu Sans"/>
                          <a:ea typeface="DejaVu Sans"/>
                          <a:cs typeface="DejaVu Sans"/>
                        </a:rPr>
                        <a:t>Promotions:</a:t>
                      </a:r>
                    </a:p>
                    <a:p>
                      <a:r>
                        <a:rPr sz="1650" b="0">
                          <a:solidFill>
                            <a:srgbClr val="17243B"/>
                          </a:solidFill>
                          <a:latin typeface="DejaVu Sans"/>
                          <a:ea typeface="DejaVu Sans"/>
                          <a:cs typeface="DejaVu Sans"/>
                        </a:rPr>
                        <a:t>89.94% of baskets</a:t>
                      </a:r>
                    </a:p>
                    <a:p>
                      <a:r>
                        <a:rPr sz="1650" b="0">
                          <a:solidFill>
                            <a:srgbClr val="17243B"/>
                          </a:solidFill>
                          <a:latin typeface="DejaVu Sans"/>
                          <a:ea typeface="DejaVu Sans"/>
                          <a:cs typeface="DejaVu Sans"/>
                        </a:rPr>
                        <a:t>51.36% of spending</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c>
                  <a:txBody>
                    <a:bodyPr wrap="square" lIns="152400" tIns="114300" rIns="152400" bIns="114300">
                      <a:noAutofit/>
                    </a:bodyPr>
                    <a:lstStyle/>
                    <a:p>
                      <a:r>
                        <a:rPr sz="1650" b="0">
                          <a:solidFill>
                            <a:srgbClr val="17243B"/>
                          </a:solidFill>
                          <a:latin typeface="DejaVu Sans"/>
                          <a:ea typeface="DejaVu Sans"/>
                          <a:cs typeface="DejaVu Sans"/>
                        </a:rPr>
                        <a:t>Additional repeat purchases</a:t>
                      </a:r>
                    </a:p>
                    <a:p>
                      <a:r>
                        <a:rPr sz="1650" b="0">
                          <a:solidFill>
                            <a:srgbClr val="17243B"/>
                          </a:solidFill>
                          <a:latin typeface="DejaVu Sans"/>
                          <a:ea typeface="DejaVu Sans"/>
                          <a:cs typeface="DejaVu Sans"/>
                        </a:rPr>
                        <a:t>versus a control group</a:t>
                      </a:r>
                    </a:p>
                  </a:txBody>
                  <a:tcPr marL="152400" marR="152400" marT="133350" marB="133350" anchor="ctr">
                    <a:lnR w="4763">
                      <a:solidFill>
                        <a:srgbClr val="DFE6EF"/>
                      </a:solidFill>
                      <a:prstDash val="solid"/>
                    </a:lnR>
                    <a:lnB w="4763">
                      <a:solidFill>
                        <a:srgbClr val="DFE6E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393B4A3-F014-42CE-9797-E7A039DFFEAB}"/>
              </a:ext>
            </a:extLst>
          </p:cNvPr>
          <p:cNvSpPr>
            <a:spLocks xmlns:a="http://schemas.openxmlformats.org/drawingml/2006/main" noGrp="1"/>
          </p:cNvSpPr>
          <p:nvPr/>
        </p:nvSpPr>
        <p:spPr>
          <a:xfrm xmlns:a="http://schemas.openxmlformats.org/drawingml/2006/main">
            <a:off x="647700" y="59721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4748B"/>
                </a:solidFill>
                <a:latin typeface="DejaVu Sans"/>
                <a:ea typeface="DejaVu Sans"/>
                <a:cs typeface="DejaVu Sans"/>
              </a:defRPr>
            </a:defPPr>
            <a:lvl1pPr algn="l">
              <a:buNone/>
              <a:defRPr sz="1500" b="0">
                <a:solidFill>
                  <a:srgbClr val="64748B"/>
                </a:solidFill>
                <a:latin typeface="DejaVu Sans"/>
                <a:ea typeface="DejaVu Sans"/>
                <a:cs typeface="DejaVu Sans"/>
              </a:defRPr>
            </a:lvl1pPr>
            <a:lvl2pPr algn="l">
              <a:buNone/>
              <a:defRPr sz="1500" b="0">
                <a:solidFill>
                  <a:srgbClr val="64748B"/>
                </a:solidFill>
                <a:latin typeface="DejaVu Sans"/>
                <a:ea typeface="DejaVu Sans"/>
                <a:cs typeface="DejaVu Sans"/>
              </a:defRPr>
            </a:lvl2pPr>
            <a:lvl3pPr algn="l">
              <a:buNone/>
              <a:defRPr sz="1500" b="0">
                <a:solidFill>
                  <a:srgbClr val="64748B"/>
                </a:solidFill>
                <a:latin typeface="DejaVu Sans"/>
                <a:ea typeface="DejaVu Sans"/>
                <a:cs typeface="DejaVu Sans"/>
              </a:defRPr>
            </a:lvl3pPr>
            <a:lvl4pPr algn="l">
              <a:buNone/>
              <a:defRPr sz="1500" b="0">
                <a:solidFill>
                  <a:srgbClr val="64748B"/>
                </a:solidFill>
                <a:latin typeface="DejaVu Sans"/>
                <a:ea typeface="DejaVu Sans"/>
                <a:cs typeface="DejaVu Sans"/>
              </a:defRPr>
            </a:lvl4pPr>
            <a:lvl5pPr algn="l">
              <a:buNone/>
              <a:defRPr sz="1500" b="0">
                <a:solidFill>
                  <a:srgbClr val="64748B"/>
                </a:solidFill>
                <a:latin typeface="DejaVu Sans"/>
                <a:ea typeface="DejaVu Sans"/>
                <a:cs typeface="DejaVu Sans"/>
              </a:defRPr>
            </a:lvl5pPr>
            <a:lvl6pPr algn="l">
              <a:buNone/>
              <a:defRPr sz="1500" b="0">
                <a:solidFill>
                  <a:srgbClr val="64748B"/>
                </a:solidFill>
                <a:latin typeface="DejaVu Sans"/>
                <a:ea typeface="DejaVu Sans"/>
                <a:cs typeface="DejaVu Sans"/>
              </a:defRPr>
            </a:lvl6pPr>
            <a:lvl7pPr algn="l">
              <a:buNone/>
              <a:defRPr sz="1500" b="0">
                <a:solidFill>
                  <a:srgbClr val="64748B"/>
                </a:solidFill>
                <a:latin typeface="DejaVu Sans"/>
                <a:ea typeface="DejaVu Sans"/>
                <a:cs typeface="DejaVu Sans"/>
              </a:defRPr>
            </a:lvl7pPr>
            <a:lvl8pPr algn="l">
              <a:buNone/>
              <a:defRPr sz="1500" b="0">
                <a:solidFill>
                  <a:srgbClr val="64748B"/>
                </a:solidFill>
                <a:latin typeface="DejaVu Sans"/>
                <a:ea typeface="DejaVu Sans"/>
                <a:cs typeface="DejaVu Sans"/>
              </a:defRPr>
            </a:lvl8pPr>
            <a:lvl9pPr algn="l">
              <a:buNone/>
              <a:defRPr sz="1500" b="0">
                <a:solidFill>
                  <a:srgbClr val="64748B"/>
                </a:solidFill>
                <a:latin typeface="DejaVu Sans"/>
                <a:ea typeface="DejaVu Sans"/>
                <a:cs typeface="DejaVu Sans"/>
              </a:defRPr>
            </a:lvl9pPr>
          </a:lstStyle>
          <a:p xmlns:a="http://schemas.openxmlformats.org/drawingml/2006/main">
            <a:pPr algn="l">
              <a:buNone/>
              <a:defRPr sz="1500" b="0">
                <a:solidFill>
                  <a:srgbClr val="64748B"/>
                </a:solidFill>
                <a:latin typeface="DejaVu Sans"/>
                <a:ea typeface="DejaVu Sans"/>
                <a:cs typeface="DejaVu Sans"/>
              </a:defRPr>
            </a:pPr>
            <a:r>
              <a:rPr sz="1500" b="0">
                <a:solidFill>
                  <a:srgbClr val="64748B"/>
                </a:solidFill>
                <a:latin typeface="DejaVu Sans"/>
                <a:ea typeface="DejaVu Sans"/>
                <a:cs typeface="DejaVu Sans"/>
              </a:rPr>
              <a:t>Use randomly assigned control groups. Assess discount costs and margin before expanding an offer.</a:t>
            </a:r>
          </a:p>
        </p:txBody>
      </p:sp>
    </p:spTree>
    <p:extLst>
      <p:ext uri="{BB962C8B-B14F-4D97-AF65-F5344CB8AC3E}">
        <p14:creationId xmlns:p14="http://schemas.microsoft.com/office/powerpoint/2010/main" val="20196176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2026-10-24T13:50:05.8200000Z</dcterms:created>
  <dcterms:modified xsi:type="dcterms:W3CDTF">2026-10-24T13:50:05.8200000Z</dcterms:modified>
</coreProperties>
</file>